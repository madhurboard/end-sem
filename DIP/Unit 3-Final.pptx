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9906000" cx="9906000"/>
  <p:notesSz cx="9906000" cy="9906000"/>
  <p:embeddedFontLst>
    <p:embeddedFont>
      <p:font typeface="Roboto"/>
      <p:regular r:id="rId49"/>
      <p:bold r:id="rId50"/>
      <p:italic r:id="rId51"/>
      <p:boldItalic r:id="rId52"/>
    </p:embeddedFont>
    <p:embeddedFont>
      <p:font typeface="Noto Sans Symbols"/>
      <p:regular r:id="rId53"/>
      <p:bold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55" roundtripDataSignature="AMtx7mjHRdB+zfszJNBP83ROIqy7iLgr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italic.fntdata"/><Relationship Id="rId50" Type="http://schemas.openxmlformats.org/officeDocument/2006/relationships/font" Target="fonts/Roboto-bold.fntdata"/><Relationship Id="rId53" Type="http://schemas.openxmlformats.org/officeDocument/2006/relationships/font" Target="fonts/NotoSansSymbols-regular.fntdata"/><Relationship Id="rId52" Type="http://schemas.openxmlformats.org/officeDocument/2006/relationships/font" Target="fonts/Roboto-boldItalic.fntdata"/><Relationship Id="rId11" Type="http://schemas.openxmlformats.org/officeDocument/2006/relationships/slide" Target="slides/slide6.xml"/><Relationship Id="rId55" Type="http://customschemas.google.com/relationships/presentationmetadata" Target="metadata"/><Relationship Id="rId10" Type="http://schemas.openxmlformats.org/officeDocument/2006/relationships/slide" Target="slides/slide5.xml"/><Relationship Id="rId54" Type="http://schemas.openxmlformats.org/officeDocument/2006/relationships/font" Target="fonts/NotoSansSymbols-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90600" y="4705350"/>
            <a:ext cx="7924800" cy="44577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5: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5: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7: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9: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0: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2: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3: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3: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4: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5: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5: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6: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7: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7: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8: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8: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9: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9: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0: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0: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1: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1: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2: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2: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3: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3: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4: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4: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5: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5: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6: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6: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7: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7: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8: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8: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9: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9: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0: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0: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31: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1: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32: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2: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33: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3: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34: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4: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35: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5: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36: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6: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37: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7: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8: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8: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9: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9: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40: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40: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41: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41: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42: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42: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43:notes"/>
          <p:cNvSpPr txBox="1"/>
          <p:nvPr>
            <p:ph idx="1" type="body"/>
          </p:nvPr>
        </p:nvSpPr>
        <p:spPr>
          <a:xfrm>
            <a:off x="990600" y="4705350"/>
            <a:ext cx="7924800" cy="44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3:notes"/>
          <p:cNvSpPr/>
          <p:nvPr>
            <p:ph idx="2" type="sldImg"/>
          </p:nvPr>
        </p:nvSpPr>
        <p:spPr>
          <a:xfrm>
            <a:off x="1651325" y="742950"/>
            <a:ext cx="6604325" cy="3714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obj">
  <p:cSld name="OBJECT">
    <p:bg>
      <p:bgPr>
        <a:solidFill>
          <a:schemeClr val="lt1"/>
        </a:solidFill>
      </p:bgPr>
    </p:bg>
    <p:spTree>
      <p:nvGrpSpPr>
        <p:cNvPr id="13" name="Shape 13"/>
        <p:cNvGrpSpPr/>
        <p:nvPr/>
      </p:nvGrpSpPr>
      <p:grpSpPr>
        <a:xfrm>
          <a:off x="0" y="0"/>
          <a:ext cx="0" cy="0"/>
          <a:chOff x="0" y="0"/>
          <a:chExt cx="0" cy="0"/>
        </a:xfrm>
      </p:grpSpPr>
      <p:sp>
        <p:nvSpPr>
          <p:cNvPr id="14" name="Google Shape;14;p45"/>
          <p:cNvSpPr/>
          <p:nvPr/>
        </p:nvSpPr>
        <p:spPr>
          <a:xfrm>
            <a:off x="5349240" y="0"/>
            <a:ext cx="228600" cy="577850"/>
          </a:xfrm>
          <a:custGeom>
            <a:rect b="b" l="l" r="r" t="t"/>
            <a:pathLst>
              <a:path extrusionOk="0" h="577850" w="228600">
                <a:moveTo>
                  <a:pt x="228600" y="577849"/>
                </a:moveTo>
                <a:lnTo>
                  <a:pt x="228600" y="0"/>
                </a:lnTo>
                <a:lnTo>
                  <a:pt x="0" y="0"/>
                </a:lnTo>
                <a:lnTo>
                  <a:pt x="0" y="577849"/>
                </a:lnTo>
                <a:lnTo>
                  <a:pt x="228600" y="577849"/>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 name="Google Shape;15;p45"/>
          <p:cNvSpPr/>
          <p:nvPr/>
        </p:nvSpPr>
        <p:spPr>
          <a:xfrm>
            <a:off x="5349240" y="639761"/>
            <a:ext cx="228600" cy="9266555"/>
          </a:xfrm>
          <a:custGeom>
            <a:rect b="b" l="l" r="r" t="t"/>
            <a:pathLst>
              <a:path extrusionOk="0" h="9266555" w="228600">
                <a:moveTo>
                  <a:pt x="228600" y="9266237"/>
                </a:moveTo>
                <a:lnTo>
                  <a:pt x="228600" y="0"/>
                </a:lnTo>
                <a:lnTo>
                  <a:pt x="0" y="0"/>
                </a:lnTo>
                <a:lnTo>
                  <a:pt x="0" y="9266237"/>
                </a:lnTo>
                <a:lnTo>
                  <a:pt x="228600" y="9266237"/>
                </a:lnTo>
                <a:close/>
              </a:path>
            </a:pathLst>
          </a:custGeom>
          <a:solidFill>
            <a:srgbClr val="A4C3D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45"/>
          <p:cNvSpPr txBox="1"/>
          <p:nvPr>
            <p:ph idx="11" type="ftr"/>
          </p:nvPr>
        </p:nvSpPr>
        <p:spPr>
          <a:xfrm>
            <a:off x="3368040" y="6377940"/>
            <a:ext cx="316992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45"/>
          <p:cNvSpPr txBox="1"/>
          <p:nvPr>
            <p:ph idx="10" type="dt"/>
          </p:nvPr>
        </p:nvSpPr>
        <p:spPr>
          <a:xfrm>
            <a:off x="495300" y="6377940"/>
            <a:ext cx="227838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45"/>
          <p:cNvSpPr txBox="1"/>
          <p:nvPr>
            <p:ph idx="12" type="sldNum"/>
          </p:nvPr>
        </p:nvSpPr>
        <p:spPr>
          <a:xfrm>
            <a:off x="7132320" y="6377940"/>
            <a:ext cx="2278380" cy="342900"/>
          </a:xfrm>
          <a:prstGeom prst="rect">
            <a:avLst/>
          </a:prstGeom>
          <a:noFill/>
          <a:ln>
            <a:noFill/>
          </a:ln>
        </p:spPr>
        <p:txBody>
          <a:bodyPr anchorCtr="0" anchor="t" bIns="0" lIns="0" spcFirstLastPara="1" rIns="0" wrap="square" tIns="0">
            <a:spAutoFit/>
          </a:bodyPr>
          <a:lstStyle>
            <a:lvl1pPr indent="0" lvl="0" marL="0" algn="r">
              <a:spcBef>
                <a:spcPts val="0"/>
              </a:spcBef>
              <a:buNone/>
              <a:defRPr sz="1800">
                <a:solidFill>
                  <a:srgbClr val="888888"/>
                </a:solidFill>
                <a:latin typeface="Calibri"/>
                <a:ea typeface="Calibri"/>
                <a:cs typeface="Calibri"/>
                <a:sym typeface="Calibri"/>
              </a:defRPr>
            </a:lvl1pPr>
            <a:lvl2pPr indent="0" lvl="1" marL="0" algn="r">
              <a:spcBef>
                <a:spcPts val="0"/>
              </a:spcBef>
              <a:buNone/>
              <a:defRPr sz="1800">
                <a:solidFill>
                  <a:srgbClr val="888888"/>
                </a:solidFill>
                <a:latin typeface="Calibri"/>
                <a:ea typeface="Calibri"/>
                <a:cs typeface="Calibri"/>
                <a:sym typeface="Calibri"/>
              </a:defRPr>
            </a:lvl2pPr>
            <a:lvl3pPr indent="0" lvl="2" marL="0" algn="r">
              <a:spcBef>
                <a:spcPts val="0"/>
              </a:spcBef>
              <a:buNone/>
              <a:defRPr sz="1800">
                <a:solidFill>
                  <a:srgbClr val="888888"/>
                </a:solidFill>
                <a:latin typeface="Calibri"/>
                <a:ea typeface="Calibri"/>
                <a:cs typeface="Calibri"/>
                <a:sym typeface="Calibri"/>
              </a:defRPr>
            </a:lvl3pPr>
            <a:lvl4pPr indent="0" lvl="3" marL="0" algn="r">
              <a:spcBef>
                <a:spcPts val="0"/>
              </a:spcBef>
              <a:buNone/>
              <a:defRPr sz="1800">
                <a:solidFill>
                  <a:srgbClr val="888888"/>
                </a:solidFill>
                <a:latin typeface="Calibri"/>
                <a:ea typeface="Calibri"/>
                <a:cs typeface="Calibri"/>
                <a:sym typeface="Calibri"/>
              </a:defRPr>
            </a:lvl4pPr>
            <a:lvl5pPr indent="0" lvl="4" marL="0" algn="r">
              <a:spcBef>
                <a:spcPts val="0"/>
              </a:spcBef>
              <a:buNone/>
              <a:defRPr sz="1800">
                <a:solidFill>
                  <a:srgbClr val="888888"/>
                </a:solidFill>
                <a:latin typeface="Calibri"/>
                <a:ea typeface="Calibri"/>
                <a:cs typeface="Calibri"/>
                <a:sym typeface="Calibri"/>
              </a:defRPr>
            </a:lvl5pPr>
            <a:lvl6pPr indent="0" lvl="5" marL="0" algn="r">
              <a:spcBef>
                <a:spcPts val="0"/>
              </a:spcBef>
              <a:buNone/>
              <a:defRPr sz="1800">
                <a:solidFill>
                  <a:srgbClr val="888888"/>
                </a:solidFill>
                <a:latin typeface="Calibri"/>
                <a:ea typeface="Calibri"/>
                <a:cs typeface="Calibri"/>
                <a:sym typeface="Calibri"/>
              </a:defRPr>
            </a:lvl6pPr>
            <a:lvl7pPr indent="0" lvl="6" marL="0" algn="r">
              <a:spcBef>
                <a:spcPts val="0"/>
              </a:spcBef>
              <a:buNone/>
              <a:defRPr sz="1800">
                <a:solidFill>
                  <a:srgbClr val="888888"/>
                </a:solidFill>
                <a:latin typeface="Calibri"/>
                <a:ea typeface="Calibri"/>
                <a:cs typeface="Calibri"/>
                <a:sym typeface="Calibri"/>
              </a:defRPr>
            </a:lvl7pPr>
            <a:lvl8pPr indent="0" lvl="7" marL="0" algn="r">
              <a:spcBef>
                <a:spcPts val="0"/>
              </a:spcBef>
              <a:buNone/>
              <a:defRPr sz="1800">
                <a:solidFill>
                  <a:srgbClr val="888888"/>
                </a:solidFill>
                <a:latin typeface="Calibri"/>
                <a:ea typeface="Calibri"/>
                <a:cs typeface="Calibri"/>
                <a:sym typeface="Calibri"/>
              </a:defRPr>
            </a:lvl8pPr>
            <a:lvl9pPr indent="0" lvl="8" mar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9" name="Shape 19"/>
        <p:cNvGrpSpPr/>
        <p:nvPr/>
      </p:nvGrpSpPr>
      <p:grpSpPr>
        <a:xfrm>
          <a:off x="0" y="0"/>
          <a:ext cx="0" cy="0"/>
          <a:chOff x="0" y="0"/>
          <a:chExt cx="0" cy="0"/>
        </a:xfrm>
      </p:grpSpPr>
      <p:sp>
        <p:nvSpPr>
          <p:cNvPr id="20" name="Google Shape;20;p46"/>
          <p:cNvSpPr txBox="1"/>
          <p:nvPr>
            <p:ph type="title"/>
          </p:nvPr>
        </p:nvSpPr>
        <p:spPr>
          <a:xfrm>
            <a:off x="742441" y="223520"/>
            <a:ext cx="8421116" cy="9956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200">
                <a:solidFill>
                  <a:srgbClr val="775F55"/>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6"/>
          <p:cNvSpPr txBox="1"/>
          <p:nvPr>
            <p:ph idx="1" type="body"/>
          </p:nvPr>
        </p:nvSpPr>
        <p:spPr>
          <a:xfrm>
            <a:off x="717041" y="3399747"/>
            <a:ext cx="7666355" cy="2043429"/>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450">
                <a:solidFill>
                  <a:schemeClr val="dk1"/>
                </a:solidFill>
                <a:latin typeface="Noto Sans Symbols"/>
                <a:ea typeface="Noto Sans Symbols"/>
                <a:cs typeface="Noto Sans Symbols"/>
                <a:sym typeface="Noto Sans Symbols"/>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 name="Google Shape;22;p46"/>
          <p:cNvSpPr txBox="1"/>
          <p:nvPr>
            <p:ph idx="11" type="ftr"/>
          </p:nvPr>
        </p:nvSpPr>
        <p:spPr>
          <a:xfrm>
            <a:off x="3368040" y="6377940"/>
            <a:ext cx="316992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6"/>
          <p:cNvSpPr txBox="1"/>
          <p:nvPr>
            <p:ph idx="10" type="dt"/>
          </p:nvPr>
        </p:nvSpPr>
        <p:spPr>
          <a:xfrm>
            <a:off x="495300" y="6377940"/>
            <a:ext cx="227838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6"/>
          <p:cNvSpPr txBox="1"/>
          <p:nvPr>
            <p:ph idx="12" type="sldNum"/>
          </p:nvPr>
        </p:nvSpPr>
        <p:spPr>
          <a:xfrm>
            <a:off x="7132320" y="6377940"/>
            <a:ext cx="2278380" cy="342900"/>
          </a:xfrm>
          <a:prstGeom prst="rect">
            <a:avLst/>
          </a:prstGeom>
          <a:noFill/>
          <a:ln>
            <a:noFill/>
          </a:ln>
        </p:spPr>
        <p:txBody>
          <a:bodyPr anchorCtr="0" anchor="t" bIns="0" lIns="0" spcFirstLastPara="1" rIns="0" wrap="square" tIns="0">
            <a:spAutoFit/>
          </a:bodyPr>
          <a:lstStyle>
            <a:lvl1pPr indent="0" lvl="0" marL="0" algn="r">
              <a:spcBef>
                <a:spcPts val="0"/>
              </a:spcBef>
              <a:buNone/>
              <a:defRPr sz="1800">
                <a:solidFill>
                  <a:srgbClr val="888888"/>
                </a:solidFill>
                <a:latin typeface="Calibri"/>
                <a:ea typeface="Calibri"/>
                <a:cs typeface="Calibri"/>
                <a:sym typeface="Calibri"/>
              </a:defRPr>
            </a:lvl1pPr>
            <a:lvl2pPr indent="0" lvl="1" marL="0" algn="r">
              <a:spcBef>
                <a:spcPts val="0"/>
              </a:spcBef>
              <a:buNone/>
              <a:defRPr sz="1800">
                <a:solidFill>
                  <a:srgbClr val="888888"/>
                </a:solidFill>
                <a:latin typeface="Calibri"/>
                <a:ea typeface="Calibri"/>
                <a:cs typeface="Calibri"/>
                <a:sym typeface="Calibri"/>
              </a:defRPr>
            </a:lvl2pPr>
            <a:lvl3pPr indent="0" lvl="2" marL="0" algn="r">
              <a:spcBef>
                <a:spcPts val="0"/>
              </a:spcBef>
              <a:buNone/>
              <a:defRPr sz="1800">
                <a:solidFill>
                  <a:srgbClr val="888888"/>
                </a:solidFill>
                <a:latin typeface="Calibri"/>
                <a:ea typeface="Calibri"/>
                <a:cs typeface="Calibri"/>
                <a:sym typeface="Calibri"/>
              </a:defRPr>
            </a:lvl3pPr>
            <a:lvl4pPr indent="0" lvl="3" marL="0" algn="r">
              <a:spcBef>
                <a:spcPts val="0"/>
              </a:spcBef>
              <a:buNone/>
              <a:defRPr sz="1800">
                <a:solidFill>
                  <a:srgbClr val="888888"/>
                </a:solidFill>
                <a:latin typeface="Calibri"/>
                <a:ea typeface="Calibri"/>
                <a:cs typeface="Calibri"/>
                <a:sym typeface="Calibri"/>
              </a:defRPr>
            </a:lvl4pPr>
            <a:lvl5pPr indent="0" lvl="4" marL="0" algn="r">
              <a:spcBef>
                <a:spcPts val="0"/>
              </a:spcBef>
              <a:buNone/>
              <a:defRPr sz="1800">
                <a:solidFill>
                  <a:srgbClr val="888888"/>
                </a:solidFill>
                <a:latin typeface="Calibri"/>
                <a:ea typeface="Calibri"/>
                <a:cs typeface="Calibri"/>
                <a:sym typeface="Calibri"/>
              </a:defRPr>
            </a:lvl5pPr>
            <a:lvl6pPr indent="0" lvl="5" marL="0" algn="r">
              <a:spcBef>
                <a:spcPts val="0"/>
              </a:spcBef>
              <a:buNone/>
              <a:defRPr sz="1800">
                <a:solidFill>
                  <a:srgbClr val="888888"/>
                </a:solidFill>
                <a:latin typeface="Calibri"/>
                <a:ea typeface="Calibri"/>
                <a:cs typeface="Calibri"/>
                <a:sym typeface="Calibri"/>
              </a:defRPr>
            </a:lvl6pPr>
            <a:lvl7pPr indent="0" lvl="6" marL="0" algn="r">
              <a:spcBef>
                <a:spcPts val="0"/>
              </a:spcBef>
              <a:buNone/>
              <a:defRPr sz="1800">
                <a:solidFill>
                  <a:srgbClr val="888888"/>
                </a:solidFill>
                <a:latin typeface="Calibri"/>
                <a:ea typeface="Calibri"/>
                <a:cs typeface="Calibri"/>
                <a:sym typeface="Calibri"/>
              </a:defRPr>
            </a:lvl7pPr>
            <a:lvl8pPr indent="0" lvl="7" marL="0" algn="r">
              <a:spcBef>
                <a:spcPts val="0"/>
              </a:spcBef>
              <a:buNone/>
              <a:defRPr sz="1800">
                <a:solidFill>
                  <a:srgbClr val="888888"/>
                </a:solidFill>
                <a:latin typeface="Calibri"/>
                <a:ea typeface="Calibri"/>
                <a:cs typeface="Calibri"/>
                <a:sym typeface="Calibri"/>
              </a:defRPr>
            </a:lvl8pPr>
            <a:lvl9pPr indent="0" lvl="8" mar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 name="Shape 25"/>
        <p:cNvGrpSpPr/>
        <p:nvPr/>
      </p:nvGrpSpPr>
      <p:grpSpPr>
        <a:xfrm>
          <a:off x="0" y="0"/>
          <a:ext cx="0" cy="0"/>
          <a:chOff x="0" y="0"/>
          <a:chExt cx="0" cy="0"/>
        </a:xfrm>
      </p:grpSpPr>
      <p:sp>
        <p:nvSpPr>
          <p:cNvPr id="26" name="Google Shape;26;p47"/>
          <p:cNvSpPr txBox="1"/>
          <p:nvPr>
            <p:ph type="ctrTitle"/>
          </p:nvPr>
        </p:nvSpPr>
        <p:spPr>
          <a:xfrm>
            <a:off x="742441" y="406400"/>
            <a:ext cx="8421116" cy="635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7"/>
          <p:cNvSpPr txBox="1"/>
          <p:nvPr>
            <p:ph idx="1" type="subTitle"/>
          </p:nvPr>
        </p:nvSpPr>
        <p:spPr>
          <a:xfrm>
            <a:off x="1485900" y="3840480"/>
            <a:ext cx="69342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7"/>
          <p:cNvSpPr txBox="1"/>
          <p:nvPr>
            <p:ph idx="11" type="ftr"/>
          </p:nvPr>
        </p:nvSpPr>
        <p:spPr>
          <a:xfrm>
            <a:off x="3368040" y="6377940"/>
            <a:ext cx="316992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7"/>
          <p:cNvSpPr txBox="1"/>
          <p:nvPr>
            <p:ph idx="10" type="dt"/>
          </p:nvPr>
        </p:nvSpPr>
        <p:spPr>
          <a:xfrm>
            <a:off x="495300" y="6377940"/>
            <a:ext cx="227838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7"/>
          <p:cNvSpPr txBox="1"/>
          <p:nvPr>
            <p:ph idx="12" type="sldNum"/>
          </p:nvPr>
        </p:nvSpPr>
        <p:spPr>
          <a:xfrm>
            <a:off x="7132320" y="6377940"/>
            <a:ext cx="2278380" cy="342900"/>
          </a:xfrm>
          <a:prstGeom prst="rect">
            <a:avLst/>
          </a:prstGeom>
          <a:noFill/>
          <a:ln>
            <a:noFill/>
          </a:ln>
        </p:spPr>
        <p:txBody>
          <a:bodyPr anchorCtr="0" anchor="t" bIns="0" lIns="0" spcFirstLastPara="1" rIns="0" wrap="square" tIns="0">
            <a:spAutoFit/>
          </a:bodyPr>
          <a:lstStyle>
            <a:lvl1pPr indent="0" lvl="0" marL="0" algn="r">
              <a:spcBef>
                <a:spcPts val="0"/>
              </a:spcBef>
              <a:buNone/>
              <a:defRPr sz="1800">
                <a:solidFill>
                  <a:srgbClr val="888888"/>
                </a:solidFill>
                <a:latin typeface="Calibri"/>
                <a:ea typeface="Calibri"/>
                <a:cs typeface="Calibri"/>
                <a:sym typeface="Calibri"/>
              </a:defRPr>
            </a:lvl1pPr>
            <a:lvl2pPr indent="0" lvl="1" marL="0" algn="r">
              <a:spcBef>
                <a:spcPts val="0"/>
              </a:spcBef>
              <a:buNone/>
              <a:defRPr sz="1800">
                <a:solidFill>
                  <a:srgbClr val="888888"/>
                </a:solidFill>
                <a:latin typeface="Calibri"/>
                <a:ea typeface="Calibri"/>
                <a:cs typeface="Calibri"/>
                <a:sym typeface="Calibri"/>
              </a:defRPr>
            </a:lvl2pPr>
            <a:lvl3pPr indent="0" lvl="2" marL="0" algn="r">
              <a:spcBef>
                <a:spcPts val="0"/>
              </a:spcBef>
              <a:buNone/>
              <a:defRPr sz="1800">
                <a:solidFill>
                  <a:srgbClr val="888888"/>
                </a:solidFill>
                <a:latin typeface="Calibri"/>
                <a:ea typeface="Calibri"/>
                <a:cs typeface="Calibri"/>
                <a:sym typeface="Calibri"/>
              </a:defRPr>
            </a:lvl3pPr>
            <a:lvl4pPr indent="0" lvl="3" marL="0" algn="r">
              <a:spcBef>
                <a:spcPts val="0"/>
              </a:spcBef>
              <a:buNone/>
              <a:defRPr sz="1800">
                <a:solidFill>
                  <a:srgbClr val="888888"/>
                </a:solidFill>
                <a:latin typeface="Calibri"/>
                <a:ea typeface="Calibri"/>
                <a:cs typeface="Calibri"/>
                <a:sym typeface="Calibri"/>
              </a:defRPr>
            </a:lvl4pPr>
            <a:lvl5pPr indent="0" lvl="4" marL="0" algn="r">
              <a:spcBef>
                <a:spcPts val="0"/>
              </a:spcBef>
              <a:buNone/>
              <a:defRPr sz="1800">
                <a:solidFill>
                  <a:srgbClr val="888888"/>
                </a:solidFill>
                <a:latin typeface="Calibri"/>
                <a:ea typeface="Calibri"/>
                <a:cs typeface="Calibri"/>
                <a:sym typeface="Calibri"/>
              </a:defRPr>
            </a:lvl5pPr>
            <a:lvl6pPr indent="0" lvl="5" marL="0" algn="r">
              <a:spcBef>
                <a:spcPts val="0"/>
              </a:spcBef>
              <a:buNone/>
              <a:defRPr sz="1800">
                <a:solidFill>
                  <a:srgbClr val="888888"/>
                </a:solidFill>
                <a:latin typeface="Calibri"/>
                <a:ea typeface="Calibri"/>
                <a:cs typeface="Calibri"/>
                <a:sym typeface="Calibri"/>
              </a:defRPr>
            </a:lvl6pPr>
            <a:lvl7pPr indent="0" lvl="6" marL="0" algn="r">
              <a:spcBef>
                <a:spcPts val="0"/>
              </a:spcBef>
              <a:buNone/>
              <a:defRPr sz="1800">
                <a:solidFill>
                  <a:srgbClr val="888888"/>
                </a:solidFill>
                <a:latin typeface="Calibri"/>
                <a:ea typeface="Calibri"/>
                <a:cs typeface="Calibri"/>
                <a:sym typeface="Calibri"/>
              </a:defRPr>
            </a:lvl7pPr>
            <a:lvl8pPr indent="0" lvl="7" marL="0" algn="r">
              <a:spcBef>
                <a:spcPts val="0"/>
              </a:spcBef>
              <a:buNone/>
              <a:defRPr sz="1800">
                <a:solidFill>
                  <a:srgbClr val="888888"/>
                </a:solidFill>
                <a:latin typeface="Calibri"/>
                <a:ea typeface="Calibri"/>
                <a:cs typeface="Calibri"/>
                <a:sym typeface="Calibri"/>
              </a:defRPr>
            </a:lvl8pPr>
            <a:lvl9pPr indent="0" lvl="8" mar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48"/>
          <p:cNvSpPr txBox="1"/>
          <p:nvPr>
            <p:ph type="title"/>
          </p:nvPr>
        </p:nvSpPr>
        <p:spPr>
          <a:xfrm>
            <a:off x="742441" y="223520"/>
            <a:ext cx="8421116" cy="9956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200">
                <a:solidFill>
                  <a:srgbClr val="775F55"/>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8"/>
          <p:cNvSpPr txBox="1"/>
          <p:nvPr>
            <p:ph idx="1" type="body"/>
          </p:nvPr>
        </p:nvSpPr>
        <p:spPr>
          <a:xfrm>
            <a:off x="495300" y="1577340"/>
            <a:ext cx="430911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48"/>
          <p:cNvSpPr txBox="1"/>
          <p:nvPr>
            <p:ph idx="2" type="body"/>
          </p:nvPr>
        </p:nvSpPr>
        <p:spPr>
          <a:xfrm>
            <a:off x="5101590" y="1577340"/>
            <a:ext cx="430911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48"/>
          <p:cNvSpPr txBox="1"/>
          <p:nvPr>
            <p:ph idx="11" type="ftr"/>
          </p:nvPr>
        </p:nvSpPr>
        <p:spPr>
          <a:xfrm>
            <a:off x="3368040" y="6377940"/>
            <a:ext cx="316992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8"/>
          <p:cNvSpPr txBox="1"/>
          <p:nvPr>
            <p:ph idx="10" type="dt"/>
          </p:nvPr>
        </p:nvSpPr>
        <p:spPr>
          <a:xfrm>
            <a:off x="495300" y="6377940"/>
            <a:ext cx="227838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8"/>
          <p:cNvSpPr txBox="1"/>
          <p:nvPr>
            <p:ph idx="12" type="sldNum"/>
          </p:nvPr>
        </p:nvSpPr>
        <p:spPr>
          <a:xfrm>
            <a:off x="7132320" y="6377940"/>
            <a:ext cx="2278380" cy="342900"/>
          </a:xfrm>
          <a:prstGeom prst="rect">
            <a:avLst/>
          </a:prstGeom>
          <a:noFill/>
          <a:ln>
            <a:noFill/>
          </a:ln>
        </p:spPr>
        <p:txBody>
          <a:bodyPr anchorCtr="0" anchor="t" bIns="0" lIns="0" spcFirstLastPara="1" rIns="0" wrap="square" tIns="0">
            <a:spAutoFit/>
          </a:bodyPr>
          <a:lstStyle>
            <a:lvl1pPr indent="0" lvl="0" marL="0" algn="r">
              <a:spcBef>
                <a:spcPts val="0"/>
              </a:spcBef>
              <a:buNone/>
              <a:defRPr sz="1800">
                <a:solidFill>
                  <a:srgbClr val="888888"/>
                </a:solidFill>
                <a:latin typeface="Calibri"/>
                <a:ea typeface="Calibri"/>
                <a:cs typeface="Calibri"/>
                <a:sym typeface="Calibri"/>
              </a:defRPr>
            </a:lvl1pPr>
            <a:lvl2pPr indent="0" lvl="1" marL="0" algn="r">
              <a:spcBef>
                <a:spcPts val="0"/>
              </a:spcBef>
              <a:buNone/>
              <a:defRPr sz="1800">
                <a:solidFill>
                  <a:srgbClr val="888888"/>
                </a:solidFill>
                <a:latin typeface="Calibri"/>
                <a:ea typeface="Calibri"/>
                <a:cs typeface="Calibri"/>
                <a:sym typeface="Calibri"/>
              </a:defRPr>
            </a:lvl2pPr>
            <a:lvl3pPr indent="0" lvl="2" marL="0" algn="r">
              <a:spcBef>
                <a:spcPts val="0"/>
              </a:spcBef>
              <a:buNone/>
              <a:defRPr sz="1800">
                <a:solidFill>
                  <a:srgbClr val="888888"/>
                </a:solidFill>
                <a:latin typeface="Calibri"/>
                <a:ea typeface="Calibri"/>
                <a:cs typeface="Calibri"/>
                <a:sym typeface="Calibri"/>
              </a:defRPr>
            </a:lvl3pPr>
            <a:lvl4pPr indent="0" lvl="3" marL="0" algn="r">
              <a:spcBef>
                <a:spcPts val="0"/>
              </a:spcBef>
              <a:buNone/>
              <a:defRPr sz="1800">
                <a:solidFill>
                  <a:srgbClr val="888888"/>
                </a:solidFill>
                <a:latin typeface="Calibri"/>
                <a:ea typeface="Calibri"/>
                <a:cs typeface="Calibri"/>
                <a:sym typeface="Calibri"/>
              </a:defRPr>
            </a:lvl4pPr>
            <a:lvl5pPr indent="0" lvl="4" marL="0" algn="r">
              <a:spcBef>
                <a:spcPts val="0"/>
              </a:spcBef>
              <a:buNone/>
              <a:defRPr sz="1800">
                <a:solidFill>
                  <a:srgbClr val="888888"/>
                </a:solidFill>
                <a:latin typeface="Calibri"/>
                <a:ea typeface="Calibri"/>
                <a:cs typeface="Calibri"/>
                <a:sym typeface="Calibri"/>
              </a:defRPr>
            </a:lvl5pPr>
            <a:lvl6pPr indent="0" lvl="5" marL="0" algn="r">
              <a:spcBef>
                <a:spcPts val="0"/>
              </a:spcBef>
              <a:buNone/>
              <a:defRPr sz="1800">
                <a:solidFill>
                  <a:srgbClr val="888888"/>
                </a:solidFill>
                <a:latin typeface="Calibri"/>
                <a:ea typeface="Calibri"/>
                <a:cs typeface="Calibri"/>
                <a:sym typeface="Calibri"/>
              </a:defRPr>
            </a:lvl6pPr>
            <a:lvl7pPr indent="0" lvl="6" marL="0" algn="r">
              <a:spcBef>
                <a:spcPts val="0"/>
              </a:spcBef>
              <a:buNone/>
              <a:defRPr sz="1800">
                <a:solidFill>
                  <a:srgbClr val="888888"/>
                </a:solidFill>
                <a:latin typeface="Calibri"/>
                <a:ea typeface="Calibri"/>
                <a:cs typeface="Calibri"/>
                <a:sym typeface="Calibri"/>
              </a:defRPr>
            </a:lvl7pPr>
            <a:lvl8pPr indent="0" lvl="7" marL="0" algn="r">
              <a:spcBef>
                <a:spcPts val="0"/>
              </a:spcBef>
              <a:buNone/>
              <a:defRPr sz="1800">
                <a:solidFill>
                  <a:srgbClr val="888888"/>
                </a:solidFill>
                <a:latin typeface="Calibri"/>
                <a:ea typeface="Calibri"/>
                <a:cs typeface="Calibri"/>
                <a:sym typeface="Calibri"/>
              </a:defRPr>
            </a:lvl8pPr>
            <a:lvl9pPr indent="0" lvl="8" mar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sp>
        <p:nvSpPr>
          <p:cNvPr id="39" name="Google Shape;39;p49"/>
          <p:cNvSpPr txBox="1"/>
          <p:nvPr>
            <p:ph type="title"/>
          </p:nvPr>
        </p:nvSpPr>
        <p:spPr>
          <a:xfrm>
            <a:off x="742441" y="223520"/>
            <a:ext cx="8421116" cy="9956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200">
                <a:solidFill>
                  <a:srgbClr val="775F55"/>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49"/>
          <p:cNvSpPr txBox="1"/>
          <p:nvPr>
            <p:ph idx="11" type="ftr"/>
          </p:nvPr>
        </p:nvSpPr>
        <p:spPr>
          <a:xfrm>
            <a:off x="3368040" y="6377940"/>
            <a:ext cx="316992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9"/>
          <p:cNvSpPr txBox="1"/>
          <p:nvPr>
            <p:ph idx="10" type="dt"/>
          </p:nvPr>
        </p:nvSpPr>
        <p:spPr>
          <a:xfrm>
            <a:off x="495300" y="6377940"/>
            <a:ext cx="227838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9"/>
          <p:cNvSpPr txBox="1"/>
          <p:nvPr>
            <p:ph idx="12" type="sldNum"/>
          </p:nvPr>
        </p:nvSpPr>
        <p:spPr>
          <a:xfrm>
            <a:off x="7132320" y="6377940"/>
            <a:ext cx="2278380" cy="342900"/>
          </a:xfrm>
          <a:prstGeom prst="rect">
            <a:avLst/>
          </a:prstGeom>
          <a:noFill/>
          <a:ln>
            <a:noFill/>
          </a:ln>
        </p:spPr>
        <p:txBody>
          <a:bodyPr anchorCtr="0" anchor="t" bIns="0" lIns="0" spcFirstLastPara="1" rIns="0" wrap="square" tIns="0">
            <a:spAutoFit/>
          </a:bodyPr>
          <a:lstStyle>
            <a:lvl1pPr indent="0" lvl="0" marL="0" algn="r">
              <a:spcBef>
                <a:spcPts val="0"/>
              </a:spcBef>
              <a:buNone/>
              <a:defRPr sz="1800">
                <a:solidFill>
                  <a:srgbClr val="888888"/>
                </a:solidFill>
                <a:latin typeface="Calibri"/>
                <a:ea typeface="Calibri"/>
                <a:cs typeface="Calibri"/>
                <a:sym typeface="Calibri"/>
              </a:defRPr>
            </a:lvl1pPr>
            <a:lvl2pPr indent="0" lvl="1" marL="0" algn="r">
              <a:spcBef>
                <a:spcPts val="0"/>
              </a:spcBef>
              <a:buNone/>
              <a:defRPr sz="1800">
                <a:solidFill>
                  <a:srgbClr val="888888"/>
                </a:solidFill>
                <a:latin typeface="Calibri"/>
                <a:ea typeface="Calibri"/>
                <a:cs typeface="Calibri"/>
                <a:sym typeface="Calibri"/>
              </a:defRPr>
            </a:lvl2pPr>
            <a:lvl3pPr indent="0" lvl="2" marL="0" algn="r">
              <a:spcBef>
                <a:spcPts val="0"/>
              </a:spcBef>
              <a:buNone/>
              <a:defRPr sz="1800">
                <a:solidFill>
                  <a:srgbClr val="888888"/>
                </a:solidFill>
                <a:latin typeface="Calibri"/>
                <a:ea typeface="Calibri"/>
                <a:cs typeface="Calibri"/>
                <a:sym typeface="Calibri"/>
              </a:defRPr>
            </a:lvl3pPr>
            <a:lvl4pPr indent="0" lvl="3" marL="0" algn="r">
              <a:spcBef>
                <a:spcPts val="0"/>
              </a:spcBef>
              <a:buNone/>
              <a:defRPr sz="1800">
                <a:solidFill>
                  <a:srgbClr val="888888"/>
                </a:solidFill>
                <a:latin typeface="Calibri"/>
                <a:ea typeface="Calibri"/>
                <a:cs typeface="Calibri"/>
                <a:sym typeface="Calibri"/>
              </a:defRPr>
            </a:lvl4pPr>
            <a:lvl5pPr indent="0" lvl="4" marL="0" algn="r">
              <a:spcBef>
                <a:spcPts val="0"/>
              </a:spcBef>
              <a:buNone/>
              <a:defRPr sz="1800">
                <a:solidFill>
                  <a:srgbClr val="888888"/>
                </a:solidFill>
                <a:latin typeface="Calibri"/>
                <a:ea typeface="Calibri"/>
                <a:cs typeface="Calibri"/>
                <a:sym typeface="Calibri"/>
              </a:defRPr>
            </a:lvl5pPr>
            <a:lvl6pPr indent="0" lvl="5" marL="0" algn="r">
              <a:spcBef>
                <a:spcPts val="0"/>
              </a:spcBef>
              <a:buNone/>
              <a:defRPr sz="1800">
                <a:solidFill>
                  <a:srgbClr val="888888"/>
                </a:solidFill>
                <a:latin typeface="Calibri"/>
                <a:ea typeface="Calibri"/>
                <a:cs typeface="Calibri"/>
                <a:sym typeface="Calibri"/>
              </a:defRPr>
            </a:lvl6pPr>
            <a:lvl7pPr indent="0" lvl="6" marL="0" algn="r">
              <a:spcBef>
                <a:spcPts val="0"/>
              </a:spcBef>
              <a:buNone/>
              <a:defRPr sz="1800">
                <a:solidFill>
                  <a:srgbClr val="888888"/>
                </a:solidFill>
                <a:latin typeface="Calibri"/>
                <a:ea typeface="Calibri"/>
                <a:cs typeface="Calibri"/>
                <a:sym typeface="Calibri"/>
              </a:defRPr>
            </a:lvl7pPr>
            <a:lvl8pPr indent="0" lvl="7" marL="0" algn="r">
              <a:spcBef>
                <a:spcPts val="0"/>
              </a:spcBef>
              <a:buNone/>
              <a:defRPr sz="1800">
                <a:solidFill>
                  <a:srgbClr val="888888"/>
                </a:solidFill>
                <a:latin typeface="Calibri"/>
                <a:ea typeface="Calibri"/>
                <a:cs typeface="Calibri"/>
                <a:sym typeface="Calibri"/>
              </a:defRPr>
            </a:lvl8pPr>
            <a:lvl9pPr indent="0" lvl="8" mar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4"/>
          <p:cNvSpPr/>
          <p:nvPr/>
        </p:nvSpPr>
        <p:spPr>
          <a:xfrm>
            <a:off x="0" y="1280160"/>
            <a:ext cx="577850" cy="228600"/>
          </a:xfrm>
          <a:custGeom>
            <a:rect b="b" l="l" r="r" t="t"/>
            <a:pathLst>
              <a:path extrusionOk="0" h="228600" w="577850">
                <a:moveTo>
                  <a:pt x="577850" y="0"/>
                </a:moveTo>
                <a:lnTo>
                  <a:pt x="0" y="0"/>
                </a:lnTo>
                <a:lnTo>
                  <a:pt x="0" y="228600"/>
                </a:lnTo>
                <a:lnTo>
                  <a:pt x="577850" y="228600"/>
                </a:lnTo>
                <a:lnTo>
                  <a:pt x="577850"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 name="Google Shape;7;p44"/>
          <p:cNvSpPr/>
          <p:nvPr/>
        </p:nvSpPr>
        <p:spPr>
          <a:xfrm>
            <a:off x="639761" y="1280160"/>
            <a:ext cx="9266555" cy="228600"/>
          </a:xfrm>
          <a:custGeom>
            <a:rect b="b" l="l" r="r" t="t"/>
            <a:pathLst>
              <a:path extrusionOk="0" h="228600" w="9266555">
                <a:moveTo>
                  <a:pt x="9266237" y="0"/>
                </a:moveTo>
                <a:lnTo>
                  <a:pt x="0" y="0"/>
                </a:lnTo>
                <a:lnTo>
                  <a:pt x="0" y="228600"/>
                </a:lnTo>
                <a:lnTo>
                  <a:pt x="9266237" y="228600"/>
                </a:lnTo>
                <a:lnTo>
                  <a:pt x="9266237" y="0"/>
                </a:lnTo>
                <a:close/>
              </a:path>
            </a:pathLst>
          </a:custGeom>
          <a:solidFill>
            <a:srgbClr val="A4C3D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 name="Google Shape;8;p44"/>
          <p:cNvSpPr txBox="1"/>
          <p:nvPr>
            <p:ph type="title"/>
          </p:nvPr>
        </p:nvSpPr>
        <p:spPr>
          <a:xfrm>
            <a:off x="742441" y="223520"/>
            <a:ext cx="8421116" cy="99568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3200" u="none" cap="none" strike="noStrike">
                <a:solidFill>
                  <a:srgbClr val="775F55"/>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44"/>
          <p:cNvSpPr txBox="1"/>
          <p:nvPr>
            <p:ph idx="1" type="body"/>
          </p:nvPr>
        </p:nvSpPr>
        <p:spPr>
          <a:xfrm>
            <a:off x="717041" y="3399747"/>
            <a:ext cx="7666355" cy="2043429"/>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3450" u="none" cap="none" strike="noStrike">
                <a:solidFill>
                  <a:schemeClr val="dk1"/>
                </a:solidFill>
                <a:latin typeface="Noto Sans Symbols"/>
                <a:ea typeface="Noto Sans Symbols"/>
                <a:cs typeface="Noto Sans Symbols"/>
                <a:sym typeface="Noto Sans Symbols"/>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0" name="Google Shape;10;p44"/>
          <p:cNvSpPr txBox="1"/>
          <p:nvPr>
            <p:ph idx="11" type="ftr"/>
          </p:nvPr>
        </p:nvSpPr>
        <p:spPr>
          <a:xfrm>
            <a:off x="3368040" y="6377940"/>
            <a:ext cx="316992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44"/>
          <p:cNvSpPr txBox="1"/>
          <p:nvPr>
            <p:ph idx="10" type="dt"/>
          </p:nvPr>
        </p:nvSpPr>
        <p:spPr>
          <a:xfrm>
            <a:off x="495300" y="6377940"/>
            <a:ext cx="227838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44"/>
          <p:cNvSpPr txBox="1"/>
          <p:nvPr>
            <p:ph idx="12" type="sldNum"/>
          </p:nvPr>
        </p:nvSpPr>
        <p:spPr>
          <a:xfrm>
            <a:off x="7132320" y="6377940"/>
            <a:ext cx="2278380" cy="3429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sz="1800" u="none">
                <a:solidFill>
                  <a:srgbClr val="888888"/>
                </a:solidFill>
                <a:latin typeface="Calibri"/>
                <a:ea typeface="Calibri"/>
                <a:cs typeface="Calibri"/>
                <a:sym typeface="Calibri"/>
              </a:defRPr>
            </a:lvl1pPr>
            <a:lvl2pPr indent="0" lvl="1" marL="0" marR="0" rtl="0" algn="r">
              <a:spcBef>
                <a:spcPts val="0"/>
              </a:spcBef>
              <a:buNone/>
              <a:defRPr b="0" sz="1800" u="none">
                <a:solidFill>
                  <a:srgbClr val="888888"/>
                </a:solidFill>
                <a:latin typeface="Calibri"/>
                <a:ea typeface="Calibri"/>
                <a:cs typeface="Calibri"/>
                <a:sym typeface="Calibri"/>
              </a:defRPr>
            </a:lvl2pPr>
            <a:lvl3pPr indent="0" lvl="2" marL="0" marR="0" rtl="0" algn="r">
              <a:spcBef>
                <a:spcPts val="0"/>
              </a:spcBef>
              <a:buNone/>
              <a:defRPr b="0" sz="1800" u="none">
                <a:solidFill>
                  <a:srgbClr val="888888"/>
                </a:solidFill>
                <a:latin typeface="Calibri"/>
                <a:ea typeface="Calibri"/>
                <a:cs typeface="Calibri"/>
                <a:sym typeface="Calibri"/>
              </a:defRPr>
            </a:lvl3pPr>
            <a:lvl4pPr indent="0" lvl="3" marL="0" marR="0" rtl="0" algn="r">
              <a:spcBef>
                <a:spcPts val="0"/>
              </a:spcBef>
              <a:buNone/>
              <a:defRPr b="0" sz="1800" u="none">
                <a:solidFill>
                  <a:srgbClr val="888888"/>
                </a:solidFill>
                <a:latin typeface="Calibri"/>
                <a:ea typeface="Calibri"/>
                <a:cs typeface="Calibri"/>
                <a:sym typeface="Calibri"/>
              </a:defRPr>
            </a:lvl4pPr>
            <a:lvl5pPr indent="0" lvl="4" marL="0" marR="0" rtl="0" algn="r">
              <a:spcBef>
                <a:spcPts val="0"/>
              </a:spcBef>
              <a:buNone/>
              <a:defRPr b="0" sz="1800" u="none">
                <a:solidFill>
                  <a:srgbClr val="888888"/>
                </a:solidFill>
                <a:latin typeface="Calibri"/>
                <a:ea typeface="Calibri"/>
                <a:cs typeface="Calibri"/>
                <a:sym typeface="Calibri"/>
              </a:defRPr>
            </a:lvl5pPr>
            <a:lvl6pPr indent="0" lvl="5" marL="0" marR="0" rtl="0" algn="r">
              <a:spcBef>
                <a:spcPts val="0"/>
              </a:spcBef>
              <a:buNone/>
              <a:defRPr b="0" sz="1800" u="none">
                <a:solidFill>
                  <a:srgbClr val="888888"/>
                </a:solidFill>
                <a:latin typeface="Calibri"/>
                <a:ea typeface="Calibri"/>
                <a:cs typeface="Calibri"/>
                <a:sym typeface="Calibri"/>
              </a:defRPr>
            </a:lvl6pPr>
            <a:lvl7pPr indent="0" lvl="6" marL="0" marR="0" rtl="0" algn="r">
              <a:spcBef>
                <a:spcPts val="0"/>
              </a:spcBef>
              <a:buNone/>
              <a:defRPr b="0" sz="1800" u="none">
                <a:solidFill>
                  <a:srgbClr val="888888"/>
                </a:solidFill>
                <a:latin typeface="Calibri"/>
                <a:ea typeface="Calibri"/>
                <a:cs typeface="Calibri"/>
                <a:sym typeface="Calibri"/>
              </a:defRPr>
            </a:lvl7pPr>
            <a:lvl8pPr indent="0" lvl="7" marL="0" marR="0" rtl="0" algn="r">
              <a:spcBef>
                <a:spcPts val="0"/>
              </a:spcBef>
              <a:buNone/>
              <a:defRPr b="0" sz="1800" u="none">
                <a:solidFill>
                  <a:srgbClr val="888888"/>
                </a:solidFill>
                <a:latin typeface="Calibri"/>
                <a:ea typeface="Calibri"/>
                <a:cs typeface="Calibri"/>
                <a:sym typeface="Calibri"/>
              </a:defRPr>
            </a:lvl8pPr>
            <a:lvl9pPr indent="0" lvl="8" marL="0" marR="0" rtl="0" algn="r">
              <a:spcBef>
                <a:spcPts val="0"/>
              </a:spcBef>
              <a:buNone/>
              <a:defRPr b="0" sz="1800" u="non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4.jpg"/><Relationship Id="rId5"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4.jp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jp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jp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jp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jp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5.png"/><Relationship Id="rId4" Type="http://schemas.openxmlformats.org/officeDocument/2006/relationships/image" Target="../media/image17.png"/><Relationship Id="rId5" Type="http://schemas.openxmlformats.org/officeDocument/2006/relationships/image" Target="../media/image29.png"/><Relationship Id="rId6" Type="http://schemas.openxmlformats.org/officeDocument/2006/relationships/image" Target="../media/image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1.png"/><Relationship Id="rId4" Type="http://schemas.openxmlformats.org/officeDocument/2006/relationships/image" Target="../media/image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4.png"/><Relationship Id="rId4" Type="http://schemas.openxmlformats.org/officeDocument/2006/relationships/image" Target="../media/image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0.png"/><Relationship Id="rId4" Type="http://schemas.openxmlformats.org/officeDocument/2006/relationships/image" Target="../media/image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6.png"/><Relationship Id="rId4" Type="http://schemas.openxmlformats.org/officeDocument/2006/relationships/image" Target="../media/image23.png"/><Relationship Id="rId5" Type="http://schemas.openxmlformats.org/officeDocument/2006/relationships/image" Target="../media/image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7.png"/><Relationship Id="rId4" Type="http://schemas.openxmlformats.org/officeDocument/2006/relationships/image" Target="../media/image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6.png"/><Relationship Id="rId4" Type="http://schemas.openxmlformats.org/officeDocument/2006/relationships/image" Target="../media/image24.png"/><Relationship Id="rId5" Type="http://schemas.openxmlformats.org/officeDocument/2006/relationships/image" Target="../media/image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3.png"/><Relationship Id="rId4" Type="http://schemas.openxmlformats.org/officeDocument/2006/relationships/image" Target="../media/image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6.png"/><Relationship Id="rId4" Type="http://schemas.openxmlformats.org/officeDocument/2006/relationships/image" Target="../media/image28.png"/><Relationship Id="rId5" Type="http://schemas.openxmlformats.org/officeDocument/2006/relationships/image" Target="../media/image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6.png"/><Relationship Id="rId4" Type="http://schemas.openxmlformats.org/officeDocument/2006/relationships/image" Target="../media/image34.png"/><Relationship Id="rId5" Type="http://schemas.openxmlformats.org/officeDocument/2006/relationships/image" Target="../media/image36.png"/><Relationship Id="rId6" Type="http://schemas.openxmlformats.org/officeDocument/2006/relationships/image" Target="../media/image35.png"/><Relationship Id="rId7" Type="http://schemas.openxmlformats.org/officeDocument/2006/relationships/image" Target="../media/image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8.png"/><Relationship Id="rId4" Type="http://schemas.openxmlformats.org/officeDocument/2006/relationships/image" Target="../media/image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9.png"/><Relationship Id="rId4" Type="http://schemas.openxmlformats.org/officeDocument/2006/relationships/image" Target="../media/image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0.png"/><Relationship Id="rId4" Type="http://schemas.openxmlformats.org/officeDocument/2006/relationships/image" Target="../media/image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5.png"/><Relationship Id="rId4" Type="http://schemas.openxmlformats.org/officeDocument/2006/relationships/image" Target="../media/image4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1.jpg"/><Relationship Id="rId4" Type="http://schemas.openxmlformats.org/officeDocument/2006/relationships/image" Target="../media/image4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 name="Shape 46"/>
        <p:cNvGrpSpPr/>
        <p:nvPr/>
      </p:nvGrpSpPr>
      <p:grpSpPr>
        <a:xfrm>
          <a:off x="0" y="0"/>
          <a:ext cx="0" cy="0"/>
          <a:chOff x="0" y="0"/>
          <a:chExt cx="0" cy="0"/>
        </a:xfrm>
      </p:grpSpPr>
      <p:sp>
        <p:nvSpPr>
          <p:cNvPr id="47" name="Google Shape;47;p1"/>
          <p:cNvSpPr/>
          <p:nvPr/>
        </p:nvSpPr>
        <p:spPr>
          <a:xfrm>
            <a:off x="0" y="0"/>
            <a:ext cx="9906000" cy="5971540"/>
          </a:xfrm>
          <a:custGeom>
            <a:rect b="b" l="l" r="r" t="t"/>
            <a:pathLst>
              <a:path extrusionOk="0" h="5971540" w="9906000">
                <a:moveTo>
                  <a:pt x="0" y="5971032"/>
                </a:moveTo>
                <a:lnTo>
                  <a:pt x="9906000" y="5971032"/>
                </a:lnTo>
                <a:lnTo>
                  <a:pt x="9906000" y="0"/>
                </a:lnTo>
                <a:lnTo>
                  <a:pt x="0" y="0"/>
                </a:lnTo>
                <a:lnTo>
                  <a:pt x="0" y="5971032"/>
                </a:lnTo>
                <a:close/>
              </a:path>
            </a:pathLst>
          </a:custGeom>
          <a:solidFill>
            <a:srgbClr val="8A726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8" name="Google Shape;48;p1"/>
          <p:cNvGrpSpPr/>
          <p:nvPr/>
        </p:nvGrpSpPr>
        <p:grpSpPr>
          <a:xfrm>
            <a:off x="0" y="5971031"/>
            <a:ext cx="9906507" cy="887094"/>
            <a:chOff x="0" y="5971031"/>
            <a:chExt cx="9906507" cy="887094"/>
          </a:xfrm>
        </p:grpSpPr>
        <p:sp>
          <p:nvSpPr>
            <p:cNvPr id="49" name="Google Shape;49;p1"/>
            <p:cNvSpPr/>
            <p:nvPr/>
          </p:nvSpPr>
          <p:spPr>
            <a:xfrm>
              <a:off x="0" y="5971031"/>
              <a:ext cx="9906000" cy="887094"/>
            </a:xfrm>
            <a:custGeom>
              <a:rect b="b" l="l" r="r" t="t"/>
              <a:pathLst>
                <a:path extrusionOk="0" h="887095" w="9906000">
                  <a:moveTo>
                    <a:pt x="9906000" y="0"/>
                  </a:moveTo>
                  <a:lnTo>
                    <a:pt x="0" y="0"/>
                  </a:lnTo>
                  <a:lnTo>
                    <a:pt x="0" y="886968"/>
                  </a:lnTo>
                  <a:lnTo>
                    <a:pt x="9906000" y="886968"/>
                  </a:lnTo>
                  <a:lnTo>
                    <a:pt x="99060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1"/>
            <p:cNvSpPr/>
            <p:nvPr/>
          </p:nvSpPr>
          <p:spPr>
            <a:xfrm>
              <a:off x="0" y="6053327"/>
              <a:ext cx="2426970" cy="713740"/>
            </a:xfrm>
            <a:custGeom>
              <a:rect b="b" l="l" r="r" t="t"/>
              <a:pathLst>
                <a:path extrusionOk="0" h="713740" w="2426970">
                  <a:moveTo>
                    <a:pt x="2426970" y="0"/>
                  </a:moveTo>
                  <a:lnTo>
                    <a:pt x="0" y="0"/>
                  </a:lnTo>
                  <a:lnTo>
                    <a:pt x="0" y="713231"/>
                  </a:lnTo>
                  <a:lnTo>
                    <a:pt x="2426970" y="713231"/>
                  </a:lnTo>
                  <a:lnTo>
                    <a:pt x="2426970"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1"/>
            <p:cNvSpPr/>
            <p:nvPr/>
          </p:nvSpPr>
          <p:spPr>
            <a:xfrm>
              <a:off x="2555748" y="6044183"/>
              <a:ext cx="7350759" cy="713740"/>
            </a:xfrm>
            <a:custGeom>
              <a:rect b="b" l="l" r="r" t="t"/>
              <a:pathLst>
                <a:path extrusionOk="0" h="713740" w="7350759">
                  <a:moveTo>
                    <a:pt x="7350252" y="0"/>
                  </a:moveTo>
                  <a:lnTo>
                    <a:pt x="0" y="0"/>
                  </a:lnTo>
                  <a:lnTo>
                    <a:pt x="0" y="713231"/>
                  </a:lnTo>
                  <a:lnTo>
                    <a:pt x="7350252" y="713231"/>
                  </a:lnTo>
                  <a:lnTo>
                    <a:pt x="7350252" y="0"/>
                  </a:lnTo>
                  <a:close/>
                </a:path>
              </a:pathLst>
            </a:custGeom>
            <a:solidFill>
              <a:srgbClr val="A4C3D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 name="Google Shape;52;p1"/>
          <p:cNvSpPr txBox="1"/>
          <p:nvPr/>
        </p:nvSpPr>
        <p:spPr>
          <a:xfrm>
            <a:off x="3048000" y="3962400"/>
            <a:ext cx="5812155" cy="18542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4000">
                <a:solidFill>
                  <a:srgbClr val="EBDDC3"/>
                </a:solidFill>
                <a:latin typeface="Arial"/>
                <a:ea typeface="Arial"/>
                <a:cs typeface="Arial"/>
                <a:sym typeface="Arial"/>
              </a:rPr>
              <a:t>IMAGE	ENHANCEMENT:  FILTERING IN THE  FREQUENCY DOMAIN</a:t>
            </a:r>
            <a:endParaRPr sz="4000">
              <a:solidFill>
                <a:schemeClr val="dk1"/>
              </a:solidFill>
              <a:latin typeface="Arial"/>
              <a:ea typeface="Arial"/>
              <a:cs typeface="Arial"/>
              <a:sym typeface="Arial"/>
            </a:endParaRPr>
          </a:p>
        </p:txBody>
      </p:sp>
      <p:sp>
        <p:nvSpPr>
          <p:cNvPr id="53" name="Google Shape;53;p1"/>
          <p:cNvSpPr/>
          <p:nvPr/>
        </p:nvSpPr>
        <p:spPr>
          <a:xfrm>
            <a:off x="1295400" y="7315200"/>
            <a:ext cx="735970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Calibri"/>
                <a:ea typeface="Calibri"/>
                <a:cs typeface="Calibri"/>
                <a:sym typeface="Calibri"/>
              </a:rPr>
              <a:t>Image</a:t>
            </a:r>
            <a:r>
              <a:rPr lang="en-US" sz="3200">
                <a:solidFill>
                  <a:schemeClr val="dk1"/>
                </a:solidFill>
                <a:latin typeface="Calibri"/>
                <a:ea typeface="Calibri"/>
                <a:cs typeface="Calibri"/>
                <a:sym typeface="Calibri"/>
              </a:rPr>
              <a:t> </a:t>
            </a:r>
            <a:r>
              <a:rPr b="1" lang="en-US" sz="3200">
                <a:solidFill>
                  <a:schemeClr val="dk1"/>
                </a:solidFill>
                <a:latin typeface="Calibri"/>
                <a:ea typeface="Calibri"/>
                <a:cs typeface="Calibri"/>
                <a:sym typeface="Calibri"/>
              </a:rPr>
              <a:t>Enhancement in Frequency Domain</a:t>
            </a:r>
            <a:endParaRPr sz="3200">
              <a:solidFill>
                <a:schemeClr val="dk1"/>
              </a:solidFill>
              <a:latin typeface="Calibri"/>
              <a:ea typeface="Calibri"/>
              <a:cs typeface="Calibri"/>
              <a:sym typeface="Calibri"/>
            </a:endParaRPr>
          </a:p>
        </p:txBody>
      </p:sp>
      <p:sp>
        <p:nvSpPr>
          <p:cNvPr id="54" name="Google Shape;54;p1"/>
          <p:cNvSpPr/>
          <p:nvPr/>
        </p:nvSpPr>
        <p:spPr>
          <a:xfrm>
            <a:off x="1905000" y="2743200"/>
            <a:ext cx="1217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Calibri"/>
                <a:ea typeface="Calibri"/>
                <a:cs typeface="Calibri"/>
                <a:sym typeface="Calibri"/>
              </a:rPr>
              <a:t>Unit 3</a:t>
            </a:r>
            <a:endParaRPr sz="32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2"/>
          <p:cNvSpPr txBox="1"/>
          <p:nvPr>
            <p:ph type="title"/>
          </p:nvPr>
        </p:nvSpPr>
        <p:spPr>
          <a:xfrm>
            <a:off x="742441" y="375920"/>
            <a:ext cx="361759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DFT &amp;	Images</a:t>
            </a:r>
            <a:endParaRPr sz="4400"/>
          </a:p>
        </p:txBody>
      </p:sp>
      <p:sp>
        <p:nvSpPr>
          <p:cNvPr id="60" name="Google Shape;60;p2"/>
          <p:cNvSpPr txBox="1"/>
          <p:nvPr/>
        </p:nvSpPr>
        <p:spPr>
          <a:xfrm>
            <a:off x="742441" y="1633220"/>
            <a:ext cx="8133080" cy="1343660"/>
          </a:xfrm>
          <a:prstGeom prst="rect">
            <a:avLst/>
          </a:prstGeom>
          <a:noFill/>
          <a:ln>
            <a:noFill/>
          </a:ln>
        </p:spPr>
        <p:txBody>
          <a:bodyPr anchorCtr="0" anchor="t" bIns="0" lIns="0" spcFirstLastPara="1" rIns="0" wrap="square" tIns="16500">
            <a:spAutoFit/>
          </a:bodyPr>
          <a:lstStyle/>
          <a:p>
            <a:pPr indent="0" lvl="0" marL="12700" marR="5080" rtl="0" algn="l">
              <a:lnSpc>
                <a:spcPct val="99100"/>
              </a:lnSpc>
              <a:spcBef>
                <a:spcPts val="0"/>
              </a:spcBef>
              <a:spcAft>
                <a:spcPts val="0"/>
              </a:spcAft>
              <a:buNone/>
            </a:pPr>
            <a:r>
              <a:rPr lang="en-US" sz="2900">
                <a:solidFill>
                  <a:schemeClr val="dk1"/>
                </a:solidFill>
                <a:latin typeface="Arial"/>
                <a:ea typeface="Arial"/>
                <a:cs typeface="Arial"/>
                <a:sym typeface="Arial"/>
              </a:rPr>
              <a:t>The DFT of a two dimensional image can be  visualised by showing the spectrum of the images  component frequencies</a:t>
            </a:r>
            <a:endParaRPr sz="2900">
              <a:solidFill>
                <a:schemeClr val="dk1"/>
              </a:solidFill>
              <a:latin typeface="Arial"/>
              <a:ea typeface="Arial"/>
              <a:cs typeface="Arial"/>
              <a:sym typeface="Arial"/>
            </a:endParaRPr>
          </a:p>
        </p:txBody>
      </p:sp>
      <p:sp>
        <p:nvSpPr>
          <p:cNvPr id="61" name="Google Shape;61;p2"/>
          <p:cNvSpPr/>
          <p:nvPr/>
        </p:nvSpPr>
        <p:spPr>
          <a:xfrm>
            <a:off x="6158671" y="3220263"/>
            <a:ext cx="2880794" cy="2713236"/>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2" name="Google Shape;62;p2"/>
          <p:cNvGrpSpPr/>
          <p:nvPr/>
        </p:nvGrpSpPr>
        <p:grpSpPr>
          <a:xfrm>
            <a:off x="-2318" y="1631156"/>
            <a:ext cx="279274" cy="5226843"/>
            <a:chOff x="-2318" y="1631156"/>
            <a:chExt cx="279274" cy="5226843"/>
          </a:xfrm>
        </p:grpSpPr>
        <p:sp>
          <p:nvSpPr>
            <p:cNvPr id="63" name="Google Shape;63;p2"/>
            <p:cNvSpPr/>
            <p:nvPr/>
          </p:nvSpPr>
          <p:spPr>
            <a:xfrm>
              <a:off x="0" y="6663531"/>
              <a:ext cx="276956" cy="19446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2"/>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2"/>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6" name="Google Shape;66;p2"/>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grpSp>
        <p:nvGrpSpPr>
          <p:cNvPr id="67" name="Google Shape;67;p2"/>
          <p:cNvGrpSpPr/>
          <p:nvPr/>
        </p:nvGrpSpPr>
        <p:grpSpPr>
          <a:xfrm>
            <a:off x="959011" y="3127016"/>
            <a:ext cx="4845206" cy="2786740"/>
            <a:chOff x="959011" y="3127016"/>
            <a:chExt cx="4845206" cy="2786740"/>
          </a:xfrm>
        </p:grpSpPr>
        <p:sp>
          <p:nvSpPr>
            <p:cNvPr id="68" name="Google Shape;68;p2"/>
            <p:cNvSpPr/>
            <p:nvPr/>
          </p:nvSpPr>
          <p:spPr>
            <a:xfrm>
              <a:off x="959011" y="3127016"/>
              <a:ext cx="2978915" cy="2771194"/>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 name="Google Shape;69;p2"/>
            <p:cNvSpPr/>
            <p:nvPr/>
          </p:nvSpPr>
          <p:spPr>
            <a:xfrm>
              <a:off x="3373882" y="3641726"/>
              <a:ext cx="572770" cy="2272030"/>
            </a:xfrm>
            <a:custGeom>
              <a:rect b="b" l="l" r="r" t="t"/>
              <a:pathLst>
                <a:path extrusionOk="0" h="2272029" w="572770">
                  <a:moveTo>
                    <a:pt x="572640" y="0"/>
                  </a:moveTo>
                  <a:lnTo>
                    <a:pt x="0" y="0"/>
                  </a:lnTo>
                  <a:lnTo>
                    <a:pt x="0" y="2271712"/>
                  </a:lnTo>
                  <a:lnTo>
                    <a:pt x="572640" y="2271712"/>
                  </a:lnTo>
                  <a:lnTo>
                    <a:pt x="57264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2"/>
            <p:cNvSpPr/>
            <p:nvPr/>
          </p:nvSpPr>
          <p:spPr>
            <a:xfrm>
              <a:off x="3744912" y="3757612"/>
              <a:ext cx="2059305" cy="1129030"/>
            </a:xfrm>
            <a:custGeom>
              <a:rect b="b" l="l" r="r" t="t"/>
              <a:pathLst>
                <a:path extrusionOk="0" h="1129029" w="2059304">
                  <a:moveTo>
                    <a:pt x="1583804" y="0"/>
                  </a:moveTo>
                  <a:lnTo>
                    <a:pt x="1583804" y="282181"/>
                  </a:lnTo>
                  <a:lnTo>
                    <a:pt x="0" y="282181"/>
                  </a:lnTo>
                  <a:lnTo>
                    <a:pt x="0" y="846531"/>
                  </a:lnTo>
                  <a:lnTo>
                    <a:pt x="1583804" y="846531"/>
                  </a:lnTo>
                  <a:lnTo>
                    <a:pt x="1583804" y="1128712"/>
                  </a:lnTo>
                  <a:lnTo>
                    <a:pt x="2058987" y="564362"/>
                  </a:lnTo>
                  <a:lnTo>
                    <a:pt x="1583804"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2"/>
            <p:cNvSpPr/>
            <p:nvPr/>
          </p:nvSpPr>
          <p:spPr>
            <a:xfrm>
              <a:off x="3744912" y="3757612"/>
              <a:ext cx="2059305" cy="1129030"/>
            </a:xfrm>
            <a:custGeom>
              <a:rect b="b" l="l" r="r" t="t"/>
              <a:pathLst>
                <a:path extrusionOk="0" h="1129029" w="2059304">
                  <a:moveTo>
                    <a:pt x="0" y="282177"/>
                  </a:moveTo>
                  <a:lnTo>
                    <a:pt x="1583799" y="282177"/>
                  </a:lnTo>
                  <a:lnTo>
                    <a:pt x="1583799" y="0"/>
                  </a:lnTo>
                  <a:lnTo>
                    <a:pt x="2058988" y="564355"/>
                  </a:lnTo>
                  <a:lnTo>
                    <a:pt x="1583799" y="1128709"/>
                  </a:lnTo>
                  <a:lnTo>
                    <a:pt x="1583799" y="846533"/>
                  </a:lnTo>
                  <a:lnTo>
                    <a:pt x="0" y="846533"/>
                  </a:lnTo>
                  <a:lnTo>
                    <a:pt x="0" y="282177"/>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2" name="Google Shape;72;p2"/>
          <p:cNvSpPr txBox="1"/>
          <p:nvPr/>
        </p:nvSpPr>
        <p:spPr>
          <a:xfrm>
            <a:off x="4242752" y="4065422"/>
            <a:ext cx="815975" cy="513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3200">
                <a:solidFill>
                  <a:srgbClr val="FFFFFF"/>
                </a:solidFill>
                <a:latin typeface="Arial"/>
                <a:ea typeface="Arial"/>
                <a:cs typeface="Arial"/>
                <a:sym typeface="Arial"/>
              </a:rPr>
              <a:t>DFT</a:t>
            </a:r>
            <a:endParaRPr sz="32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3"/>
          <p:cNvSpPr txBox="1"/>
          <p:nvPr>
            <p:ph type="title"/>
          </p:nvPr>
        </p:nvSpPr>
        <p:spPr>
          <a:xfrm>
            <a:off x="742441" y="375920"/>
            <a:ext cx="793623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The	DFT and	Image	Processing</a:t>
            </a:r>
            <a:endParaRPr sz="4400"/>
          </a:p>
        </p:txBody>
      </p:sp>
      <p:sp>
        <p:nvSpPr>
          <p:cNvPr id="78" name="Google Shape;78;p3"/>
          <p:cNvSpPr txBox="1"/>
          <p:nvPr/>
        </p:nvSpPr>
        <p:spPr>
          <a:xfrm>
            <a:off x="574040" y="1472809"/>
            <a:ext cx="6966584" cy="1768475"/>
          </a:xfrm>
          <a:prstGeom prst="rect">
            <a:avLst/>
          </a:prstGeom>
          <a:noFill/>
          <a:ln>
            <a:noFill/>
          </a:ln>
        </p:spPr>
        <p:txBody>
          <a:bodyPr anchorCtr="0" anchor="t" bIns="0" lIns="0" spcFirstLastPara="1" rIns="0" wrap="square" tIns="40625">
            <a:spAutoFit/>
          </a:bodyPr>
          <a:lstStyle/>
          <a:p>
            <a:pPr indent="0" lvl="0" marL="12700" marR="0" rtl="0" algn="l">
              <a:lnSpc>
                <a:spcPct val="100000"/>
              </a:lnSpc>
              <a:spcBef>
                <a:spcPts val="0"/>
              </a:spcBef>
              <a:spcAft>
                <a:spcPts val="0"/>
              </a:spcAft>
              <a:buNone/>
            </a:pPr>
            <a:r>
              <a:rPr lang="en-US" sz="2900">
                <a:solidFill>
                  <a:schemeClr val="dk1"/>
                </a:solidFill>
                <a:latin typeface="Arial"/>
                <a:ea typeface="Arial"/>
                <a:cs typeface="Arial"/>
                <a:sym typeface="Arial"/>
              </a:rPr>
              <a:t>To filter an image in the frequency domain:</a:t>
            </a:r>
            <a:endParaRPr sz="2900">
              <a:solidFill>
                <a:schemeClr val="dk1"/>
              </a:solidFill>
              <a:latin typeface="Arial"/>
              <a:ea typeface="Arial"/>
              <a:cs typeface="Arial"/>
              <a:sym typeface="Arial"/>
            </a:endParaRPr>
          </a:p>
          <a:p>
            <a:pPr indent="-533400" lvl="0" marL="1079500" marR="0" rtl="0" algn="l">
              <a:lnSpc>
                <a:spcPct val="100000"/>
              </a:lnSpc>
              <a:spcBef>
                <a:spcPts val="200"/>
              </a:spcBef>
              <a:spcAft>
                <a:spcPts val="0"/>
              </a:spcAft>
              <a:buClr>
                <a:srgbClr val="94B6D2"/>
              </a:buClr>
              <a:buSzPts val="1800"/>
              <a:buFont typeface="Arial"/>
              <a:buAutoNum type="arabicPeriod"/>
            </a:pPr>
            <a:r>
              <a:rPr lang="en-US" sz="2600">
                <a:solidFill>
                  <a:schemeClr val="dk1"/>
                </a:solidFill>
                <a:latin typeface="Arial"/>
                <a:ea typeface="Arial"/>
                <a:cs typeface="Arial"/>
                <a:sym typeface="Arial"/>
              </a:rPr>
              <a:t>Compute </a:t>
            </a:r>
            <a:r>
              <a:rPr i="1" lang="en-US" sz="2600">
                <a:solidFill>
                  <a:schemeClr val="dk1"/>
                </a:solidFill>
                <a:latin typeface="Times New Roman"/>
                <a:ea typeface="Times New Roman"/>
                <a:cs typeface="Times New Roman"/>
                <a:sym typeface="Times New Roman"/>
              </a:rPr>
              <a:t>F(u,v) </a:t>
            </a:r>
            <a:r>
              <a:rPr lang="en-US" sz="2600">
                <a:solidFill>
                  <a:schemeClr val="dk1"/>
                </a:solidFill>
                <a:latin typeface="Arial"/>
                <a:ea typeface="Arial"/>
                <a:cs typeface="Arial"/>
                <a:sym typeface="Arial"/>
              </a:rPr>
              <a:t>the DFT of the image</a:t>
            </a:r>
            <a:endParaRPr sz="2600">
              <a:solidFill>
                <a:schemeClr val="dk1"/>
              </a:solidFill>
              <a:latin typeface="Arial"/>
              <a:ea typeface="Arial"/>
              <a:cs typeface="Arial"/>
              <a:sym typeface="Arial"/>
            </a:endParaRPr>
          </a:p>
          <a:p>
            <a:pPr indent="-533400" lvl="0" marL="1079500" marR="0" rtl="0" algn="l">
              <a:lnSpc>
                <a:spcPct val="100000"/>
              </a:lnSpc>
              <a:spcBef>
                <a:spcPts val="180"/>
              </a:spcBef>
              <a:spcAft>
                <a:spcPts val="0"/>
              </a:spcAft>
              <a:buClr>
                <a:srgbClr val="94B6D2"/>
              </a:buClr>
              <a:buSzPts val="1800"/>
              <a:buFont typeface="Arial"/>
              <a:buAutoNum type="arabicPeriod"/>
            </a:pPr>
            <a:r>
              <a:rPr lang="en-US" sz="2600">
                <a:solidFill>
                  <a:schemeClr val="dk1"/>
                </a:solidFill>
                <a:latin typeface="Arial"/>
                <a:ea typeface="Arial"/>
                <a:cs typeface="Arial"/>
                <a:sym typeface="Arial"/>
              </a:rPr>
              <a:t>Multiply </a:t>
            </a:r>
            <a:r>
              <a:rPr i="1" lang="en-US" sz="2600">
                <a:solidFill>
                  <a:schemeClr val="dk1"/>
                </a:solidFill>
                <a:latin typeface="Times New Roman"/>
                <a:ea typeface="Times New Roman"/>
                <a:cs typeface="Times New Roman"/>
                <a:sym typeface="Times New Roman"/>
              </a:rPr>
              <a:t>F(u,v) </a:t>
            </a:r>
            <a:r>
              <a:rPr lang="en-US" sz="2600">
                <a:solidFill>
                  <a:schemeClr val="dk1"/>
                </a:solidFill>
                <a:latin typeface="Arial"/>
                <a:ea typeface="Arial"/>
                <a:cs typeface="Arial"/>
                <a:sym typeface="Arial"/>
              </a:rPr>
              <a:t>by a filter function </a:t>
            </a:r>
            <a:r>
              <a:rPr i="1" lang="en-US" sz="2600">
                <a:solidFill>
                  <a:schemeClr val="dk1"/>
                </a:solidFill>
                <a:latin typeface="Times New Roman"/>
                <a:ea typeface="Times New Roman"/>
                <a:cs typeface="Times New Roman"/>
                <a:sym typeface="Times New Roman"/>
              </a:rPr>
              <a:t>H(u,v)</a:t>
            </a:r>
            <a:endParaRPr sz="2600">
              <a:solidFill>
                <a:schemeClr val="dk1"/>
              </a:solidFill>
              <a:latin typeface="Times New Roman"/>
              <a:ea typeface="Times New Roman"/>
              <a:cs typeface="Times New Roman"/>
              <a:sym typeface="Times New Roman"/>
            </a:endParaRPr>
          </a:p>
          <a:p>
            <a:pPr indent="-533400" lvl="0" marL="1079500" marR="0" rtl="0" algn="l">
              <a:lnSpc>
                <a:spcPct val="100000"/>
              </a:lnSpc>
              <a:spcBef>
                <a:spcPts val="280"/>
              </a:spcBef>
              <a:spcAft>
                <a:spcPts val="0"/>
              </a:spcAft>
              <a:buClr>
                <a:srgbClr val="94B6D2"/>
              </a:buClr>
              <a:buSzPts val="1800"/>
              <a:buFont typeface="Arial"/>
              <a:buAutoNum type="arabicPeriod"/>
            </a:pPr>
            <a:r>
              <a:rPr lang="en-US" sz="2600">
                <a:solidFill>
                  <a:schemeClr val="dk1"/>
                </a:solidFill>
                <a:latin typeface="Arial"/>
                <a:ea typeface="Arial"/>
                <a:cs typeface="Arial"/>
                <a:sym typeface="Arial"/>
              </a:rPr>
              <a:t>Compute the inverse DFT of the result</a:t>
            </a:r>
            <a:endParaRPr sz="2600">
              <a:solidFill>
                <a:schemeClr val="dk1"/>
              </a:solidFill>
              <a:latin typeface="Arial"/>
              <a:ea typeface="Arial"/>
              <a:cs typeface="Arial"/>
              <a:sym typeface="Arial"/>
            </a:endParaRPr>
          </a:p>
        </p:txBody>
      </p:sp>
      <p:sp>
        <p:nvSpPr>
          <p:cNvPr id="79" name="Google Shape;79;p3"/>
          <p:cNvSpPr/>
          <p:nvPr/>
        </p:nvSpPr>
        <p:spPr>
          <a:xfrm>
            <a:off x="1013587" y="3599915"/>
            <a:ext cx="7682561" cy="3181551"/>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80" name="Google Shape;80;p3"/>
          <p:cNvGrpSpPr/>
          <p:nvPr/>
        </p:nvGrpSpPr>
        <p:grpSpPr>
          <a:xfrm>
            <a:off x="-2318" y="1631156"/>
            <a:ext cx="279274" cy="5226843"/>
            <a:chOff x="-2318" y="1631156"/>
            <a:chExt cx="279274" cy="5226843"/>
          </a:xfrm>
        </p:grpSpPr>
        <p:sp>
          <p:nvSpPr>
            <p:cNvPr id="81" name="Google Shape;81;p3"/>
            <p:cNvSpPr/>
            <p:nvPr/>
          </p:nvSpPr>
          <p:spPr>
            <a:xfrm>
              <a:off x="0" y="6663531"/>
              <a:ext cx="276956" cy="19446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3"/>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 name="Google Shape;83;p3"/>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4" name="Google Shape;84;p3"/>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4"/>
          <p:cNvSpPr txBox="1"/>
          <p:nvPr/>
        </p:nvSpPr>
        <p:spPr>
          <a:xfrm>
            <a:off x="739140" y="436879"/>
            <a:ext cx="7827009" cy="5740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3600">
                <a:solidFill>
                  <a:srgbClr val="775F55"/>
                </a:solidFill>
                <a:latin typeface="Arial"/>
                <a:ea typeface="Arial"/>
                <a:cs typeface="Arial"/>
                <a:sym typeface="Arial"/>
              </a:rPr>
              <a:t>Some Basic Frequency Domain Filters</a:t>
            </a:r>
            <a:endParaRPr sz="3600">
              <a:solidFill>
                <a:schemeClr val="dk1"/>
              </a:solidFill>
              <a:latin typeface="Arial"/>
              <a:ea typeface="Arial"/>
              <a:cs typeface="Arial"/>
              <a:sym typeface="Arial"/>
            </a:endParaRPr>
          </a:p>
        </p:txBody>
      </p:sp>
      <p:sp>
        <p:nvSpPr>
          <p:cNvPr id="90" name="Google Shape;90;p4"/>
          <p:cNvSpPr/>
          <p:nvPr/>
        </p:nvSpPr>
        <p:spPr>
          <a:xfrm>
            <a:off x="4270360" y="2071399"/>
            <a:ext cx="5166702" cy="382767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1" name="Google Shape;91;p4"/>
          <p:cNvGrpSpPr/>
          <p:nvPr/>
        </p:nvGrpSpPr>
        <p:grpSpPr>
          <a:xfrm>
            <a:off x="-2318" y="1631156"/>
            <a:ext cx="279274" cy="5226843"/>
            <a:chOff x="-2318" y="1631156"/>
            <a:chExt cx="279274" cy="5226843"/>
          </a:xfrm>
        </p:grpSpPr>
        <p:sp>
          <p:nvSpPr>
            <p:cNvPr id="92" name="Google Shape;92;p4"/>
            <p:cNvSpPr/>
            <p:nvPr/>
          </p:nvSpPr>
          <p:spPr>
            <a:xfrm>
              <a:off x="0" y="6663531"/>
              <a:ext cx="276956" cy="19446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4"/>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4"/>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5" name="Google Shape;95;p4"/>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
        <p:nvSpPr>
          <p:cNvPr id="96" name="Google Shape;96;p4"/>
          <p:cNvSpPr/>
          <p:nvPr/>
        </p:nvSpPr>
        <p:spPr>
          <a:xfrm>
            <a:off x="514331" y="2840914"/>
            <a:ext cx="3465549" cy="2396904"/>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4"/>
          <p:cNvSpPr txBox="1"/>
          <p:nvPr/>
        </p:nvSpPr>
        <p:spPr>
          <a:xfrm>
            <a:off x="5920740" y="1506220"/>
            <a:ext cx="210947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Arial"/>
                <a:ea typeface="Arial"/>
                <a:cs typeface="Arial"/>
                <a:sym typeface="Arial"/>
              </a:rPr>
              <a:t>Low Pass Filter</a:t>
            </a:r>
            <a:endParaRPr sz="2400">
              <a:solidFill>
                <a:schemeClr val="dk1"/>
              </a:solidFill>
              <a:latin typeface="Arial"/>
              <a:ea typeface="Arial"/>
              <a:cs typeface="Arial"/>
              <a:sym typeface="Arial"/>
            </a:endParaRPr>
          </a:p>
        </p:txBody>
      </p:sp>
      <p:sp>
        <p:nvSpPr>
          <p:cNvPr id="98" name="Google Shape;98;p4"/>
          <p:cNvSpPr txBox="1"/>
          <p:nvPr/>
        </p:nvSpPr>
        <p:spPr>
          <a:xfrm>
            <a:off x="5846127" y="6079807"/>
            <a:ext cx="217678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Arial"/>
                <a:ea typeface="Arial"/>
                <a:cs typeface="Arial"/>
                <a:sym typeface="Arial"/>
              </a:rPr>
              <a:t>High Pass Filter</a:t>
            </a:r>
            <a:endParaRPr sz="24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5"/>
          <p:cNvSpPr txBox="1"/>
          <p:nvPr>
            <p:ph type="title"/>
          </p:nvPr>
        </p:nvSpPr>
        <p:spPr>
          <a:xfrm>
            <a:off x="742441" y="436879"/>
            <a:ext cx="7573009"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Smoothing Frequency Domain Filters</a:t>
            </a:r>
            <a:endParaRPr sz="3600"/>
          </a:p>
        </p:txBody>
      </p:sp>
      <p:sp>
        <p:nvSpPr>
          <p:cNvPr id="104" name="Google Shape;104;p5"/>
          <p:cNvSpPr txBox="1"/>
          <p:nvPr/>
        </p:nvSpPr>
        <p:spPr>
          <a:xfrm>
            <a:off x="742441" y="1633220"/>
            <a:ext cx="8782559" cy="6369051"/>
          </a:xfrm>
          <a:prstGeom prst="rect">
            <a:avLst/>
          </a:prstGeom>
          <a:noFill/>
          <a:ln>
            <a:noFill/>
          </a:ln>
        </p:spPr>
        <p:txBody>
          <a:bodyPr anchorCtr="0" anchor="t" bIns="0" lIns="0" spcFirstLastPara="1" rIns="0" wrap="square" tIns="35550">
            <a:spAutoFit/>
          </a:bodyPr>
          <a:lstStyle/>
          <a:p>
            <a:pPr indent="0" lvl="0" marL="12700" marR="5080" rtl="0" algn="l">
              <a:lnSpc>
                <a:spcPct val="117241"/>
              </a:lnSpc>
              <a:spcBef>
                <a:spcPts val="0"/>
              </a:spcBef>
              <a:spcAft>
                <a:spcPts val="0"/>
              </a:spcAft>
              <a:buNone/>
            </a:pPr>
            <a:r>
              <a:rPr lang="en-US" sz="2900">
                <a:solidFill>
                  <a:schemeClr val="dk1"/>
                </a:solidFill>
                <a:latin typeface="Arial"/>
                <a:ea typeface="Arial"/>
                <a:cs typeface="Arial"/>
                <a:sym typeface="Arial"/>
              </a:rPr>
              <a:t>Smoothing is achieved in the frequency domain by  dropping out the high frequency components</a:t>
            </a:r>
            <a:endParaRPr sz="2900">
              <a:solidFill>
                <a:schemeClr val="dk1"/>
              </a:solidFill>
              <a:latin typeface="Arial"/>
              <a:ea typeface="Arial"/>
              <a:cs typeface="Arial"/>
              <a:sym typeface="Arial"/>
            </a:endParaRPr>
          </a:p>
          <a:p>
            <a:pPr indent="0" lvl="0" marL="12700" marR="0" rtl="0" algn="l">
              <a:lnSpc>
                <a:spcPct val="100000"/>
              </a:lnSpc>
              <a:spcBef>
                <a:spcPts val="620"/>
              </a:spcBef>
              <a:spcAft>
                <a:spcPts val="0"/>
              </a:spcAft>
              <a:buNone/>
            </a:pPr>
            <a:r>
              <a:rPr lang="en-US" sz="2900">
                <a:solidFill>
                  <a:schemeClr val="dk1"/>
                </a:solidFill>
                <a:latin typeface="Arial"/>
                <a:ea typeface="Arial"/>
                <a:cs typeface="Arial"/>
                <a:sym typeface="Arial"/>
              </a:rPr>
              <a:t>The basic model for filtering is:</a:t>
            </a:r>
            <a:endParaRPr sz="2900">
              <a:solidFill>
                <a:schemeClr val="dk1"/>
              </a:solidFill>
              <a:latin typeface="Arial"/>
              <a:ea typeface="Arial"/>
              <a:cs typeface="Arial"/>
              <a:sym typeface="Arial"/>
            </a:endParaRPr>
          </a:p>
          <a:p>
            <a:pPr indent="0" lvl="0" marL="927100" marR="0" rtl="0" algn="l">
              <a:lnSpc>
                <a:spcPct val="100000"/>
              </a:lnSpc>
              <a:spcBef>
                <a:spcPts val="720"/>
              </a:spcBef>
              <a:spcAft>
                <a:spcPts val="0"/>
              </a:spcAft>
              <a:buNone/>
            </a:pPr>
            <a:r>
              <a:rPr i="1" lang="en-US" sz="2900">
                <a:solidFill>
                  <a:schemeClr val="dk1"/>
                </a:solidFill>
                <a:latin typeface="Times New Roman"/>
                <a:ea typeface="Times New Roman"/>
                <a:cs typeface="Times New Roman"/>
                <a:sym typeface="Times New Roman"/>
              </a:rPr>
              <a:t>G(u,v) = H(u,v)F(u,v)</a:t>
            </a:r>
            <a:endParaRPr sz="2900">
              <a:solidFill>
                <a:schemeClr val="dk1"/>
              </a:solidFill>
              <a:latin typeface="Times New Roman"/>
              <a:ea typeface="Times New Roman"/>
              <a:cs typeface="Times New Roman"/>
              <a:sym typeface="Times New Roman"/>
            </a:endParaRPr>
          </a:p>
          <a:p>
            <a:pPr indent="0" lvl="0" marL="12700" marR="181610" rtl="0" algn="l">
              <a:lnSpc>
                <a:spcPct val="99100"/>
              </a:lnSpc>
              <a:spcBef>
                <a:spcPts val="750"/>
              </a:spcBef>
              <a:spcAft>
                <a:spcPts val="0"/>
              </a:spcAft>
              <a:buNone/>
            </a:pPr>
            <a:r>
              <a:rPr lang="en-US" sz="2900">
                <a:solidFill>
                  <a:schemeClr val="dk1"/>
                </a:solidFill>
                <a:latin typeface="Arial"/>
                <a:ea typeface="Arial"/>
                <a:cs typeface="Arial"/>
                <a:sym typeface="Arial"/>
              </a:rPr>
              <a:t>where </a:t>
            </a:r>
            <a:r>
              <a:rPr i="1" lang="en-US" sz="2900">
                <a:solidFill>
                  <a:schemeClr val="dk1"/>
                </a:solidFill>
                <a:latin typeface="Times New Roman"/>
                <a:ea typeface="Times New Roman"/>
                <a:cs typeface="Times New Roman"/>
                <a:sym typeface="Times New Roman"/>
              </a:rPr>
              <a:t>F(u,v) </a:t>
            </a:r>
            <a:r>
              <a:rPr lang="en-US" sz="2900">
                <a:solidFill>
                  <a:schemeClr val="dk1"/>
                </a:solidFill>
                <a:latin typeface="Arial"/>
                <a:ea typeface="Arial"/>
                <a:cs typeface="Arial"/>
                <a:sym typeface="Arial"/>
              </a:rPr>
              <a:t>is the Fourier transform of the image  being filtered and </a:t>
            </a:r>
            <a:r>
              <a:rPr i="1" lang="en-US" sz="2900">
                <a:solidFill>
                  <a:schemeClr val="dk1"/>
                </a:solidFill>
                <a:latin typeface="Times New Roman"/>
                <a:ea typeface="Times New Roman"/>
                <a:cs typeface="Times New Roman"/>
                <a:sym typeface="Times New Roman"/>
              </a:rPr>
              <a:t>H(u,v) </a:t>
            </a:r>
            <a:r>
              <a:rPr lang="en-US" sz="2900">
                <a:solidFill>
                  <a:schemeClr val="dk1"/>
                </a:solidFill>
                <a:latin typeface="Arial"/>
                <a:ea typeface="Arial"/>
                <a:cs typeface="Arial"/>
                <a:sym typeface="Arial"/>
              </a:rPr>
              <a:t>is the filter transform  function</a:t>
            </a:r>
            <a:endParaRPr sz="2900">
              <a:solidFill>
                <a:schemeClr val="dk1"/>
              </a:solidFill>
              <a:latin typeface="Arial"/>
              <a:ea typeface="Arial"/>
              <a:cs typeface="Arial"/>
              <a:sym typeface="Arial"/>
            </a:endParaRPr>
          </a:p>
          <a:p>
            <a:pPr indent="0" lvl="0" marL="12700" marR="353695" rtl="0" algn="l">
              <a:lnSpc>
                <a:spcPct val="100600"/>
              </a:lnSpc>
              <a:spcBef>
                <a:spcPts val="700"/>
              </a:spcBef>
              <a:spcAft>
                <a:spcPts val="0"/>
              </a:spcAft>
              <a:buNone/>
            </a:pPr>
            <a:r>
              <a:rPr i="1" lang="en-US" sz="2900">
                <a:solidFill>
                  <a:schemeClr val="dk1"/>
                </a:solidFill>
                <a:latin typeface="Arial"/>
                <a:ea typeface="Arial"/>
                <a:cs typeface="Arial"/>
                <a:sym typeface="Arial"/>
              </a:rPr>
              <a:t>Low pass filters </a:t>
            </a:r>
            <a:r>
              <a:rPr lang="en-US" sz="2900">
                <a:solidFill>
                  <a:schemeClr val="dk1"/>
                </a:solidFill>
                <a:latin typeface="Arial"/>
                <a:ea typeface="Arial"/>
                <a:cs typeface="Arial"/>
                <a:sym typeface="Arial"/>
              </a:rPr>
              <a:t>– only pass the low frequencies,  drop the high ones</a:t>
            </a:r>
            <a:endParaRPr sz="2900">
              <a:solidFill>
                <a:schemeClr val="dk1"/>
              </a:solidFill>
              <a:latin typeface="Arial"/>
              <a:ea typeface="Arial"/>
              <a:cs typeface="Arial"/>
              <a:sym typeface="Arial"/>
            </a:endParaRPr>
          </a:p>
          <a:p>
            <a:pPr indent="0" lvl="0" marL="12700" marR="353695" rtl="0" algn="l">
              <a:lnSpc>
                <a:spcPct val="100600"/>
              </a:lnSpc>
              <a:spcBef>
                <a:spcPts val="700"/>
              </a:spcBef>
              <a:spcAft>
                <a:spcPts val="0"/>
              </a:spcAft>
              <a:buNone/>
            </a:pPr>
            <a:r>
              <a:t/>
            </a:r>
            <a:endParaRPr sz="2900">
              <a:solidFill>
                <a:schemeClr val="dk1"/>
              </a:solidFill>
              <a:latin typeface="Arial"/>
              <a:ea typeface="Arial"/>
              <a:cs typeface="Arial"/>
              <a:sym typeface="Arial"/>
            </a:endParaRPr>
          </a:p>
          <a:p>
            <a:pPr indent="0" lvl="0" marL="12700" marR="353695" rtl="0" algn="l">
              <a:lnSpc>
                <a:spcPct val="100600"/>
              </a:lnSpc>
              <a:spcBef>
                <a:spcPts val="700"/>
              </a:spcBef>
              <a:spcAft>
                <a:spcPts val="0"/>
              </a:spcAft>
              <a:buNone/>
            </a:pPr>
            <a:r>
              <a:rPr lang="en-US" sz="2900">
                <a:solidFill>
                  <a:srgbClr val="FF0000"/>
                </a:solidFill>
                <a:latin typeface="Arial"/>
                <a:ea typeface="Arial"/>
                <a:cs typeface="Arial"/>
                <a:sym typeface="Arial"/>
              </a:rPr>
              <a:t>Smoothing (blurring) is achieved in the frequency domain by high frequency attenuation; that is by low pass filtering</a:t>
            </a:r>
            <a:endParaRPr sz="2900">
              <a:solidFill>
                <a:srgbClr val="FF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6"/>
          <p:cNvSpPr txBox="1"/>
          <p:nvPr>
            <p:ph type="title"/>
          </p:nvPr>
        </p:nvSpPr>
        <p:spPr>
          <a:xfrm>
            <a:off x="742441" y="223520"/>
            <a:ext cx="8421116" cy="99568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Frequency Domain Filters and its Types</a:t>
            </a:r>
            <a:br>
              <a:rPr lang="en-US"/>
            </a:br>
            <a:endParaRPr/>
          </a:p>
        </p:txBody>
      </p:sp>
      <p:pic>
        <p:nvPicPr>
          <p:cNvPr descr="https://media.geeksforgeeks.org/wp-content/uploads/20191205112135/Capture33555.png" id="110" name="Google Shape;110;p6"/>
          <p:cNvPicPr preferRelativeResize="0"/>
          <p:nvPr/>
        </p:nvPicPr>
        <p:blipFill rotWithShape="1">
          <a:blip r:embed="rId3">
            <a:alphaModFix/>
          </a:blip>
          <a:srcRect b="0" l="0" r="0" t="0"/>
          <a:stretch/>
        </p:blipFill>
        <p:spPr>
          <a:xfrm>
            <a:off x="220432" y="2743200"/>
            <a:ext cx="9456968" cy="397158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7"/>
          <p:cNvSpPr txBox="1"/>
          <p:nvPr>
            <p:ph type="title"/>
          </p:nvPr>
        </p:nvSpPr>
        <p:spPr>
          <a:xfrm>
            <a:off x="742441" y="223520"/>
            <a:ext cx="8421116" cy="99568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16" name="Google Shape;116;p7"/>
          <p:cNvSpPr txBox="1"/>
          <p:nvPr>
            <p:ph idx="1" type="body"/>
          </p:nvPr>
        </p:nvSpPr>
        <p:spPr>
          <a:xfrm>
            <a:off x="717041" y="3399747"/>
            <a:ext cx="7666355" cy="204342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117" name="Google Shape;117;p7"/>
          <p:cNvPicPr preferRelativeResize="0"/>
          <p:nvPr/>
        </p:nvPicPr>
        <p:blipFill rotWithShape="1">
          <a:blip r:embed="rId3">
            <a:alphaModFix/>
          </a:blip>
          <a:srcRect b="13541" l="0" r="4538" t="0"/>
          <a:stretch/>
        </p:blipFill>
        <p:spPr>
          <a:xfrm>
            <a:off x="1" y="1295400"/>
            <a:ext cx="9601200" cy="5410200"/>
          </a:xfrm>
          <a:prstGeom prst="rect">
            <a:avLst/>
          </a:prstGeom>
          <a:noFill/>
          <a:ln>
            <a:noFill/>
          </a:ln>
        </p:spPr>
      </p:pic>
      <p:sp>
        <p:nvSpPr>
          <p:cNvPr id="118" name="Google Shape;118;p7"/>
          <p:cNvSpPr txBox="1"/>
          <p:nvPr/>
        </p:nvSpPr>
        <p:spPr>
          <a:xfrm>
            <a:off x="914400" y="7162800"/>
            <a:ext cx="8001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Frequency domain filtering is preferred over spatial domain because it involves less computations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type="title"/>
          </p:nvPr>
        </p:nvSpPr>
        <p:spPr>
          <a:xfrm>
            <a:off x="742441" y="223520"/>
            <a:ext cx="8421116" cy="99568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24" name="Google Shape;124;p8"/>
          <p:cNvSpPr/>
          <p:nvPr/>
        </p:nvSpPr>
        <p:spPr>
          <a:xfrm>
            <a:off x="457200" y="2209800"/>
            <a:ext cx="9144000" cy="5054227"/>
          </a:xfrm>
          <a:prstGeom prst="rect">
            <a:avLst/>
          </a:prstGeom>
          <a:solidFill>
            <a:srgbClr val="E0E0E0"/>
          </a:solidFill>
          <a:ln>
            <a:noFill/>
          </a:ln>
        </p:spPr>
        <p:txBody>
          <a:bodyPr anchorCtr="0" anchor="ctr" bIns="128525" lIns="0" spcFirstLastPara="1" rIns="0" wrap="square" tIns="0">
            <a:spAutoFit/>
          </a:bodyPr>
          <a:lstStyle/>
          <a:p>
            <a:pPr indent="-457200" lvl="0" marL="457200" marR="0" rtl="0" algn="l">
              <a:lnSpc>
                <a:spcPct val="100000"/>
              </a:lnSpc>
              <a:spcBef>
                <a:spcPts val="0"/>
              </a:spcBef>
              <a:spcAft>
                <a:spcPts val="0"/>
              </a:spcAft>
              <a:buClr>
                <a:schemeClr val="dk1"/>
              </a:buClr>
              <a:buSzPts val="2400"/>
              <a:buFont typeface="Roboto"/>
              <a:buAutoNum type="arabicPeriod"/>
            </a:pPr>
            <a:r>
              <a:rPr b="1" i="0" lang="en-US" sz="2400" u="none" cap="none" strike="noStrike">
                <a:solidFill>
                  <a:schemeClr val="dk1"/>
                </a:solidFill>
                <a:latin typeface="Roboto"/>
                <a:ea typeface="Roboto"/>
                <a:cs typeface="Roboto"/>
                <a:sym typeface="Roboto"/>
              </a:rPr>
              <a:t>Low pass filter:</a:t>
            </a:r>
            <a:br>
              <a:rPr b="0" i="0" lang="en-US" sz="2400" u="none" cap="none" strike="noStrike">
                <a:solidFill>
                  <a:schemeClr val="dk1"/>
                </a:solidFill>
                <a:latin typeface="Roboto"/>
                <a:ea typeface="Roboto"/>
                <a:cs typeface="Roboto"/>
                <a:sym typeface="Roboto"/>
              </a:rPr>
            </a:br>
            <a:r>
              <a:rPr b="0" i="0" lang="en-US" sz="2400" u="none" cap="none" strike="noStrike">
                <a:solidFill>
                  <a:schemeClr val="dk1"/>
                </a:solidFill>
                <a:latin typeface="Roboto"/>
                <a:ea typeface="Roboto"/>
                <a:cs typeface="Roboto"/>
                <a:sym typeface="Roboto"/>
              </a:rPr>
              <a:t>Low pass filter removes the high frequency components that means it keeps low frequency components. It is used for smoothing the image.</a:t>
            </a:r>
            <a:endParaRPr/>
          </a:p>
          <a:p>
            <a:pPr indent="-304800" lvl="0" marL="457200" marR="0" rtl="0" algn="l">
              <a:lnSpc>
                <a:spcPct val="100000"/>
              </a:lnSpc>
              <a:spcBef>
                <a:spcPts val="0"/>
              </a:spcBef>
              <a:spcAft>
                <a:spcPts val="0"/>
              </a:spcAft>
              <a:buClr>
                <a:schemeClr val="dk1"/>
              </a:buClr>
              <a:buSzPts val="2400"/>
              <a:buFont typeface="Calibri"/>
              <a:buNone/>
            </a:pPr>
            <a:r>
              <a:t/>
            </a:r>
            <a:endParaRPr sz="2400">
              <a:solidFill>
                <a:schemeClr val="dk1"/>
              </a:solidFill>
              <a:latin typeface="Roboto"/>
              <a:ea typeface="Roboto"/>
              <a:cs typeface="Roboto"/>
              <a:sym typeface="Roboto"/>
            </a:endParaRPr>
          </a:p>
          <a:p>
            <a:pPr indent="-457200" lvl="0" marL="457200" marR="0" rtl="0" algn="l">
              <a:lnSpc>
                <a:spcPct val="100000"/>
              </a:lnSpc>
              <a:spcBef>
                <a:spcPts val="0"/>
              </a:spcBef>
              <a:spcAft>
                <a:spcPts val="0"/>
              </a:spcAft>
              <a:buNone/>
            </a:pPr>
            <a:r>
              <a:rPr b="0" i="0" lang="en-US" sz="2400" u="none" cap="none" strike="noStrike">
                <a:solidFill>
                  <a:schemeClr val="dk1"/>
                </a:solidFill>
                <a:latin typeface="Roboto"/>
                <a:ea typeface="Roboto"/>
                <a:cs typeface="Roboto"/>
                <a:sym typeface="Roboto"/>
              </a:rPr>
              <a:t> It is used to smoothen the image by attenuating high frequency components and preserving low frequency components.</a:t>
            </a:r>
            <a:br>
              <a:rPr b="0" i="0" lang="en-US" sz="2400" u="none" cap="none" strike="noStrike">
                <a:solidFill>
                  <a:schemeClr val="dk1"/>
                </a:solidFill>
                <a:latin typeface="Roboto"/>
                <a:ea typeface="Roboto"/>
                <a:cs typeface="Roboto"/>
                <a:sym typeface="Roboto"/>
              </a:rPr>
            </a:br>
            <a:r>
              <a:rPr b="0" i="0" lang="en-US" sz="2400" u="none" cap="none" strike="noStrike">
                <a:solidFill>
                  <a:schemeClr val="dk1"/>
                </a:solidFill>
                <a:latin typeface="Roboto"/>
                <a:ea typeface="Roboto"/>
                <a:cs typeface="Roboto"/>
                <a:sym typeface="Roboto"/>
              </a:rPr>
              <a:t>Mechanism of low pass filtering in frequency domain is given by:</a:t>
            </a:r>
            <a:endParaRPr/>
          </a:p>
          <a:p>
            <a:pPr indent="-457200" lvl="0" marL="457200" marR="0" rtl="0" algn="l">
              <a:lnSpc>
                <a:spcPct val="100000"/>
              </a:lnSpc>
              <a:spcBef>
                <a:spcPts val="0"/>
              </a:spcBef>
              <a:spcAft>
                <a:spcPts val="0"/>
              </a:spcAft>
              <a:buNone/>
            </a:pPr>
            <a:r>
              <a:t/>
            </a:r>
            <a:endParaRPr sz="2400">
              <a:solidFill>
                <a:schemeClr val="dk1"/>
              </a:solidFill>
              <a:latin typeface="Roboto"/>
              <a:ea typeface="Roboto"/>
              <a:cs typeface="Roboto"/>
              <a:sym typeface="Roboto"/>
            </a:endParaRPr>
          </a:p>
          <a:p>
            <a:pPr indent="-457200" lvl="0" marL="457200" marR="0" rtl="0" algn="l">
              <a:lnSpc>
                <a:spcPct val="100000"/>
              </a:lnSpc>
              <a:spcBef>
                <a:spcPts val="0"/>
              </a:spcBef>
              <a:spcAft>
                <a:spcPts val="0"/>
              </a:spcAft>
              <a:buNone/>
            </a:pPr>
            <a:r>
              <a:t/>
            </a:r>
            <a:endParaRPr b="0" i="0" sz="2400" u="none" cap="none" strike="noStrike">
              <a:solidFill>
                <a:schemeClr val="dk1"/>
              </a:solidFill>
              <a:latin typeface="Roboto"/>
              <a:ea typeface="Roboto"/>
              <a:cs typeface="Roboto"/>
              <a:sym typeface="Roboto"/>
            </a:endParaRPr>
          </a:p>
          <a:p>
            <a:pPr indent="-457200" lvl="0" marL="457200" marR="0" rtl="0" algn="l">
              <a:lnSpc>
                <a:spcPct val="100000"/>
              </a:lnSpc>
              <a:spcBef>
                <a:spcPts val="0"/>
              </a:spcBef>
              <a:spcAft>
                <a:spcPts val="0"/>
              </a:spcAft>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000"/>
              <a:buFont typeface="Consolas"/>
              <a:buNone/>
            </a:pPr>
            <a:r>
              <a:rPr b="0" i="0" lang="en-US" sz="2000" u="none" cap="none" strike="noStrike">
                <a:solidFill>
                  <a:schemeClr val="dk1"/>
                </a:solidFill>
                <a:latin typeface="Consolas"/>
                <a:ea typeface="Consolas"/>
                <a:cs typeface="Consolas"/>
                <a:sym typeface="Consolas"/>
              </a:rPr>
              <a:t>G(u, v) = H(u, v) . F(u, v) where F(u, v) is the Fourier Transform of original image and H(u, v) is the Fourier Transform of filtering mask </a:t>
            </a:r>
            <a:endParaRPr b="0" i="0" sz="36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9"/>
          <p:cNvSpPr txBox="1"/>
          <p:nvPr>
            <p:ph type="title"/>
          </p:nvPr>
        </p:nvSpPr>
        <p:spPr>
          <a:xfrm>
            <a:off x="742441" y="223520"/>
            <a:ext cx="8421116" cy="99568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30" name="Google Shape;130;p9"/>
          <p:cNvSpPr/>
          <p:nvPr/>
        </p:nvSpPr>
        <p:spPr>
          <a:xfrm>
            <a:off x="304800" y="2438400"/>
            <a:ext cx="8991600" cy="5663089"/>
          </a:xfrm>
          <a:prstGeom prst="rect">
            <a:avLst/>
          </a:prstGeom>
          <a:solidFill>
            <a:srgbClr val="FFFFFF"/>
          </a:solid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2400"/>
              <a:buFont typeface="Roboto"/>
              <a:buNone/>
            </a:pPr>
            <a:r>
              <a:rPr b="1" lang="en-US" sz="2400">
                <a:solidFill>
                  <a:schemeClr val="dk1"/>
                </a:solidFill>
                <a:latin typeface="Roboto"/>
                <a:ea typeface="Roboto"/>
                <a:cs typeface="Roboto"/>
                <a:sym typeface="Roboto"/>
              </a:rPr>
              <a:t>2. High pass filter:</a:t>
            </a:r>
            <a:br>
              <a:rPr lang="en-US" sz="2400">
                <a:solidFill>
                  <a:schemeClr val="dk1"/>
                </a:solidFill>
                <a:latin typeface="Roboto"/>
                <a:ea typeface="Roboto"/>
                <a:cs typeface="Roboto"/>
                <a:sym typeface="Roboto"/>
              </a:rPr>
            </a:br>
            <a:r>
              <a:rPr lang="en-US" sz="2400">
                <a:solidFill>
                  <a:schemeClr val="dk1"/>
                </a:solidFill>
                <a:latin typeface="Roboto"/>
                <a:ea typeface="Roboto"/>
                <a:cs typeface="Roboto"/>
                <a:sym typeface="Roboto"/>
              </a:rPr>
              <a:t>High pass filter removes the low frequency components that means it keeps high frequency components. It is used for sharpening the image. It is used to sharpen the image by attenuating low frequency components and preserving high frequency components.</a:t>
            </a:r>
            <a:br>
              <a:rPr lang="en-US" sz="2400">
                <a:solidFill>
                  <a:schemeClr val="dk1"/>
                </a:solidFill>
                <a:latin typeface="Roboto"/>
                <a:ea typeface="Roboto"/>
                <a:cs typeface="Roboto"/>
                <a:sym typeface="Roboto"/>
              </a:rPr>
            </a:br>
            <a:r>
              <a:rPr lang="en-US" sz="2400">
                <a:solidFill>
                  <a:schemeClr val="dk1"/>
                </a:solidFill>
                <a:latin typeface="Roboto"/>
                <a:ea typeface="Roboto"/>
                <a:cs typeface="Roboto"/>
                <a:sym typeface="Roboto"/>
              </a:rPr>
              <a:t>Mechanism of high pass filtering in frequency domain is given by:</a:t>
            </a:r>
            <a:endParaRPr/>
          </a:p>
          <a:p>
            <a:pPr indent="0" lvl="0" marL="0" marR="0" rtl="0" algn="l">
              <a:spcBef>
                <a:spcPts val="0"/>
              </a:spcBef>
              <a:spcAft>
                <a:spcPts val="0"/>
              </a:spcAft>
              <a:buClr>
                <a:schemeClr val="dk1"/>
              </a:buClr>
              <a:buSzPts val="2000"/>
              <a:buFont typeface="Calibri"/>
              <a:buNone/>
            </a:pPr>
            <a:r>
              <a:t/>
            </a:r>
            <a:endParaRPr sz="2000">
              <a:solidFill>
                <a:schemeClr val="dk1"/>
              </a:solidFill>
              <a:latin typeface="Consolas"/>
              <a:ea typeface="Consolas"/>
              <a:cs typeface="Consolas"/>
              <a:sym typeface="Consolas"/>
            </a:endParaRPr>
          </a:p>
          <a:p>
            <a:pPr indent="0" lvl="0" marL="0" marR="0" rtl="0" algn="l">
              <a:spcBef>
                <a:spcPts val="0"/>
              </a:spcBef>
              <a:spcAft>
                <a:spcPts val="0"/>
              </a:spcAft>
              <a:buClr>
                <a:schemeClr val="dk1"/>
              </a:buClr>
              <a:buSzPts val="2000"/>
              <a:buFont typeface="Consolas"/>
              <a:buNone/>
            </a:pPr>
            <a:r>
              <a:rPr lang="en-US" sz="2000">
                <a:solidFill>
                  <a:schemeClr val="dk1"/>
                </a:solidFill>
                <a:latin typeface="Consolas"/>
                <a:ea typeface="Consolas"/>
                <a:cs typeface="Consolas"/>
                <a:sym typeface="Consolas"/>
              </a:rPr>
              <a:t>H(u, v) = 1 - H'(u, v) where H(u, v) is the Fourier Transform of high pass filtering and H'(u, v) is the Fourier Transform of low pass filtering </a:t>
            </a:r>
            <a:endParaRPr/>
          </a:p>
          <a:p>
            <a:pPr indent="0" lvl="0" marL="0" marR="0" rtl="0" algn="l">
              <a:lnSpc>
                <a:spcPct val="100000"/>
              </a:lnSpc>
              <a:spcBef>
                <a:spcPts val="0"/>
              </a:spcBef>
              <a:spcAft>
                <a:spcPts val="0"/>
              </a:spcAft>
              <a:buClr>
                <a:schemeClr val="dk1"/>
              </a:buClr>
              <a:buSzPts val="2400"/>
              <a:buFont typeface="Roboto"/>
              <a:buNone/>
            </a:pPr>
            <a:r>
              <a:rPr b="1" lang="en-US" sz="2400">
                <a:solidFill>
                  <a:schemeClr val="dk1"/>
                </a:solidFill>
                <a:latin typeface="Roboto"/>
                <a:ea typeface="Roboto"/>
                <a:cs typeface="Roboto"/>
                <a:sym typeface="Roboto"/>
              </a:rPr>
              <a:t>3. Band pass filter:</a:t>
            </a:r>
            <a:br>
              <a:rPr lang="en-US" sz="2400">
                <a:solidFill>
                  <a:schemeClr val="dk1"/>
                </a:solidFill>
                <a:latin typeface="Roboto"/>
                <a:ea typeface="Roboto"/>
                <a:cs typeface="Roboto"/>
                <a:sym typeface="Roboto"/>
              </a:rPr>
            </a:br>
            <a:r>
              <a:rPr lang="en-US" sz="2400">
                <a:solidFill>
                  <a:schemeClr val="dk1"/>
                </a:solidFill>
                <a:latin typeface="Roboto"/>
                <a:ea typeface="Roboto"/>
                <a:cs typeface="Roboto"/>
                <a:sym typeface="Roboto"/>
              </a:rPr>
              <a:t>Band pass filter removes the very low frequency and very high frequency components that means it keeps the moderate range band of frequencies. Band pass filtering is used to enhance edges while reducing the noise at the same time.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0"/>
          <p:cNvSpPr txBox="1"/>
          <p:nvPr>
            <p:ph type="title"/>
          </p:nvPr>
        </p:nvSpPr>
        <p:spPr>
          <a:xfrm>
            <a:off x="742441" y="375920"/>
            <a:ext cx="521271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Ideal	Low	Pass Filter</a:t>
            </a:r>
            <a:endParaRPr sz="4400"/>
          </a:p>
        </p:txBody>
      </p:sp>
      <p:sp>
        <p:nvSpPr>
          <p:cNvPr id="136" name="Google Shape;136;p10"/>
          <p:cNvSpPr txBox="1"/>
          <p:nvPr/>
        </p:nvSpPr>
        <p:spPr>
          <a:xfrm>
            <a:off x="685800" y="1615440"/>
            <a:ext cx="8954135" cy="899160"/>
          </a:xfrm>
          <a:prstGeom prst="rect">
            <a:avLst/>
          </a:prstGeom>
          <a:noFill/>
          <a:ln>
            <a:noFill/>
          </a:ln>
        </p:spPr>
        <p:txBody>
          <a:bodyPr anchorCtr="0" anchor="t" bIns="0" lIns="0" spcFirstLastPara="1" rIns="0" wrap="square" tIns="35550">
            <a:spAutoFit/>
          </a:bodyPr>
          <a:lstStyle/>
          <a:p>
            <a:pPr indent="0" lvl="0" marL="38100" marR="30480" rtl="0" algn="l">
              <a:lnSpc>
                <a:spcPct val="117241"/>
              </a:lnSpc>
              <a:spcBef>
                <a:spcPts val="0"/>
              </a:spcBef>
              <a:spcAft>
                <a:spcPts val="0"/>
              </a:spcAft>
              <a:buNone/>
            </a:pPr>
            <a:r>
              <a:rPr lang="en-US" sz="2900">
                <a:solidFill>
                  <a:schemeClr val="dk1"/>
                </a:solidFill>
                <a:latin typeface="Arial"/>
                <a:ea typeface="Arial"/>
                <a:cs typeface="Arial"/>
                <a:sym typeface="Arial"/>
              </a:rPr>
              <a:t>Simply cut off all high frequency components that are  a specified distance D</a:t>
            </a:r>
            <a:r>
              <a:rPr baseline="-25000" lang="en-US" sz="2850">
                <a:solidFill>
                  <a:schemeClr val="dk1"/>
                </a:solidFill>
                <a:latin typeface="Arial"/>
                <a:ea typeface="Arial"/>
                <a:cs typeface="Arial"/>
                <a:sym typeface="Arial"/>
              </a:rPr>
              <a:t>0 </a:t>
            </a:r>
            <a:r>
              <a:rPr lang="en-US" sz="2900">
                <a:solidFill>
                  <a:schemeClr val="dk1"/>
                </a:solidFill>
                <a:latin typeface="Arial"/>
                <a:ea typeface="Arial"/>
                <a:cs typeface="Arial"/>
                <a:sym typeface="Arial"/>
              </a:rPr>
              <a:t>from the origin of the transform</a:t>
            </a:r>
            <a:endParaRPr sz="2900">
              <a:solidFill>
                <a:schemeClr val="dk1"/>
              </a:solidFill>
              <a:latin typeface="Arial"/>
              <a:ea typeface="Arial"/>
              <a:cs typeface="Arial"/>
              <a:sym typeface="Arial"/>
            </a:endParaRPr>
          </a:p>
        </p:txBody>
      </p:sp>
      <p:sp>
        <p:nvSpPr>
          <p:cNvPr id="137" name="Google Shape;137;p10"/>
          <p:cNvSpPr txBox="1"/>
          <p:nvPr/>
        </p:nvSpPr>
        <p:spPr>
          <a:xfrm>
            <a:off x="586740" y="4957407"/>
            <a:ext cx="8437245" cy="411480"/>
          </a:xfrm>
          <a:prstGeom prst="rect">
            <a:avLst/>
          </a:prstGeom>
          <a:noFill/>
          <a:ln>
            <a:noFill/>
          </a:ln>
        </p:spPr>
        <p:txBody>
          <a:bodyPr anchorCtr="0" anchor="t" bIns="0" lIns="0" spcFirstLastPara="1" rIns="0" wrap="square" tIns="0">
            <a:spAutoFit/>
          </a:bodyPr>
          <a:lstStyle/>
          <a:p>
            <a:pPr indent="0" lvl="0" marL="0" marR="0" rtl="0" algn="l">
              <a:lnSpc>
                <a:spcPct val="110482"/>
              </a:lnSpc>
              <a:spcBef>
                <a:spcPts val="0"/>
              </a:spcBef>
              <a:spcAft>
                <a:spcPts val="0"/>
              </a:spcAft>
              <a:buNone/>
            </a:pPr>
            <a:r>
              <a:rPr lang="en-US" sz="2900">
                <a:solidFill>
                  <a:schemeClr val="dk1"/>
                </a:solidFill>
                <a:latin typeface="Arial"/>
                <a:ea typeface="Arial"/>
                <a:cs typeface="Arial"/>
                <a:sym typeface="Arial"/>
              </a:rPr>
              <a:t>changing the distance changes the behaviour of the</a:t>
            </a:r>
            <a:endParaRPr sz="2900">
              <a:solidFill>
                <a:schemeClr val="dk1"/>
              </a:solidFill>
              <a:latin typeface="Arial"/>
              <a:ea typeface="Arial"/>
              <a:cs typeface="Arial"/>
              <a:sym typeface="Arial"/>
            </a:endParaRPr>
          </a:p>
        </p:txBody>
      </p:sp>
      <p:sp>
        <p:nvSpPr>
          <p:cNvPr id="138" name="Google Shape;138;p10"/>
          <p:cNvSpPr txBox="1"/>
          <p:nvPr/>
        </p:nvSpPr>
        <p:spPr>
          <a:xfrm>
            <a:off x="685800" y="5715000"/>
            <a:ext cx="721360" cy="46735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900">
                <a:solidFill>
                  <a:schemeClr val="dk1"/>
                </a:solidFill>
                <a:latin typeface="Arial"/>
                <a:ea typeface="Arial"/>
                <a:cs typeface="Arial"/>
                <a:sym typeface="Arial"/>
              </a:rPr>
              <a:t>filter</a:t>
            </a:r>
            <a:endParaRPr sz="2900">
              <a:solidFill>
                <a:schemeClr val="dk1"/>
              </a:solidFill>
              <a:latin typeface="Arial"/>
              <a:ea typeface="Arial"/>
              <a:cs typeface="Arial"/>
              <a:sym typeface="Arial"/>
            </a:endParaRPr>
          </a:p>
        </p:txBody>
      </p:sp>
      <p:sp>
        <p:nvSpPr>
          <p:cNvPr id="139" name="Google Shape;139;p10"/>
          <p:cNvSpPr/>
          <p:nvPr/>
        </p:nvSpPr>
        <p:spPr>
          <a:xfrm>
            <a:off x="585787" y="3011487"/>
            <a:ext cx="8696325" cy="250031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40" name="Google Shape;140;p10"/>
          <p:cNvGrpSpPr/>
          <p:nvPr/>
        </p:nvGrpSpPr>
        <p:grpSpPr>
          <a:xfrm>
            <a:off x="-2318" y="1631156"/>
            <a:ext cx="279274" cy="5226843"/>
            <a:chOff x="-2318" y="1631156"/>
            <a:chExt cx="279274" cy="5226843"/>
          </a:xfrm>
        </p:grpSpPr>
        <p:sp>
          <p:nvSpPr>
            <p:cNvPr id="141" name="Google Shape;141;p10"/>
            <p:cNvSpPr/>
            <p:nvPr/>
          </p:nvSpPr>
          <p:spPr>
            <a:xfrm>
              <a:off x="0" y="6663531"/>
              <a:ext cx="276956" cy="19446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10"/>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10"/>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44" name="Google Shape;144;p10"/>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ph type="title"/>
          </p:nvPr>
        </p:nvSpPr>
        <p:spPr>
          <a:xfrm>
            <a:off x="742441" y="223520"/>
            <a:ext cx="8421116" cy="99568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150" name="Google Shape;150;p11"/>
          <p:cNvPicPr preferRelativeResize="0"/>
          <p:nvPr/>
        </p:nvPicPr>
        <p:blipFill rotWithShape="1">
          <a:blip r:embed="rId3">
            <a:alphaModFix/>
          </a:blip>
          <a:srcRect b="0" l="0" r="0" t="4285"/>
          <a:stretch/>
        </p:blipFill>
        <p:spPr>
          <a:xfrm>
            <a:off x="914400" y="2057400"/>
            <a:ext cx="8172450" cy="2233613"/>
          </a:xfrm>
          <a:prstGeom prst="rect">
            <a:avLst/>
          </a:prstGeom>
          <a:noFill/>
          <a:ln>
            <a:noFill/>
          </a:ln>
        </p:spPr>
      </p:pic>
      <p:sp>
        <p:nvSpPr>
          <p:cNvPr id="151" name="Google Shape;151;p11"/>
          <p:cNvSpPr txBox="1"/>
          <p:nvPr/>
        </p:nvSpPr>
        <p:spPr>
          <a:xfrm>
            <a:off x="742441" y="375920"/>
            <a:ext cx="7355205" cy="6959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775F55"/>
              </a:buClr>
              <a:buSzPts val="4400"/>
              <a:buFont typeface="Arial"/>
              <a:buNone/>
            </a:pPr>
            <a:r>
              <a:rPr b="0" i="0" lang="en-US" sz="4400" u="none" cap="none" strike="noStrike">
                <a:solidFill>
                  <a:srgbClr val="775F55"/>
                </a:solidFill>
                <a:latin typeface="Arial"/>
                <a:ea typeface="Arial"/>
                <a:cs typeface="Arial"/>
                <a:sym typeface="Arial"/>
              </a:rPr>
              <a:t>Ideal	Low	Pass Filter (cont…)</a:t>
            </a:r>
            <a:endParaRPr b="0" i="0" sz="4400" u="none" cap="none" strike="noStrike">
              <a:solidFill>
                <a:srgbClr val="775F55"/>
              </a:solidFill>
              <a:latin typeface="Arial"/>
              <a:ea typeface="Arial"/>
              <a:cs typeface="Arial"/>
              <a:sym typeface="Arial"/>
            </a:endParaRPr>
          </a:p>
        </p:txBody>
      </p:sp>
      <p:sp>
        <p:nvSpPr>
          <p:cNvPr id="152" name="Google Shape;152;p11"/>
          <p:cNvSpPr txBox="1"/>
          <p:nvPr/>
        </p:nvSpPr>
        <p:spPr>
          <a:xfrm>
            <a:off x="1371600" y="5410200"/>
            <a:ext cx="59436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Where D0 is the positive quantity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2"/>
          <p:cNvSpPr/>
          <p:nvPr/>
        </p:nvSpPr>
        <p:spPr>
          <a:xfrm>
            <a:off x="2100262" y="3222638"/>
            <a:ext cx="5456237" cy="249236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12"/>
          <p:cNvSpPr txBox="1"/>
          <p:nvPr>
            <p:ph type="title"/>
          </p:nvPr>
        </p:nvSpPr>
        <p:spPr>
          <a:xfrm>
            <a:off x="742441" y="375920"/>
            <a:ext cx="735520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Ideal	Low	Pass Filter (cont…)</a:t>
            </a:r>
            <a:endParaRPr sz="4400"/>
          </a:p>
        </p:txBody>
      </p:sp>
      <p:sp>
        <p:nvSpPr>
          <p:cNvPr id="159" name="Google Shape;159;p12"/>
          <p:cNvSpPr txBox="1"/>
          <p:nvPr/>
        </p:nvSpPr>
        <p:spPr>
          <a:xfrm>
            <a:off x="609600" y="6248400"/>
            <a:ext cx="8781415" cy="1343660"/>
          </a:xfrm>
          <a:prstGeom prst="rect">
            <a:avLst/>
          </a:prstGeom>
          <a:noFill/>
          <a:ln>
            <a:noFill/>
          </a:ln>
        </p:spPr>
        <p:txBody>
          <a:bodyPr anchorCtr="0" anchor="t" bIns="0" lIns="0" spcFirstLastPara="1" rIns="0" wrap="square" tIns="16500">
            <a:spAutoFit/>
          </a:bodyPr>
          <a:lstStyle/>
          <a:p>
            <a:pPr indent="0" lvl="0" marL="12700" marR="5080" rtl="0" algn="l">
              <a:lnSpc>
                <a:spcPct val="99100"/>
              </a:lnSpc>
              <a:spcBef>
                <a:spcPts val="0"/>
              </a:spcBef>
              <a:spcAft>
                <a:spcPts val="0"/>
              </a:spcAft>
              <a:buNone/>
            </a:pPr>
            <a:r>
              <a:rPr lang="en-US" sz="2900">
                <a:solidFill>
                  <a:schemeClr val="dk1"/>
                </a:solidFill>
                <a:latin typeface="Arial"/>
                <a:ea typeface="Arial"/>
                <a:cs typeface="Arial"/>
                <a:sym typeface="Arial"/>
              </a:rPr>
              <a:t>Above we show an image, it’s Fourier spectrum and a  series of ideal low pass filters of radius 5, 15, 30, 80  and 230 superimposed on top of it</a:t>
            </a:r>
            <a:endParaRPr sz="2900">
              <a:solidFill>
                <a:schemeClr val="dk1"/>
              </a:solidFill>
              <a:latin typeface="Arial"/>
              <a:ea typeface="Arial"/>
              <a:cs typeface="Arial"/>
              <a:sym typeface="Arial"/>
            </a:endParaRPr>
          </a:p>
        </p:txBody>
      </p:sp>
      <p:grpSp>
        <p:nvGrpSpPr>
          <p:cNvPr id="160" name="Google Shape;160;p12"/>
          <p:cNvGrpSpPr/>
          <p:nvPr/>
        </p:nvGrpSpPr>
        <p:grpSpPr>
          <a:xfrm>
            <a:off x="-2318" y="1631156"/>
            <a:ext cx="279274" cy="5226843"/>
            <a:chOff x="-2318" y="1631156"/>
            <a:chExt cx="279274" cy="5226843"/>
          </a:xfrm>
        </p:grpSpPr>
        <p:sp>
          <p:nvSpPr>
            <p:cNvPr id="161" name="Google Shape;161;p12"/>
            <p:cNvSpPr/>
            <p:nvPr/>
          </p:nvSpPr>
          <p:spPr>
            <a:xfrm>
              <a:off x="0" y="6663531"/>
              <a:ext cx="276956" cy="19446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12"/>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12"/>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4" name="Google Shape;164;p12"/>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3"/>
          <p:cNvSpPr/>
          <p:nvPr/>
        </p:nvSpPr>
        <p:spPr>
          <a:xfrm>
            <a:off x="3216275" y="1630363"/>
            <a:ext cx="3986212" cy="5532437"/>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13"/>
          <p:cNvSpPr txBox="1"/>
          <p:nvPr>
            <p:ph type="title"/>
          </p:nvPr>
        </p:nvSpPr>
        <p:spPr>
          <a:xfrm>
            <a:off x="739140" y="375920"/>
            <a:ext cx="735520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Ideal	Low	Pass Filter (cont…)</a:t>
            </a:r>
            <a:endParaRPr sz="4400"/>
          </a:p>
        </p:txBody>
      </p:sp>
      <p:grpSp>
        <p:nvGrpSpPr>
          <p:cNvPr id="171" name="Google Shape;171;p13"/>
          <p:cNvGrpSpPr/>
          <p:nvPr/>
        </p:nvGrpSpPr>
        <p:grpSpPr>
          <a:xfrm>
            <a:off x="-2318" y="1631156"/>
            <a:ext cx="279274" cy="5226843"/>
            <a:chOff x="-2318" y="1631156"/>
            <a:chExt cx="279274" cy="5226843"/>
          </a:xfrm>
        </p:grpSpPr>
        <p:sp>
          <p:nvSpPr>
            <p:cNvPr id="172" name="Google Shape;172;p13"/>
            <p:cNvSpPr/>
            <p:nvPr/>
          </p:nvSpPr>
          <p:spPr>
            <a:xfrm>
              <a:off x="0" y="6663531"/>
              <a:ext cx="276956" cy="19446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13"/>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13"/>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5" name="Google Shape;175;p13"/>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
        <p:nvSpPr>
          <p:cNvPr id="176" name="Google Shape;176;p13"/>
          <p:cNvSpPr txBox="1"/>
          <p:nvPr/>
        </p:nvSpPr>
        <p:spPr>
          <a:xfrm>
            <a:off x="2256789" y="2022157"/>
            <a:ext cx="813435" cy="566420"/>
          </a:xfrm>
          <a:prstGeom prst="rect">
            <a:avLst/>
          </a:prstGeom>
          <a:noFill/>
          <a:ln>
            <a:noFill/>
          </a:ln>
        </p:spPr>
        <p:txBody>
          <a:bodyPr anchorCtr="0" anchor="t" bIns="0" lIns="0" spcFirstLastPara="1" rIns="0" wrap="square" tIns="27925">
            <a:spAutoFit/>
          </a:bodyPr>
          <a:lstStyle/>
          <a:p>
            <a:pPr indent="-165100" lvl="0" marL="177800" marR="5080" rtl="0" algn="l">
              <a:lnSpc>
                <a:spcPct val="116666"/>
              </a:lnSpc>
              <a:spcBef>
                <a:spcPts val="0"/>
              </a:spcBef>
              <a:spcAft>
                <a:spcPts val="0"/>
              </a:spcAft>
              <a:buNone/>
            </a:pPr>
            <a:r>
              <a:rPr lang="en-US" sz="1800">
                <a:solidFill>
                  <a:schemeClr val="dk1"/>
                </a:solidFill>
                <a:latin typeface="Arial"/>
                <a:ea typeface="Arial"/>
                <a:cs typeface="Arial"/>
                <a:sym typeface="Arial"/>
              </a:rPr>
              <a:t>Original  image</a:t>
            </a:r>
            <a:endParaRPr sz="1800">
              <a:solidFill>
                <a:schemeClr val="dk1"/>
              </a:solidFill>
              <a:latin typeface="Arial"/>
              <a:ea typeface="Arial"/>
              <a:cs typeface="Arial"/>
              <a:sym typeface="Arial"/>
            </a:endParaRPr>
          </a:p>
        </p:txBody>
      </p:sp>
      <p:sp>
        <p:nvSpPr>
          <p:cNvPr id="177" name="Google Shape;177;p13"/>
          <p:cNvSpPr txBox="1"/>
          <p:nvPr/>
        </p:nvSpPr>
        <p:spPr>
          <a:xfrm>
            <a:off x="7301865" y="1704657"/>
            <a:ext cx="1931670" cy="845819"/>
          </a:xfrm>
          <a:prstGeom prst="rect">
            <a:avLst/>
          </a:prstGeom>
          <a:noFill/>
          <a:ln>
            <a:noFill/>
          </a:ln>
        </p:spPr>
        <p:txBody>
          <a:bodyPr anchorCtr="0" anchor="t" bIns="0" lIns="0" spcFirstLastPara="1" rIns="0" wrap="square" tIns="13950">
            <a:spAutoFit/>
          </a:bodyPr>
          <a:lstStyle/>
          <a:p>
            <a:pPr indent="0" lvl="0" marL="12700" marR="5080" rtl="0" algn="l">
              <a:lnSpc>
                <a:spcPct val="99500"/>
              </a:lnSpc>
              <a:spcBef>
                <a:spcPts val="0"/>
              </a:spcBef>
              <a:spcAft>
                <a:spcPts val="0"/>
              </a:spcAft>
              <a:buNone/>
            </a:pPr>
            <a:r>
              <a:rPr lang="en-US" sz="1800">
                <a:solidFill>
                  <a:schemeClr val="dk1"/>
                </a:solidFill>
                <a:latin typeface="Arial"/>
                <a:ea typeface="Arial"/>
                <a:cs typeface="Arial"/>
                <a:sym typeface="Arial"/>
              </a:rPr>
              <a:t>Result of filtering  with ideal low pass  filter of radius 5</a:t>
            </a:r>
            <a:endParaRPr sz="1800">
              <a:solidFill>
                <a:schemeClr val="dk1"/>
              </a:solidFill>
              <a:latin typeface="Arial"/>
              <a:ea typeface="Arial"/>
              <a:cs typeface="Arial"/>
              <a:sym typeface="Arial"/>
            </a:endParaRPr>
          </a:p>
        </p:txBody>
      </p:sp>
      <p:sp>
        <p:nvSpPr>
          <p:cNvPr id="178" name="Google Shape;178;p13"/>
          <p:cNvSpPr txBox="1"/>
          <p:nvPr/>
        </p:nvSpPr>
        <p:spPr>
          <a:xfrm>
            <a:off x="7301865" y="3558857"/>
            <a:ext cx="1931670" cy="845819"/>
          </a:xfrm>
          <a:prstGeom prst="rect">
            <a:avLst/>
          </a:prstGeom>
          <a:noFill/>
          <a:ln>
            <a:noFill/>
          </a:ln>
        </p:spPr>
        <p:txBody>
          <a:bodyPr anchorCtr="0" anchor="t" bIns="0" lIns="0" spcFirstLastPara="1" rIns="0" wrap="square" tIns="13950">
            <a:spAutoFit/>
          </a:bodyPr>
          <a:lstStyle/>
          <a:p>
            <a:pPr indent="0" lvl="0" marL="12700" marR="5080" rtl="0" algn="l">
              <a:lnSpc>
                <a:spcPct val="99500"/>
              </a:lnSpc>
              <a:spcBef>
                <a:spcPts val="0"/>
              </a:spcBef>
              <a:spcAft>
                <a:spcPts val="0"/>
              </a:spcAft>
              <a:buNone/>
            </a:pPr>
            <a:r>
              <a:rPr lang="en-US" sz="1800">
                <a:solidFill>
                  <a:schemeClr val="dk1"/>
                </a:solidFill>
                <a:latin typeface="Arial"/>
                <a:ea typeface="Arial"/>
                <a:cs typeface="Arial"/>
                <a:sym typeface="Arial"/>
              </a:rPr>
              <a:t>Result of filtering  with ideal low pass  filter of radius 30</a:t>
            </a:r>
            <a:endParaRPr sz="1800">
              <a:solidFill>
                <a:schemeClr val="dk1"/>
              </a:solidFill>
              <a:latin typeface="Arial"/>
              <a:ea typeface="Arial"/>
              <a:cs typeface="Arial"/>
              <a:sym typeface="Arial"/>
            </a:endParaRPr>
          </a:p>
        </p:txBody>
      </p:sp>
      <p:sp>
        <p:nvSpPr>
          <p:cNvPr id="179" name="Google Shape;179;p13"/>
          <p:cNvSpPr txBox="1"/>
          <p:nvPr/>
        </p:nvSpPr>
        <p:spPr>
          <a:xfrm>
            <a:off x="7301865" y="5338445"/>
            <a:ext cx="1931670" cy="845819"/>
          </a:xfrm>
          <a:prstGeom prst="rect">
            <a:avLst/>
          </a:prstGeom>
          <a:noFill/>
          <a:ln>
            <a:noFill/>
          </a:ln>
        </p:spPr>
        <p:txBody>
          <a:bodyPr anchorCtr="0" anchor="t" bIns="0" lIns="0" spcFirstLastPara="1" rIns="0" wrap="square" tIns="13950">
            <a:spAutoFit/>
          </a:bodyPr>
          <a:lstStyle/>
          <a:p>
            <a:pPr indent="0" lvl="0" marL="12700" marR="5080" rtl="0" algn="l">
              <a:lnSpc>
                <a:spcPct val="99500"/>
              </a:lnSpc>
              <a:spcBef>
                <a:spcPts val="0"/>
              </a:spcBef>
              <a:spcAft>
                <a:spcPts val="0"/>
              </a:spcAft>
              <a:buNone/>
            </a:pPr>
            <a:r>
              <a:rPr lang="en-US" sz="1800">
                <a:solidFill>
                  <a:schemeClr val="dk1"/>
                </a:solidFill>
                <a:latin typeface="Arial"/>
                <a:ea typeface="Arial"/>
                <a:cs typeface="Arial"/>
                <a:sym typeface="Arial"/>
              </a:rPr>
              <a:t>Result of filtering  with ideal low pass  filter of radius 230</a:t>
            </a:r>
            <a:endParaRPr sz="1800">
              <a:solidFill>
                <a:schemeClr val="dk1"/>
              </a:solidFill>
              <a:latin typeface="Arial"/>
              <a:ea typeface="Arial"/>
              <a:cs typeface="Arial"/>
              <a:sym typeface="Arial"/>
            </a:endParaRPr>
          </a:p>
        </p:txBody>
      </p:sp>
      <p:sp>
        <p:nvSpPr>
          <p:cNvPr id="180" name="Google Shape;180;p13"/>
          <p:cNvSpPr txBox="1"/>
          <p:nvPr/>
        </p:nvSpPr>
        <p:spPr>
          <a:xfrm>
            <a:off x="1139847" y="5467032"/>
            <a:ext cx="1931670" cy="845819"/>
          </a:xfrm>
          <a:prstGeom prst="rect">
            <a:avLst/>
          </a:prstGeom>
          <a:noFill/>
          <a:ln>
            <a:noFill/>
          </a:ln>
        </p:spPr>
        <p:txBody>
          <a:bodyPr anchorCtr="0" anchor="t" bIns="0" lIns="0" spcFirstLastPara="1" rIns="0" wrap="square" tIns="13950">
            <a:spAutoFit/>
          </a:bodyPr>
          <a:lstStyle/>
          <a:p>
            <a:pPr indent="203200" lvl="0" marL="12700" marR="5080" rtl="0" algn="r">
              <a:lnSpc>
                <a:spcPct val="99500"/>
              </a:lnSpc>
              <a:spcBef>
                <a:spcPts val="0"/>
              </a:spcBef>
              <a:spcAft>
                <a:spcPts val="0"/>
              </a:spcAft>
              <a:buNone/>
            </a:pPr>
            <a:r>
              <a:rPr lang="en-US" sz="1800">
                <a:solidFill>
                  <a:schemeClr val="dk1"/>
                </a:solidFill>
                <a:latin typeface="Arial"/>
                <a:ea typeface="Arial"/>
                <a:cs typeface="Arial"/>
                <a:sym typeface="Arial"/>
              </a:rPr>
              <a:t>Result of filtering  with ideal low pass  filter of radius 80</a:t>
            </a:r>
            <a:endParaRPr sz="1800">
              <a:solidFill>
                <a:schemeClr val="dk1"/>
              </a:solidFill>
              <a:latin typeface="Arial"/>
              <a:ea typeface="Arial"/>
              <a:cs typeface="Arial"/>
              <a:sym typeface="Arial"/>
            </a:endParaRPr>
          </a:p>
        </p:txBody>
      </p:sp>
      <p:sp>
        <p:nvSpPr>
          <p:cNvPr id="181" name="Google Shape;181;p13"/>
          <p:cNvSpPr txBox="1"/>
          <p:nvPr/>
        </p:nvSpPr>
        <p:spPr>
          <a:xfrm>
            <a:off x="1139847" y="3528695"/>
            <a:ext cx="1931670" cy="845819"/>
          </a:xfrm>
          <a:prstGeom prst="rect">
            <a:avLst/>
          </a:prstGeom>
          <a:noFill/>
          <a:ln>
            <a:noFill/>
          </a:ln>
        </p:spPr>
        <p:txBody>
          <a:bodyPr anchorCtr="0" anchor="t" bIns="0" lIns="0" spcFirstLastPara="1" rIns="0" wrap="square" tIns="13950">
            <a:spAutoFit/>
          </a:bodyPr>
          <a:lstStyle/>
          <a:p>
            <a:pPr indent="203200" lvl="0" marL="12700" marR="5080" rtl="0" algn="r">
              <a:lnSpc>
                <a:spcPct val="99500"/>
              </a:lnSpc>
              <a:spcBef>
                <a:spcPts val="0"/>
              </a:spcBef>
              <a:spcAft>
                <a:spcPts val="0"/>
              </a:spcAft>
              <a:buNone/>
            </a:pPr>
            <a:r>
              <a:rPr lang="en-US" sz="1800">
                <a:solidFill>
                  <a:schemeClr val="dk1"/>
                </a:solidFill>
                <a:latin typeface="Arial"/>
                <a:ea typeface="Arial"/>
                <a:cs typeface="Arial"/>
                <a:sym typeface="Arial"/>
              </a:rPr>
              <a:t>Result of filtering  with ideal low pass  filter of radius 15</a:t>
            </a:r>
            <a:endParaRPr sz="1800">
              <a:solidFill>
                <a:schemeClr val="dk1"/>
              </a:solidFill>
              <a:latin typeface="Arial"/>
              <a:ea typeface="Arial"/>
              <a:cs typeface="Arial"/>
              <a:sym typeface="Arial"/>
            </a:endParaRPr>
          </a:p>
        </p:txBody>
      </p:sp>
      <p:sp>
        <p:nvSpPr>
          <p:cNvPr id="182" name="Google Shape;182;p13"/>
          <p:cNvSpPr txBox="1"/>
          <p:nvPr/>
        </p:nvSpPr>
        <p:spPr>
          <a:xfrm>
            <a:off x="762000" y="7696200"/>
            <a:ext cx="67818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The “ringing” effect can be seen, which becomes finer in texture as the amount of high frequency content removed decreases.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4"/>
          <p:cNvSpPr txBox="1"/>
          <p:nvPr>
            <p:ph type="title"/>
          </p:nvPr>
        </p:nvSpPr>
        <p:spPr>
          <a:xfrm>
            <a:off x="739140" y="375920"/>
            <a:ext cx="735520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Ideal	Low	Pass Filter (cont…)</a:t>
            </a:r>
            <a:endParaRPr sz="4400"/>
          </a:p>
        </p:txBody>
      </p:sp>
      <p:sp>
        <p:nvSpPr>
          <p:cNvPr id="188" name="Google Shape;188;p14"/>
          <p:cNvSpPr/>
          <p:nvPr/>
        </p:nvSpPr>
        <p:spPr>
          <a:xfrm>
            <a:off x="2058659" y="1772296"/>
            <a:ext cx="4588694" cy="426408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89" name="Google Shape;189;p14"/>
          <p:cNvGrpSpPr/>
          <p:nvPr/>
        </p:nvGrpSpPr>
        <p:grpSpPr>
          <a:xfrm>
            <a:off x="-2318" y="1631156"/>
            <a:ext cx="279274" cy="5226843"/>
            <a:chOff x="-2318" y="1631156"/>
            <a:chExt cx="279274" cy="5226843"/>
          </a:xfrm>
        </p:grpSpPr>
        <p:sp>
          <p:nvSpPr>
            <p:cNvPr id="190" name="Google Shape;190;p14"/>
            <p:cNvSpPr/>
            <p:nvPr/>
          </p:nvSpPr>
          <p:spPr>
            <a:xfrm>
              <a:off x="0" y="6663531"/>
              <a:ext cx="276956" cy="19446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14"/>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14"/>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3" name="Google Shape;193;p14"/>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
        <p:nvSpPr>
          <p:cNvPr id="194" name="Google Shape;194;p14"/>
          <p:cNvSpPr txBox="1"/>
          <p:nvPr/>
        </p:nvSpPr>
        <p:spPr>
          <a:xfrm>
            <a:off x="6974840" y="3465195"/>
            <a:ext cx="1931670" cy="845819"/>
          </a:xfrm>
          <a:prstGeom prst="rect">
            <a:avLst/>
          </a:prstGeom>
          <a:noFill/>
          <a:ln>
            <a:noFill/>
          </a:ln>
        </p:spPr>
        <p:txBody>
          <a:bodyPr anchorCtr="0" anchor="t" bIns="0" lIns="0" spcFirstLastPara="1" rIns="0" wrap="square" tIns="13950">
            <a:spAutoFit/>
          </a:bodyPr>
          <a:lstStyle/>
          <a:p>
            <a:pPr indent="0" lvl="0" marL="12700" marR="5080" rtl="0" algn="l">
              <a:lnSpc>
                <a:spcPct val="99500"/>
              </a:lnSpc>
              <a:spcBef>
                <a:spcPts val="0"/>
              </a:spcBef>
              <a:spcAft>
                <a:spcPts val="0"/>
              </a:spcAft>
              <a:buNone/>
            </a:pPr>
            <a:r>
              <a:rPr lang="en-US" sz="1800">
                <a:solidFill>
                  <a:schemeClr val="dk1"/>
                </a:solidFill>
                <a:latin typeface="Arial"/>
                <a:ea typeface="Arial"/>
                <a:cs typeface="Arial"/>
                <a:sym typeface="Arial"/>
              </a:rPr>
              <a:t>Result of filtering  with ideal low pass  filter of radius 5</a:t>
            </a:r>
            <a:endParaRPr sz="180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5"/>
          <p:cNvSpPr txBox="1"/>
          <p:nvPr>
            <p:ph type="title"/>
          </p:nvPr>
        </p:nvSpPr>
        <p:spPr>
          <a:xfrm>
            <a:off x="739140" y="375920"/>
            <a:ext cx="735520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Ideal	Low	Pass Filter (cont…)</a:t>
            </a:r>
            <a:endParaRPr sz="4400"/>
          </a:p>
        </p:txBody>
      </p:sp>
      <p:sp>
        <p:nvSpPr>
          <p:cNvPr id="200" name="Google Shape;200;p15"/>
          <p:cNvSpPr/>
          <p:nvPr/>
        </p:nvSpPr>
        <p:spPr>
          <a:xfrm>
            <a:off x="2309445" y="1772525"/>
            <a:ext cx="4607512" cy="426362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01" name="Google Shape;201;p15"/>
          <p:cNvGrpSpPr/>
          <p:nvPr/>
        </p:nvGrpSpPr>
        <p:grpSpPr>
          <a:xfrm>
            <a:off x="-2318" y="1631156"/>
            <a:ext cx="279274" cy="5226843"/>
            <a:chOff x="-2318" y="1631156"/>
            <a:chExt cx="279274" cy="5226843"/>
          </a:xfrm>
        </p:grpSpPr>
        <p:sp>
          <p:nvSpPr>
            <p:cNvPr id="202" name="Google Shape;202;p15"/>
            <p:cNvSpPr/>
            <p:nvPr/>
          </p:nvSpPr>
          <p:spPr>
            <a:xfrm>
              <a:off x="0" y="6663531"/>
              <a:ext cx="276956" cy="19446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15"/>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15"/>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05" name="Google Shape;205;p15"/>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
        <p:nvSpPr>
          <p:cNvPr id="206" name="Google Shape;206;p15"/>
          <p:cNvSpPr txBox="1"/>
          <p:nvPr/>
        </p:nvSpPr>
        <p:spPr>
          <a:xfrm>
            <a:off x="7197090" y="3465195"/>
            <a:ext cx="1931670" cy="845819"/>
          </a:xfrm>
          <a:prstGeom prst="rect">
            <a:avLst/>
          </a:prstGeom>
          <a:noFill/>
          <a:ln>
            <a:noFill/>
          </a:ln>
        </p:spPr>
        <p:txBody>
          <a:bodyPr anchorCtr="0" anchor="t" bIns="0" lIns="0" spcFirstLastPara="1" rIns="0" wrap="square" tIns="13950">
            <a:spAutoFit/>
          </a:bodyPr>
          <a:lstStyle/>
          <a:p>
            <a:pPr indent="0" lvl="0" marL="12700" marR="5080" rtl="0" algn="l">
              <a:lnSpc>
                <a:spcPct val="99500"/>
              </a:lnSpc>
              <a:spcBef>
                <a:spcPts val="0"/>
              </a:spcBef>
              <a:spcAft>
                <a:spcPts val="0"/>
              </a:spcAft>
              <a:buNone/>
            </a:pPr>
            <a:r>
              <a:rPr lang="en-US" sz="1800">
                <a:solidFill>
                  <a:schemeClr val="dk1"/>
                </a:solidFill>
                <a:latin typeface="Arial"/>
                <a:ea typeface="Arial"/>
                <a:cs typeface="Arial"/>
                <a:sym typeface="Arial"/>
              </a:rPr>
              <a:t>Result of filtering  with ideal low pass  filter of radius 15</a:t>
            </a:r>
            <a:endParaRPr sz="180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6"/>
          <p:cNvSpPr txBox="1"/>
          <p:nvPr>
            <p:ph type="title"/>
          </p:nvPr>
        </p:nvSpPr>
        <p:spPr>
          <a:xfrm>
            <a:off x="742441" y="375920"/>
            <a:ext cx="692023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Butterworth	Lowpass Filters</a:t>
            </a:r>
            <a:endParaRPr sz="4400"/>
          </a:p>
        </p:txBody>
      </p:sp>
      <p:sp>
        <p:nvSpPr>
          <p:cNvPr id="212" name="Google Shape;212;p16"/>
          <p:cNvSpPr txBox="1"/>
          <p:nvPr/>
        </p:nvSpPr>
        <p:spPr>
          <a:xfrm>
            <a:off x="717041" y="1633220"/>
            <a:ext cx="8387715" cy="1343660"/>
          </a:xfrm>
          <a:prstGeom prst="rect">
            <a:avLst/>
          </a:prstGeom>
          <a:noFill/>
          <a:ln>
            <a:noFill/>
          </a:ln>
        </p:spPr>
        <p:txBody>
          <a:bodyPr anchorCtr="0" anchor="t" bIns="0" lIns="0" spcFirstLastPara="1" rIns="0" wrap="square" tIns="16500">
            <a:spAutoFit/>
          </a:bodyPr>
          <a:lstStyle/>
          <a:p>
            <a:pPr indent="0" lvl="0" marL="38100" marR="30480" rtl="0" algn="just">
              <a:lnSpc>
                <a:spcPct val="99100"/>
              </a:lnSpc>
              <a:spcBef>
                <a:spcPts val="0"/>
              </a:spcBef>
              <a:spcAft>
                <a:spcPts val="0"/>
              </a:spcAft>
              <a:buNone/>
            </a:pPr>
            <a:r>
              <a:rPr lang="en-US" sz="2900">
                <a:solidFill>
                  <a:schemeClr val="dk1"/>
                </a:solidFill>
                <a:latin typeface="Arial"/>
                <a:ea typeface="Arial"/>
                <a:cs typeface="Arial"/>
                <a:sym typeface="Arial"/>
              </a:rPr>
              <a:t>The transfer function of a Butterworth lowpass filter  of order </a:t>
            </a:r>
            <a:r>
              <a:rPr i="1" lang="en-US" sz="2900">
                <a:solidFill>
                  <a:schemeClr val="dk1"/>
                </a:solidFill>
                <a:latin typeface="Times New Roman"/>
                <a:ea typeface="Times New Roman"/>
                <a:cs typeface="Times New Roman"/>
                <a:sym typeface="Times New Roman"/>
              </a:rPr>
              <a:t>n </a:t>
            </a:r>
            <a:r>
              <a:rPr lang="en-US" sz="2900">
                <a:solidFill>
                  <a:schemeClr val="dk1"/>
                </a:solidFill>
                <a:latin typeface="Arial"/>
                <a:ea typeface="Arial"/>
                <a:cs typeface="Arial"/>
                <a:sym typeface="Arial"/>
              </a:rPr>
              <a:t>with cutoff frequency at distance </a:t>
            </a:r>
            <a:r>
              <a:rPr i="1" lang="en-US" sz="2900">
                <a:solidFill>
                  <a:schemeClr val="dk1"/>
                </a:solidFill>
                <a:latin typeface="Times New Roman"/>
                <a:ea typeface="Times New Roman"/>
                <a:cs typeface="Times New Roman"/>
                <a:sym typeface="Times New Roman"/>
              </a:rPr>
              <a:t>D</a:t>
            </a:r>
            <a:r>
              <a:rPr baseline="-25000" i="1" lang="en-US" sz="2850">
                <a:solidFill>
                  <a:schemeClr val="dk1"/>
                </a:solidFill>
                <a:latin typeface="Times New Roman"/>
                <a:ea typeface="Times New Roman"/>
                <a:cs typeface="Times New Roman"/>
                <a:sym typeface="Times New Roman"/>
              </a:rPr>
              <a:t>0 </a:t>
            </a:r>
            <a:r>
              <a:rPr lang="en-US" sz="2900">
                <a:solidFill>
                  <a:schemeClr val="dk1"/>
                </a:solidFill>
                <a:latin typeface="Arial"/>
                <a:ea typeface="Arial"/>
                <a:cs typeface="Arial"/>
                <a:sym typeface="Arial"/>
              </a:rPr>
              <a:t>from  the origin is defined as:</a:t>
            </a:r>
            <a:endParaRPr sz="2900">
              <a:solidFill>
                <a:schemeClr val="dk1"/>
              </a:solidFill>
              <a:latin typeface="Arial"/>
              <a:ea typeface="Arial"/>
              <a:cs typeface="Arial"/>
              <a:sym typeface="Arial"/>
            </a:endParaRPr>
          </a:p>
        </p:txBody>
      </p:sp>
      <p:grpSp>
        <p:nvGrpSpPr>
          <p:cNvPr id="213" name="Google Shape;213;p16"/>
          <p:cNvGrpSpPr/>
          <p:nvPr/>
        </p:nvGrpSpPr>
        <p:grpSpPr>
          <a:xfrm>
            <a:off x="-2318" y="1631156"/>
            <a:ext cx="279274" cy="5226843"/>
            <a:chOff x="-2318" y="1631156"/>
            <a:chExt cx="279274" cy="5226843"/>
          </a:xfrm>
        </p:grpSpPr>
        <p:sp>
          <p:nvSpPr>
            <p:cNvPr id="214" name="Google Shape;214;p16"/>
            <p:cNvSpPr/>
            <p:nvPr/>
          </p:nvSpPr>
          <p:spPr>
            <a:xfrm>
              <a:off x="0" y="6663531"/>
              <a:ext cx="276956" cy="19446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16"/>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16"/>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7" name="Google Shape;217;p16"/>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
        <p:nvSpPr>
          <p:cNvPr id="218" name="Google Shape;218;p16"/>
          <p:cNvSpPr/>
          <p:nvPr/>
        </p:nvSpPr>
        <p:spPr>
          <a:xfrm>
            <a:off x="1871039" y="4424698"/>
            <a:ext cx="6687795" cy="1883351"/>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16"/>
          <p:cNvSpPr/>
          <p:nvPr/>
        </p:nvSpPr>
        <p:spPr>
          <a:xfrm>
            <a:off x="3887965" y="3447065"/>
            <a:ext cx="3179445" cy="0"/>
          </a:xfrm>
          <a:custGeom>
            <a:rect b="b" l="l" r="r" t="t"/>
            <a:pathLst>
              <a:path extrusionOk="0" h="120000" w="3179445">
                <a:moveTo>
                  <a:pt x="0" y="0"/>
                </a:moveTo>
                <a:lnTo>
                  <a:pt x="3179000" y="0"/>
                </a:lnTo>
              </a:path>
            </a:pathLst>
          </a:custGeom>
          <a:noFill/>
          <a:ln cap="flat" cmpd="sng" w="16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16"/>
          <p:cNvSpPr txBox="1"/>
          <p:nvPr/>
        </p:nvSpPr>
        <p:spPr>
          <a:xfrm>
            <a:off x="2152229" y="3125735"/>
            <a:ext cx="1640205" cy="519430"/>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None/>
            </a:pPr>
            <a:r>
              <a:rPr i="1" lang="en-US" sz="3200">
                <a:solidFill>
                  <a:schemeClr val="dk1"/>
                </a:solidFill>
                <a:latin typeface="Times New Roman"/>
                <a:ea typeface="Times New Roman"/>
                <a:cs typeface="Times New Roman"/>
                <a:sym typeface="Times New Roman"/>
              </a:rPr>
              <a:t>H </a:t>
            </a:r>
            <a:r>
              <a:rPr lang="en-US" sz="3200">
                <a:solidFill>
                  <a:schemeClr val="dk1"/>
                </a:solidFill>
                <a:latin typeface="Times New Roman"/>
                <a:ea typeface="Times New Roman"/>
                <a:cs typeface="Times New Roman"/>
                <a:sym typeface="Times New Roman"/>
              </a:rPr>
              <a:t>(</a:t>
            </a:r>
            <a:r>
              <a:rPr i="1" lang="en-US" sz="3200">
                <a:solidFill>
                  <a:schemeClr val="dk1"/>
                </a:solidFill>
                <a:latin typeface="Times New Roman"/>
                <a:ea typeface="Times New Roman"/>
                <a:cs typeface="Times New Roman"/>
                <a:sym typeface="Times New Roman"/>
              </a:rPr>
              <a:t>u</a:t>
            </a:r>
            <a:r>
              <a:rPr lang="en-US" sz="3200">
                <a:solidFill>
                  <a:schemeClr val="dk1"/>
                </a:solidFill>
                <a:latin typeface="Times New Roman"/>
                <a:ea typeface="Times New Roman"/>
                <a:cs typeface="Times New Roman"/>
                <a:sym typeface="Times New Roman"/>
              </a:rPr>
              <a:t>, </a:t>
            </a:r>
            <a:r>
              <a:rPr i="1" lang="en-US" sz="3200">
                <a:solidFill>
                  <a:schemeClr val="dk1"/>
                </a:solidFill>
                <a:latin typeface="Times New Roman"/>
                <a:ea typeface="Times New Roman"/>
                <a:cs typeface="Times New Roman"/>
                <a:sym typeface="Times New Roman"/>
              </a:rPr>
              <a:t>v</a:t>
            </a:r>
            <a:r>
              <a:rPr lang="en-US" sz="3200">
                <a:solidFill>
                  <a:schemeClr val="dk1"/>
                </a:solidFill>
                <a:latin typeface="Times New Roman"/>
                <a:ea typeface="Times New Roman"/>
                <a:cs typeface="Times New Roman"/>
                <a:sym typeface="Times New Roman"/>
              </a:rPr>
              <a:t>) </a:t>
            </a:r>
            <a:r>
              <a:rPr lang="en-US" sz="3200">
                <a:solidFill>
                  <a:schemeClr val="dk1"/>
                </a:solidFill>
                <a:latin typeface="Noto Sans Symbols"/>
                <a:ea typeface="Noto Sans Symbols"/>
                <a:cs typeface="Noto Sans Symbols"/>
                <a:sym typeface="Noto Sans Symbols"/>
              </a:rPr>
              <a:t>=</a:t>
            </a:r>
            <a:endParaRPr sz="3200">
              <a:solidFill>
                <a:schemeClr val="dk1"/>
              </a:solidFill>
              <a:latin typeface="Noto Sans Symbols"/>
              <a:ea typeface="Noto Sans Symbols"/>
              <a:cs typeface="Noto Sans Symbols"/>
              <a:sym typeface="Noto Sans Symbols"/>
            </a:endParaRPr>
          </a:p>
        </p:txBody>
      </p:sp>
      <p:sp>
        <p:nvSpPr>
          <p:cNvPr id="221" name="Google Shape;221;p16"/>
          <p:cNvSpPr txBox="1"/>
          <p:nvPr/>
        </p:nvSpPr>
        <p:spPr>
          <a:xfrm>
            <a:off x="6382048" y="3721949"/>
            <a:ext cx="154940" cy="313055"/>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None/>
            </a:pPr>
            <a:r>
              <a:rPr lang="en-US" sz="1850">
                <a:solidFill>
                  <a:schemeClr val="dk1"/>
                </a:solidFill>
                <a:latin typeface="Times New Roman"/>
                <a:ea typeface="Times New Roman"/>
                <a:cs typeface="Times New Roman"/>
                <a:sym typeface="Times New Roman"/>
              </a:rPr>
              <a:t>0</a:t>
            </a:r>
            <a:endParaRPr sz="1850">
              <a:solidFill>
                <a:schemeClr val="dk1"/>
              </a:solidFill>
              <a:latin typeface="Times New Roman"/>
              <a:ea typeface="Times New Roman"/>
              <a:cs typeface="Times New Roman"/>
              <a:sym typeface="Times New Roman"/>
            </a:endParaRPr>
          </a:p>
        </p:txBody>
      </p:sp>
      <p:sp>
        <p:nvSpPr>
          <p:cNvPr id="222" name="Google Shape;222;p16"/>
          <p:cNvSpPr txBox="1"/>
          <p:nvPr/>
        </p:nvSpPr>
        <p:spPr>
          <a:xfrm>
            <a:off x="3831784" y="3447820"/>
            <a:ext cx="3203575" cy="519430"/>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None/>
            </a:pPr>
            <a:r>
              <a:rPr lang="en-US" sz="3200">
                <a:solidFill>
                  <a:schemeClr val="dk1"/>
                </a:solidFill>
                <a:latin typeface="Times New Roman"/>
                <a:ea typeface="Times New Roman"/>
                <a:cs typeface="Times New Roman"/>
                <a:sym typeface="Times New Roman"/>
              </a:rPr>
              <a:t>1</a:t>
            </a:r>
            <a:r>
              <a:rPr lang="en-US" sz="3200">
                <a:solidFill>
                  <a:schemeClr val="dk1"/>
                </a:solidFill>
                <a:latin typeface="Noto Sans Symbols"/>
                <a:ea typeface="Noto Sans Symbols"/>
                <a:cs typeface="Noto Sans Symbols"/>
                <a:sym typeface="Noto Sans Symbols"/>
              </a:rPr>
              <a:t>+</a:t>
            </a:r>
            <a:r>
              <a:rPr lang="en-US" sz="3200">
                <a:solidFill>
                  <a:schemeClr val="dk1"/>
                </a:solidFill>
                <a:latin typeface="Times New Roman"/>
                <a:ea typeface="Times New Roman"/>
                <a:cs typeface="Times New Roman"/>
                <a:sym typeface="Times New Roman"/>
              </a:rPr>
              <a:t>[</a:t>
            </a:r>
            <a:r>
              <a:rPr i="1" lang="en-US" sz="3200">
                <a:solidFill>
                  <a:schemeClr val="dk1"/>
                </a:solidFill>
                <a:latin typeface="Times New Roman"/>
                <a:ea typeface="Times New Roman"/>
                <a:cs typeface="Times New Roman"/>
                <a:sym typeface="Times New Roman"/>
              </a:rPr>
              <a:t>D</a:t>
            </a:r>
            <a:r>
              <a:rPr lang="en-US" sz="3200">
                <a:solidFill>
                  <a:schemeClr val="dk1"/>
                </a:solidFill>
                <a:latin typeface="Times New Roman"/>
                <a:ea typeface="Times New Roman"/>
                <a:cs typeface="Times New Roman"/>
                <a:sym typeface="Times New Roman"/>
              </a:rPr>
              <a:t>(</a:t>
            </a:r>
            <a:r>
              <a:rPr i="1" lang="en-US" sz="3200">
                <a:solidFill>
                  <a:schemeClr val="dk1"/>
                </a:solidFill>
                <a:latin typeface="Times New Roman"/>
                <a:ea typeface="Times New Roman"/>
                <a:cs typeface="Times New Roman"/>
                <a:sym typeface="Times New Roman"/>
              </a:rPr>
              <a:t>u</a:t>
            </a:r>
            <a:r>
              <a:rPr lang="en-US" sz="3200">
                <a:solidFill>
                  <a:schemeClr val="dk1"/>
                </a:solidFill>
                <a:latin typeface="Times New Roman"/>
                <a:ea typeface="Times New Roman"/>
                <a:cs typeface="Times New Roman"/>
                <a:sym typeface="Times New Roman"/>
              </a:rPr>
              <a:t>, </a:t>
            </a:r>
            <a:r>
              <a:rPr i="1" lang="en-US" sz="3200">
                <a:solidFill>
                  <a:schemeClr val="dk1"/>
                </a:solidFill>
                <a:latin typeface="Times New Roman"/>
                <a:ea typeface="Times New Roman"/>
                <a:cs typeface="Times New Roman"/>
                <a:sym typeface="Times New Roman"/>
              </a:rPr>
              <a:t>v</a:t>
            </a:r>
            <a:r>
              <a:rPr lang="en-US" sz="3200">
                <a:solidFill>
                  <a:schemeClr val="dk1"/>
                </a:solidFill>
                <a:latin typeface="Times New Roman"/>
                <a:ea typeface="Times New Roman"/>
                <a:cs typeface="Times New Roman"/>
                <a:sym typeface="Times New Roman"/>
              </a:rPr>
              <a:t>) / </a:t>
            </a:r>
            <a:r>
              <a:rPr i="1" lang="en-US" sz="3200">
                <a:solidFill>
                  <a:schemeClr val="dk1"/>
                </a:solidFill>
                <a:latin typeface="Times New Roman"/>
                <a:ea typeface="Times New Roman"/>
                <a:cs typeface="Times New Roman"/>
                <a:sym typeface="Times New Roman"/>
              </a:rPr>
              <a:t>D	</a:t>
            </a:r>
            <a:r>
              <a:rPr lang="en-US" sz="3200">
                <a:solidFill>
                  <a:schemeClr val="dk1"/>
                </a:solidFill>
                <a:latin typeface="Times New Roman"/>
                <a:ea typeface="Times New Roman"/>
                <a:cs typeface="Times New Roman"/>
                <a:sym typeface="Times New Roman"/>
              </a:rPr>
              <a:t>]</a:t>
            </a:r>
            <a:r>
              <a:rPr baseline="30000" lang="en-US" sz="2775">
                <a:solidFill>
                  <a:schemeClr val="dk1"/>
                </a:solidFill>
                <a:latin typeface="Times New Roman"/>
                <a:ea typeface="Times New Roman"/>
                <a:cs typeface="Times New Roman"/>
                <a:sym typeface="Times New Roman"/>
              </a:rPr>
              <a:t>2 </a:t>
            </a:r>
            <a:r>
              <a:rPr baseline="30000" i="1" lang="en-US" sz="2775">
                <a:solidFill>
                  <a:schemeClr val="dk1"/>
                </a:solidFill>
                <a:latin typeface="Times New Roman"/>
                <a:ea typeface="Times New Roman"/>
                <a:cs typeface="Times New Roman"/>
                <a:sym typeface="Times New Roman"/>
              </a:rPr>
              <a:t>n</a:t>
            </a:r>
            <a:endParaRPr baseline="30000" sz="2775">
              <a:solidFill>
                <a:schemeClr val="dk1"/>
              </a:solidFill>
              <a:latin typeface="Times New Roman"/>
              <a:ea typeface="Times New Roman"/>
              <a:cs typeface="Times New Roman"/>
              <a:sym typeface="Times New Roman"/>
            </a:endParaRPr>
          </a:p>
        </p:txBody>
      </p:sp>
      <p:sp>
        <p:nvSpPr>
          <p:cNvPr id="223" name="Google Shape;223;p16"/>
          <p:cNvSpPr txBox="1"/>
          <p:nvPr/>
        </p:nvSpPr>
        <p:spPr>
          <a:xfrm>
            <a:off x="5353962" y="2866731"/>
            <a:ext cx="247015" cy="519430"/>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None/>
            </a:pPr>
            <a:r>
              <a:rPr lang="en-US" sz="3200">
                <a:solidFill>
                  <a:schemeClr val="dk1"/>
                </a:solidFill>
                <a:latin typeface="Times New Roman"/>
                <a:ea typeface="Times New Roman"/>
                <a:cs typeface="Times New Roman"/>
                <a:sym typeface="Times New Roman"/>
              </a:rPr>
              <a:t>1</a:t>
            </a:r>
            <a:endParaRPr sz="3200">
              <a:solidFill>
                <a:schemeClr val="dk1"/>
              </a:solidFill>
              <a:latin typeface="Times New Roman"/>
              <a:ea typeface="Times New Roman"/>
              <a:cs typeface="Times New Roman"/>
              <a:sym typeface="Times New Roman"/>
            </a:endParaRPr>
          </a:p>
        </p:txBody>
      </p:sp>
      <p:sp>
        <p:nvSpPr>
          <p:cNvPr id="224" name="Google Shape;224;p16"/>
          <p:cNvSpPr txBox="1"/>
          <p:nvPr/>
        </p:nvSpPr>
        <p:spPr>
          <a:xfrm>
            <a:off x="838200" y="6885940"/>
            <a:ext cx="8387715" cy="1342034"/>
          </a:xfrm>
          <a:prstGeom prst="rect">
            <a:avLst/>
          </a:prstGeom>
          <a:noFill/>
          <a:ln>
            <a:noFill/>
          </a:ln>
        </p:spPr>
        <p:txBody>
          <a:bodyPr anchorCtr="0" anchor="t" bIns="0" lIns="0" spcFirstLastPara="1" rIns="0" wrap="square" tIns="16500">
            <a:spAutoFit/>
          </a:bodyPr>
          <a:lstStyle/>
          <a:p>
            <a:pPr indent="0" lvl="0" marL="38100" marR="30480" rtl="0" algn="just">
              <a:lnSpc>
                <a:spcPct val="99100"/>
              </a:lnSpc>
              <a:spcBef>
                <a:spcPts val="0"/>
              </a:spcBef>
              <a:spcAft>
                <a:spcPts val="0"/>
              </a:spcAft>
              <a:buNone/>
            </a:pPr>
            <a:r>
              <a:rPr lang="en-US" sz="2900">
                <a:solidFill>
                  <a:schemeClr val="dk1"/>
                </a:solidFill>
                <a:latin typeface="Arial"/>
                <a:ea typeface="Arial"/>
                <a:cs typeface="Arial"/>
                <a:sym typeface="Arial"/>
              </a:rPr>
              <a:t>Unlike the ILPF, the BLPF transfer function does not have a sharp discontinuities that gives a clear cut off between passed and filtered frequencies.</a:t>
            </a:r>
            <a:endParaRPr sz="29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7"/>
          <p:cNvSpPr txBox="1"/>
          <p:nvPr>
            <p:ph type="title"/>
          </p:nvPr>
        </p:nvSpPr>
        <p:spPr>
          <a:xfrm>
            <a:off x="739140" y="406400"/>
            <a:ext cx="7987030" cy="635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000"/>
              <a:t>Butterworth	Lowpass Filter (cont…)</a:t>
            </a:r>
            <a:endParaRPr sz="4000"/>
          </a:p>
        </p:txBody>
      </p:sp>
      <p:grpSp>
        <p:nvGrpSpPr>
          <p:cNvPr id="230" name="Google Shape;230;p17"/>
          <p:cNvGrpSpPr/>
          <p:nvPr/>
        </p:nvGrpSpPr>
        <p:grpSpPr>
          <a:xfrm>
            <a:off x="-2318" y="1631156"/>
            <a:ext cx="279274" cy="5226843"/>
            <a:chOff x="-2318" y="1631156"/>
            <a:chExt cx="279274" cy="5226843"/>
          </a:xfrm>
        </p:grpSpPr>
        <p:sp>
          <p:nvSpPr>
            <p:cNvPr id="231" name="Google Shape;231;p17"/>
            <p:cNvSpPr/>
            <p:nvPr/>
          </p:nvSpPr>
          <p:spPr>
            <a:xfrm>
              <a:off x="0" y="6663531"/>
              <a:ext cx="276956" cy="19446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17"/>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17"/>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4" name="Google Shape;234;p17"/>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
        <p:nvSpPr>
          <p:cNvPr id="235" name="Google Shape;235;p17"/>
          <p:cNvSpPr txBox="1"/>
          <p:nvPr/>
        </p:nvSpPr>
        <p:spPr>
          <a:xfrm>
            <a:off x="2256789" y="2022157"/>
            <a:ext cx="813435" cy="566420"/>
          </a:xfrm>
          <a:prstGeom prst="rect">
            <a:avLst/>
          </a:prstGeom>
          <a:noFill/>
          <a:ln>
            <a:noFill/>
          </a:ln>
        </p:spPr>
        <p:txBody>
          <a:bodyPr anchorCtr="0" anchor="t" bIns="0" lIns="0" spcFirstLastPara="1" rIns="0" wrap="square" tIns="27925">
            <a:spAutoFit/>
          </a:bodyPr>
          <a:lstStyle/>
          <a:p>
            <a:pPr indent="-165100" lvl="0" marL="177800" marR="5080" rtl="0" algn="l">
              <a:lnSpc>
                <a:spcPct val="116666"/>
              </a:lnSpc>
              <a:spcBef>
                <a:spcPts val="0"/>
              </a:spcBef>
              <a:spcAft>
                <a:spcPts val="0"/>
              </a:spcAft>
              <a:buNone/>
            </a:pPr>
            <a:r>
              <a:rPr lang="en-US" sz="1800">
                <a:solidFill>
                  <a:schemeClr val="dk1"/>
                </a:solidFill>
                <a:latin typeface="Arial"/>
                <a:ea typeface="Arial"/>
                <a:cs typeface="Arial"/>
                <a:sym typeface="Arial"/>
              </a:rPr>
              <a:t>Original  image</a:t>
            </a:r>
            <a:endParaRPr sz="1800">
              <a:solidFill>
                <a:schemeClr val="dk1"/>
              </a:solidFill>
              <a:latin typeface="Arial"/>
              <a:ea typeface="Arial"/>
              <a:cs typeface="Arial"/>
              <a:sym typeface="Arial"/>
            </a:endParaRPr>
          </a:p>
        </p:txBody>
      </p:sp>
      <p:sp>
        <p:nvSpPr>
          <p:cNvPr id="236" name="Google Shape;236;p17"/>
          <p:cNvSpPr txBox="1"/>
          <p:nvPr/>
        </p:nvSpPr>
        <p:spPr>
          <a:xfrm>
            <a:off x="7301865" y="1704657"/>
            <a:ext cx="2160270" cy="1112520"/>
          </a:xfrm>
          <a:prstGeom prst="rect">
            <a:avLst/>
          </a:prstGeom>
          <a:noFill/>
          <a:ln>
            <a:noFill/>
          </a:ln>
        </p:spPr>
        <p:txBody>
          <a:bodyPr anchorCtr="0" anchor="t" bIns="0" lIns="0" spcFirstLastPara="1" rIns="0" wrap="square" tIns="15875">
            <a:spAutoFit/>
          </a:bodyPr>
          <a:lstStyle/>
          <a:p>
            <a:pPr indent="0" lvl="0" marL="12700" marR="5080" rtl="0" algn="l">
              <a:lnSpc>
                <a:spcPct val="98800"/>
              </a:lnSpc>
              <a:spcBef>
                <a:spcPts val="0"/>
              </a:spcBef>
              <a:spcAft>
                <a:spcPts val="0"/>
              </a:spcAft>
              <a:buNone/>
            </a:pPr>
            <a:r>
              <a:rPr lang="en-US" sz="1800">
                <a:solidFill>
                  <a:schemeClr val="dk1"/>
                </a:solidFill>
                <a:latin typeface="Arial"/>
                <a:ea typeface="Arial"/>
                <a:cs typeface="Arial"/>
                <a:sym typeface="Arial"/>
              </a:rPr>
              <a:t>Result of filtering  with Butterworth filter  of order 2 and cutoff  radius 5</a:t>
            </a:r>
            <a:endParaRPr sz="1800">
              <a:solidFill>
                <a:schemeClr val="dk1"/>
              </a:solidFill>
              <a:latin typeface="Arial"/>
              <a:ea typeface="Arial"/>
              <a:cs typeface="Arial"/>
              <a:sym typeface="Arial"/>
            </a:endParaRPr>
          </a:p>
        </p:txBody>
      </p:sp>
      <p:sp>
        <p:nvSpPr>
          <p:cNvPr id="237" name="Google Shape;237;p17"/>
          <p:cNvSpPr txBox="1"/>
          <p:nvPr/>
        </p:nvSpPr>
        <p:spPr>
          <a:xfrm>
            <a:off x="7301865" y="3558857"/>
            <a:ext cx="1944370" cy="1112520"/>
          </a:xfrm>
          <a:prstGeom prst="rect">
            <a:avLst/>
          </a:prstGeom>
          <a:noFill/>
          <a:ln>
            <a:noFill/>
          </a:ln>
        </p:spPr>
        <p:txBody>
          <a:bodyPr anchorCtr="0" anchor="t" bIns="0" lIns="0" spcFirstLastPara="1" rIns="0" wrap="square" tIns="15875">
            <a:spAutoFit/>
          </a:bodyPr>
          <a:lstStyle/>
          <a:p>
            <a:pPr indent="0" lvl="0" marL="12700" marR="5080" rtl="0" algn="l">
              <a:lnSpc>
                <a:spcPct val="98800"/>
              </a:lnSpc>
              <a:spcBef>
                <a:spcPts val="0"/>
              </a:spcBef>
              <a:spcAft>
                <a:spcPts val="0"/>
              </a:spcAft>
              <a:buNone/>
            </a:pPr>
            <a:r>
              <a:rPr lang="en-US" sz="1800">
                <a:solidFill>
                  <a:schemeClr val="dk1"/>
                </a:solidFill>
                <a:latin typeface="Arial"/>
                <a:ea typeface="Arial"/>
                <a:cs typeface="Arial"/>
                <a:sym typeface="Arial"/>
              </a:rPr>
              <a:t>Result of filtering  with Butterworth  filter of order 2 and  cutoff radius 30</a:t>
            </a:r>
            <a:endParaRPr sz="1800">
              <a:solidFill>
                <a:schemeClr val="dk1"/>
              </a:solidFill>
              <a:latin typeface="Arial"/>
              <a:ea typeface="Arial"/>
              <a:cs typeface="Arial"/>
              <a:sym typeface="Arial"/>
            </a:endParaRPr>
          </a:p>
        </p:txBody>
      </p:sp>
      <p:sp>
        <p:nvSpPr>
          <p:cNvPr id="238" name="Google Shape;238;p17"/>
          <p:cNvSpPr txBox="1"/>
          <p:nvPr/>
        </p:nvSpPr>
        <p:spPr>
          <a:xfrm>
            <a:off x="7301865" y="5338445"/>
            <a:ext cx="2160270" cy="1112520"/>
          </a:xfrm>
          <a:prstGeom prst="rect">
            <a:avLst/>
          </a:prstGeom>
          <a:noFill/>
          <a:ln>
            <a:noFill/>
          </a:ln>
        </p:spPr>
        <p:txBody>
          <a:bodyPr anchorCtr="0" anchor="t" bIns="0" lIns="0" spcFirstLastPara="1" rIns="0" wrap="square" tIns="15875">
            <a:spAutoFit/>
          </a:bodyPr>
          <a:lstStyle/>
          <a:p>
            <a:pPr indent="0" lvl="0" marL="12700" marR="5080" rtl="0" algn="l">
              <a:lnSpc>
                <a:spcPct val="98800"/>
              </a:lnSpc>
              <a:spcBef>
                <a:spcPts val="0"/>
              </a:spcBef>
              <a:spcAft>
                <a:spcPts val="0"/>
              </a:spcAft>
              <a:buNone/>
            </a:pPr>
            <a:r>
              <a:rPr lang="en-US" sz="1800">
                <a:solidFill>
                  <a:schemeClr val="dk1"/>
                </a:solidFill>
                <a:latin typeface="Arial"/>
                <a:ea typeface="Arial"/>
                <a:cs typeface="Arial"/>
                <a:sym typeface="Arial"/>
              </a:rPr>
              <a:t>Result of filtering  with Butterworth filter  of order 2 and cutoff  radius 230</a:t>
            </a:r>
            <a:endParaRPr sz="1800">
              <a:solidFill>
                <a:schemeClr val="dk1"/>
              </a:solidFill>
              <a:latin typeface="Arial"/>
              <a:ea typeface="Arial"/>
              <a:cs typeface="Arial"/>
              <a:sym typeface="Arial"/>
            </a:endParaRPr>
          </a:p>
        </p:txBody>
      </p:sp>
      <p:sp>
        <p:nvSpPr>
          <p:cNvPr id="239" name="Google Shape;239;p17"/>
          <p:cNvSpPr txBox="1"/>
          <p:nvPr/>
        </p:nvSpPr>
        <p:spPr>
          <a:xfrm>
            <a:off x="873183" y="5467032"/>
            <a:ext cx="2198370" cy="1112520"/>
          </a:xfrm>
          <a:prstGeom prst="rect">
            <a:avLst/>
          </a:prstGeom>
          <a:noFill/>
          <a:ln>
            <a:noFill/>
          </a:ln>
        </p:spPr>
        <p:txBody>
          <a:bodyPr anchorCtr="0" anchor="t" bIns="0" lIns="0" spcFirstLastPara="1" rIns="0" wrap="square" tIns="13950">
            <a:spAutoFit/>
          </a:bodyPr>
          <a:lstStyle/>
          <a:p>
            <a:pPr indent="-254634" lvl="0" marL="266700" marR="5080" rtl="0" algn="just">
              <a:lnSpc>
                <a:spcPct val="99500"/>
              </a:lnSpc>
              <a:spcBef>
                <a:spcPts val="0"/>
              </a:spcBef>
              <a:spcAft>
                <a:spcPts val="0"/>
              </a:spcAft>
              <a:buNone/>
            </a:pPr>
            <a:r>
              <a:rPr lang="en-US" sz="1800">
                <a:solidFill>
                  <a:schemeClr val="dk1"/>
                </a:solidFill>
                <a:latin typeface="Arial"/>
                <a:ea typeface="Arial"/>
                <a:cs typeface="Arial"/>
                <a:sym typeface="Arial"/>
              </a:rPr>
              <a:t>Result of filtering with  Butterworth filter of  order 2 and cutoff</a:t>
            </a:r>
            <a:endParaRPr sz="1800">
              <a:solidFill>
                <a:schemeClr val="dk1"/>
              </a:solidFill>
              <a:latin typeface="Arial"/>
              <a:ea typeface="Arial"/>
              <a:cs typeface="Arial"/>
              <a:sym typeface="Arial"/>
            </a:endParaRPr>
          </a:p>
          <a:p>
            <a:pPr indent="0" lvl="0" marL="1244600" marR="0" rtl="0" algn="just">
              <a:lnSpc>
                <a:spcPct val="116666"/>
              </a:lnSpc>
              <a:spcBef>
                <a:spcPts val="0"/>
              </a:spcBef>
              <a:spcAft>
                <a:spcPts val="0"/>
              </a:spcAft>
              <a:buNone/>
            </a:pPr>
            <a:r>
              <a:rPr lang="en-US" sz="1800">
                <a:solidFill>
                  <a:schemeClr val="dk1"/>
                </a:solidFill>
                <a:latin typeface="Arial"/>
                <a:ea typeface="Arial"/>
                <a:cs typeface="Arial"/>
                <a:sym typeface="Arial"/>
              </a:rPr>
              <a:t>radius 80</a:t>
            </a:r>
            <a:endParaRPr sz="1800">
              <a:solidFill>
                <a:schemeClr val="dk1"/>
              </a:solidFill>
              <a:latin typeface="Arial"/>
              <a:ea typeface="Arial"/>
              <a:cs typeface="Arial"/>
              <a:sym typeface="Arial"/>
            </a:endParaRPr>
          </a:p>
        </p:txBody>
      </p:sp>
      <p:sp>
        <p:nvSpPr>
          <p:cNvPr id="240" name="Google Shape;240;p17"/>
          <p:cNvSpPr txBox="1"/>
          <p:nvPr/>
        </p:nvSpPr>
        <p:spPr>
          <a:xfrm>
            <a:off x="873184" y="3528695"/>
            <a:ext cx="2198370" cy="1112520"/>
          </a:xfrm>
          <a:prstGeom prst="rect">
            <a:avLst/>
          </a:prstGeom>
          <a:noFill/>
          <a:ln>
            <a:noFill/>
          </a:ln>
        </p:spPr>
        <p:txBody>
          <a:bodyPr anchorCtr="0" anchor="t" bIns="0" lIns="0" spcFirstLastPara="1" rIns="0" wrap="square" tIns="13950">
            <a:spAutoFit/>
          </a:bodyPr>
          <a:lstStyle/>
          <a:p>
            <a:pPr indent="-254634" lvl="0" marL="266700" marR="5080" rtl="0" algn="just">
              <a:lnSpc>
                <a:spcPct val="99500"/>
              </a:lnSpc>
              <a:spcBef>
                <a:spcPts val="0"/>
              </a:spcBef>
              <a:spcAft>
                <a:spcPts val="0"/>
              </a:spcAft>
              <a:buNone/>
            </a:pPr>
            <a:r>
              <a:rPr lang="en-US" sz="1800">
                <a:solidFill>
                  <a:schemeClr val="dk1"/>
                </a:solidFill>
                <a:latin typeface="Arial"/>
                <a:ea typeface="Arial"/>
                <a:cs typeface="Arial"/>
                <a:sym typeface="Arial"/>
              </a:rPr>
              <a:t>Result of filtering with  Butterworth filter of  order 2 and cutoff</a:t>
            </a:r>
            <a:endParaRPr sz="1800">
              <a:solidFill>
                <a:schemeClr val="dk1"/>
              </a:solidFill>
              <a:latin typeface="Arial"/>
              <a:ea typeface="Arial"/>
              <a:cs typeface="Arial"/>
              <a:sym typeface="Arial"/>
            </a:endParaRPr>
          </a:p>
          <a:p>
            <a:pPr indent="0" lvl="0" marL="1244600" marR="0" rtl="0" algn="just">
              <a:lnSpc>
                <a:spcPct val="116666"/>
              </a:lnSpc>
              <a:spcBef>
                <a:spcPts val="0"/>
              </a:spcBef>
              <a:spcAft>
                <a:spcPts val="0"/>
              </a:spcAft>
              <a:buNone/>
            </a:pPr>
            <a:r>
              <a:rPr lang="en-US" sz="1800">
                <a:solidFill>
                  <a:schemeClr val="dk1"/>
                </a:solidFill>
                <a:latin typeface="Arial"/>
                <a:ea typeface="Arial"/>
                <a:cs typeface="Arial"/>
                <a:sym typeface="Arial"/>
              </a:rPr>
              <a:t>radius 15</a:t>
            </a:r>
            <a:endParaRPr sz="1800">
              <a:solidFill>
                <a:schemeClr val="dk1"/>
              </a:solidFill>
              <a:latin typeface="Arial"/>
              <a:ea typeface="Arial"/>
              <a:cs typeface="Arial"/>
              <a:sym typeface="Arial"/>
            </a:endParaRPr>
          </a:p>
        </p:txBody>
      </p:sp>
      <p:sp>
        <p:nvSpPr>
          <p:cNvPr id="241" name="Google Shape;241;p17"/>
          <p:cNvSpPr/>
          <p:nvPr/>
        </p:nvSpPr>
        <p:spPr>
          <a:xfrm>
            <a:off x="3084512" y="1308106"/>
            <a:ext cx="4108450" cy="5549893"/>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17"/>
          <p:cNvSpPr txBox="1"/>
          <p:nvPr/>
        </p:nvSpPr>
        <p:spPr>
          <a:xfrm>
            <a:off x="1066800" y="7239000"/>
            <a:ext cx="8458200" cy="290272"/>
          </a:xfrm>
          <a:prstGeom prst="rect">
            <a:avLst/>
          </a:prstGeom>
          <a:noFill/>
          <a:ln>
            <a:noFill/>
          </a:ln>
        </p:spPr>
        <p:txBody>
          <a:bodyPr anchorCtr="0" anchor="t" bIns="0" lIns="0" spcFirstLastPara="1" rIns="0" wrap="square" tIns="15875">
            <a:spAutoFit/>
          </a:bodyPr>
          <a:lstStyle/>
          <a:p>
            <a:pPr indent="0" lvl="0" marL="12700" marR="5080" rtl="0" algn="l">
              <a:lnSpc>
                <a:spcPct val="98800"/>
              </a:lnSpc>
              <a:spcBef>
                <a:spcPts val="0"/>
              </a:spcBef>
              <a:spcAft>
                <a:spcPts val="0"/>
              </a:spcAft>
              <a:buNone/>
            </a:pPr>
            <a:r>
              <a:rPr lang="en-US" sz="1800">
                <a:solidFill>
                  <a:schemeClr val="dk1"/>
                </a:solidFill>
                <a:latin typeface="Arial"/>
                <a:ea typeface="Arial"/>
                <a:cs typeface="Arial"/>
                <a:sym typeface="Arial"/>
              </a:rPr>
              <a:t>The BLPFof order 1 has no ringing effect. Order 2 does show mild ringing effect.</a:t>
            </a:r>
            <a:endParaRPr sz="180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8"/>
          <p:cNvSpPr txBox="1"/>
          <p:nvPr>
            <p:ph type="title"/>
          </p:nvPr>
        </p:nvSpPr>
        <p:spPr>
          <a:xfrm>
            <a:off x="739140" y="406400"/>
            <a:ext cx="7987030" cy="635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000"/>
              <a:t>Butterworth	Lowpass Filter (cont…)</a:t>
            </a:r>
            <a:endParaRPr sz="4000"/>
          </a:p>
        </p:txBody>
      </p:sp>
      <p:grpSp>
        <p:nvGrpSpPr>
          <p:cNvPr id="248" name="Google Shape;248;p18"/>
          <p:cNvGrpSpPr/>
          <p:nvPr/>
        </p:nvGrpSpPr>
        <p:grpSpPr>
          <a:xfrm>
            <a:off x="-2318" y="1631156"/>
            <a:ext cx="279274" cy="5226843"/>
            <a:chOff x="-2318" y="1631156"/>
            <a:chExt cx="279274" cy="5226843"/>
          </a:xfrm>
        </p:grpSpPr>
        <p:sp>
          <p:nvSpPr>
            <p:cNvPr id="249" name="Google Shape;249;p18"/>
            <p:cNvSpPr/>
            <p:nvPr/>
          </p:nvSpPr>
          <p:spPr>
            <a:xfrm>
              <a:off x="0" y="6663531"/>
              <a:ext cx="276956" cy="19446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18"/>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8"/>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2" name="Google Shape;252;p18"/>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
        <p:nvSpPr>
          <p:cNvPr id="253" name="Google Shape;253;p18"/>
          <p:cNvSpPr txBox="1"/>
          <p:nvPr/>
        </p:nvSpPr>
        <p:spPr>
          <a:xfrm>
            <a:off x="2256789" y="2022157"/>
            <a:ext cx="813435" cy="566420"/>
          </a:xfrm>
          <a:prstGeom prst="rect">
            <a:avLst/>
          </a:prstGeom>
          <a:noFill/>
          <a:ln>
            <a:noFill/>
          </a:ln>
        </p:spPr>
        <p:txBody>
          <a:bodyPr anchorCtr="0" anchor="t" bIns="0" lIns="0" spcFirstLastPara="1" rIns="0" wrap="square" tIns="27925">
            <a:spAutoFit/>
          </a:bodyPr>
          <a:lstStyle/>
          <a:p>
            <a:pPr indent="-165100" lvl="0" marL="177800" marR="5080" rtl="0" algn="l">
              <a:lnSpc>
                <a:spcPct val="116666"/>
              </a:lnSpc>
              <a:spcBef>
                <a:spcPts val="0"/>
              </a:spcBef>
              <a:spcAft>
                <a:spcPts val="0"/>
              </a:spcAft>
              <a:buNone/>
            </a:pPr>
            <a:r>
              <a:rPr lang="en-US" sz="1800">
                <a:solidFill>
                  <a:schemeClr val="dk1"/>
                </a:solidFill>
                <a:latin typeface="Arial"/>
                <a:ea typeface="Arial"/>
                <a:cs typeface="Arial"/>
                <a:sym typeface="Arial"/>
              </a:rPr>
              <a:t>Original  image</a:t>
            </a:r>
            <a:endParaRPr sz="1800">
              <a:solidFill>
                <a:schemeClr val="dk1"/>
              </a:solidFill>
              <a:latin typeface="Arial"/>
              <a:ea typeface="Arial"/>
              <a:cs typeface="Arial"/>
              <a:sym typeface="Arial"/>
            </a:endParaRPr>
          </a:p>
        </p:txBody>
      </p:sp>
      <p:sp>
        <p:nvSpPr>
          <p:cNvPr id="254" name="Google Shape;254;p18"/>
          <p:cNvSpPr txBox="1"/>
          <p:nvPr/>
        </p:nvSpPr>
        <p:spPr>
          <a:xfrm>
            <a:off x="7301865" y="3700145"/>
            <a:ext cx="2160270" cy="1112520"/>
          </a:xfrm>
          <a:prstGeom prst="rect">
            <a:avLst/>
          </a:prstGeom>
          <a:noFill/>
          <a:ln>
            <a:noFill/>
          </a:ln>
        </p:spPr>
        <p:txBody>
          <a:bodyPr anchorCtr="0" anchor="t" bIns="0" lIns="0" spcFirstLastPara="1" rIns="0" wrap="square" tIns="15875">
            <a:spAutoFit/>
          </a:bodyPr>
          <a:lstStyle/>
          <a:p>
            <a:pPr indent="0" lvl="0" marL="12700" marR="5080" rtl="0" algn="l">
              <a:lnSpc>
                <a:spcPct val="98800"/>
              </a:lnSpc>
              <a:spcBef>
                <a:spcPts val="0"/>
              </a:spcBef>
              <a:spcAft>
                <a:spcPts val="0"/>
              </a:spcAft>
              <a:buNone/>
            </a:pPr>
            <a:r>
              <a:rPr lang="en-US" sz="1800">
                <a:solidFill>
                  <a:schemeClr val="dk1"/>
                </a:solidFill>
                <a:latin typeface="Arial"/>
                <a:ea typeface="Arial"/>
                <a:cs typeface="Arial"/>
                <a:sym typeface="Arial"/>
              </a:rPr>
              <a:t>Result of filtering  with Butterworth filter  of order 2 and cutoff  radius 5</a:t>
            </a:r>
            <a:endParaRPr sz="1800">
              <a:solidFill>
                <a:schemeClr val="dk1"/>
              </a:solidFill>
              <a:latin typeface="Arial"/>
              <a:ea typeface="Arial"/>
              <a:cs typeface="Arial"/>
              <a:sym typeface="Arial"/>
            </a:endParaRPr>
          </a:p>
        </p:txBody>
      </p:sp>
      <p:sp>
        <p:nvSpPr>
          <p:cNvPr id="255" name="Google Shape;255;p18"/>
          <p:cNvSpPr/>
          <p:nvPr/>
        </p:nvSpPr>
        <p:spPr>
          <a:xfrm>
            <a:off x="2049462" y="1960600"/>
            <a:ext cx="4926012" cy="4516399"/>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9"/>
          <p:cNvSpPr txBox="1"/>
          <p:nvPr>
            <p:ph type="title"/>
          </p:nvPr>
        </p:nvSpPr>
        <p:spPr>
          <a:xfrm>
            <a:off x="739140" y="406400"/>
            <a:ext cx="7987030" cy="635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000"/>
              <a:t>Butterworth	Lowpass Filter (cont…)</a:t>
            </a:r>
            <a:endParaRPr sz="4000"/>
          </a:p>
        </p:txBody>
      </p:sp>
      <p:grpSp>
        <p:nvGrpSpPr>
          <p:cNvPr id="261" name="Google Shape;261;p19"/>
          <p:cNvGrpSpPr/>
          <p:nvPr/>
        </p:nvGrpSpPr>
        <p:grpSpPr>
          <a:xfrm>
            <a:off x="-2318" y="1631156"/>
            <a:ext cx="279274" cy="5226843"/>
            <a:chOff x="-2318" y="1631156"/>
            <a:chExt cx="279274" cy="5226843"/>
          </a:xfrm>
        </p:grpSpPr>
        <p:sp>
          <p:nvSpPr>
            <p:cNvPr id="262" name="Google Shape;262;p19"/>
            <p:cNvSpPr/>
            <p:nvPr/>
          </p:nvSpPr>
          <p:spPr>
            <a:xfrm>
              <a:off x="0" y="6663531"/>
              <a:ext cx="276956" cy="19446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19"/>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19"/>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5" name="Google Shape;265;p19"/>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
        <p:nvSpPr>
          <p:cNvPr id="266" name="Google Shape;266;p19"/>
          <p:cNvSpPr txBox="1"/>
          <p:nvPr/>
        </p:nvSpPr>
        <p:spPr>
          <a:xfrm>
            <a:off x="873184" y="3528695"/>
            <a:ext cx="2198370" cy="1112520"/>
          </a:xfrm>
          <a:prstGeom prst="rect">
            <a:avLst/>
          </a:prstGeom>
          <a:noFill/>
          <a:ln>
            <a:noFill/>
          </a:ln>
        </p:spPr>
        <p:txBody>
          <a:bodyPr anchorCtr="0" anchor="t" bIns="0" lIns="0" spcFirstLastPara="1" rIns="0" wrap="square" tIns="13950">
            <a:spAutoFit/>
          </a:bodyPr>
          <a:lstStyle/>
          <a:p>
            <a:pPr indent="-254634" lvl="0" marL="266700" marR="5080" rtl="0" algn="just">
              <a:lnSpc>
                <a:spcPct val="99500"/>
              </a:lnSpc>
              <a:spcBef>
                <a:spcPts val="0"/>
              </a:spcBef>
              <a:spcAft>
                <a:spcPts val="0"/>
              </a:spcAft>
              <a:buNone/>
            </a:pPr>
            <a:r>
              <a:rPr lang="en-US" sz="1800">
                <a:solidFill>
                  <a:schemeClr val="dk1"/>
                </a:solidFill>
                <a:latin typeface="Arial"/>
                <a:ea typeface="Arial"/>
                <a:cs typeface="Arial"/>
                <a:sym typeface="Arial"/>
              </a:rPr>
              <a:t>Result of filtering with  Butterworth filter of  order 2 and cutoff</a:t>
            </a:r>
            <a:endParaRPr sz="1800">
              <a:solidFill>
                <a:schemeClr val="dk1"/>
              </a:solidFill>
              <a:latin typeface="Arial"/>
              <a:ea typeface="Arial"/>
              <a:cs typeface="Arial"/>
              <a:sym typeface="Arial"/>
            </a:endParaRPr>
          </a:p>
          <a:p>
            <a:pPr indent="0" lvl="0" marL="1244600" marR="0" rtl="0" algn="just">
              <a:lnSpc>
                <a:spcPct val="116666"/>
              </a:lnSpc>
              <a:spcBef>
                <a:spcPts val="0"/>
              </a:spcBef>
              <a:spcAft>
                <a:spcPts val="0"/>
              </a:spcAft>
              <a:buNone/>
            </a:pPr>
            <a:r>
              <a:rPr lang="en-US" sz="1800">
                <a:solidFill>
                  <a:schemeClr val="dk1"/>
                </a:solidFill>
                <a:latin typeface="Arial"/>
                <a:ea typeface="Arial"/>
                <a:cs typeface="Arial"/>
                <a:sym typeface="Arial"/>
              </a:rPr>
              <a:t>radius 15</a:t>
            </a:r>
            <a:endParaRPr sz="1800">
              <a:solidFill>
                <a:schemeClr val="dk1"/>
              </a:solidFill>
              <a:latin typeface="Arial"/>
              <a:ea typeface="Arial"/>
              <a:cs typeface="Arial"/>
              <a:sym typeface="Arial"/>
            </a:endParaRPr>
          </a:p>
        </p:txBody>
      </p:sp>
      <p:sp>
        <p:nvSpPr>
          <p:cNvPr id="267" name="Google Shape;267;p19"/>
          <p:cNvSpPr/>
          <p:nvPr/>
        </p:nvSpPr>
        <p:spPr>
          <a:xfrm>
            <a:off x="3438539" y="1777072"/>
            <a:ext cx="5201421" cy="4778642"/>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0"/>
          <p:cNvSpPr txBox="1"/>
          <p:nvPr>
            <p:ph type="title"/>
          </p:nvPr>
        </p:nvSpPr>
        <p:spPr>
          <a:xfrm>
            <a:off x="742441" y="375920"/>
            <a:ext cx="642366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Gaussian	Lowpass Filters</a:t>
            </a:r>
            <a:endParaRPr sz="4400"/>
          </a:p>
        </p:txBody>
      </p:sp>
      <p:sp>
        <p:nvSpPr>
          <p:cNvPr id="273" name="Google Shape;273;p20"/>
          <p:cNvSpPr txBox="1"/>
          <p:nvPr/>
        </p:nvSpPr>
        <p:spPr>
          <a:xfrm>
            <a:off x="717041" y="1633220"/>
            <a:ext cx="8428990" cy="1419225"/>
          </a:xfrm>
          <a:prstGeom prst="rect">
            <a:avLst/>
          </a:prstGeom>
          <a:noFill/>
          <a:ln>
            <a:noFill/>
          </a:ln>
        </p:spPr>
        <p:txBody>
          <a:bodyPr anchorCtr="0" anchor="t" bIns="0" lIns="0" spcFirstLastPara="1" rIns="0" wrap="square" tIns="35550">
            <a:spAutoFit/>
          </a:bodyPr>
          <a:lstStyle/>
          <a:p>
            <a:pPr indent="0" lvl="0" marL="38100" marR="30480" rtl="0" algn="l">
              <a:lnSpc>
                <a:spcPct val="117241"/>
              </a:lnSpc>
              <a:spcBef>
                <a:spcPts val="0"/>
              </a:spcBef>
              <a:spcAft>
                <a:spcPts val="0"/>
              </a:spcAft>
              <a:buNone/>
            </a:pPr>
            <a:r>
              <a:rPr lang="en-US" sz="2900">
                <a:solidFill>
                  <a:schemeClr val="dk1"/>
                </a:solidFill>
                <a:latin typeface="Arial"/>
                <a:ea typeface="Arial"/>
                <a:cs typeface="Arial"/>
                <a:sym typeface="Arial"/>
              </a:rPr>
              <a:t>The transfer function of a Gaussian lowpass filter is  defined as:</a:t>
            </a:r>
            <a:endParaRPr sz="2900">
              <a:solidFill>
                <a:schemeClr val="dk1"/>
              </a:solidFill>
              <a:latin typeface="Arial"/>
              <a:ea typeface="Arial"/>
              <a:cs typeface="Arial"/>
              <a:sym typeface="Arial"/>
            </a:endParaRPr>
          </a:p>
          <a:p>
            <a:pPr indent="0" lvl="0" marL="929639" marR="0" rtl="0" algn="ctr">
              <a:lnSpc>
                <a:spcPct val="10701"/>
              </a:lnSpc>
              <a:spcBef>
                <a:spcPts val="0"/>
              </a:spcBef>
              <a:spcAft>
                <a:spcPts val="0"/>
              </a:spcAft>
              <a:buNone/>
            </a:pPr>
            <a:r>
              <a:rPr baseline="-25000" lang="en-US" sz="2850">
                <a:solidFill>
                  <a:schemeClr val="dk1"/>
                </a:solidFill>
                <a:latin typeface="Times New Roman"/>
                <a:ea typeface="Times New Roman"/>
                <a:cs typeface="Times New Roman"/>
                <a:sym typeface="Times New Roman"/>
              </a:rPr>
              <a:t>2	</a:t>
            </a:r>
            <a:r>
              <a:rPr lang="en-US" sz="1900">
                <a:solidFill>
                  <a:schemeClr val="dk1"/>
                </a:solidFill>
                <a:latin typeface="Times New Roman"/>
                <a:ea typeface="Times New Roman"/>
                <a:cs typeface="Times New Roman"/>
                <a:sym typeface="Times New Roman"/>
              </a:rPr>
              <a:t>2</a:t>
            </a:r>
            <a:endParaRPr sz="1900">
              <a:solidFill>
                <a:schemeClr val="dk1"/>
              </a:solidFill>
              <a:latin typeface="Times New Roman"/>
              <a:ea typeface="Times New Roman"/>
              <a:cs typeface="Times New Roman"/>
              <a:sym typeface="Times New Roman"/>
            </a:endParaRPr>
          </a:p>
          <a:p>
            <a:pPr indent="0" lvl="0" marL="557530" marR="0" rtl="0" algn="l">
              <a:lnSpc>
                <a:spcPct val="53405"/>
              </a:lnSpc>
              <a:spcBef>
                <a:spcPts val="0"/>
              </a:spcBef>
              <a:spcAft>
                <a:spcPts val="0"/>
              </a:spcAft>
              <a:buNone/>
            </a:pPr>
            <a:r>
              <a:rPr baseline="-25000" i="1" lang="en-US" sz="6900">
                <a:solidFill>
                  <a:schemeClr val="dk1"/>
                </a:solidFill>
                <a:latin typeface="Times New Roman"/>
                <a:ea typeface="Times New Roman"/>
                <a:cs typeface="Times New Roman"/>
                <a:sym typeface="Times New Roman"/>
              </a:rPr>
              <a:t>H </a:t>
            </a:r>
            <a:r>
              <a:rPr baseline="-25000" lang="en-US" sz="6900">
                <a:solidFill>
                  <a:schemeClr val="dk1"/>
                </a:solidFill>
                <a:latin typeface="Times New Roman"/>
                <a:ea typeface="Times New Roman"/>
                <a:cs typeface="Times New Roman"/>
                <a:sym typeface="Times New Roman"/>
              </a:rPr>
              <a:t>(</a:t>
            </a:r>
            <a:r>
              <a:rPr baseline="-25000" i="1" lang="en-US" sz="6900">
                <a:solidFill>
                  <a:schemeClr val="dk1"/>
                </a:solidFill>
                <a:latin typeface="Times New Roman"/>
                <a:ea typeface="Times New Roman"/>
                <a:cs typeface="Times New Roman"/>
                <a:sym typeface="Times New Roman"/>
              </a:rPr>
              <a:t>u</a:t>
            </a:r>
            <a:r>
              <a:rPr baseline="-25000" lang="en-US" sz="6900">
                <a:solidFill>
                  <a:schemeClr val="dk1"/>
                </a:solidFill>
                <a:latin typeface="Times New Roman"/>
                <a:ea typeface="Times New Roman"/>
                <a:cs typeface="Times New Roman"/>
                <a:sym typeface="Times New Roman"/>
              </a:rPr>
              <a:t>, </a:t>
            </a:r>
            <a:r>
              <a:rPr baseline="-25000" i="1" lang="en-US" sz="6900">
                <a:solidFill>
                  <a:schemeClr val="dk1"/>
                </a:solidFill>
                <a:latin typeface="Times New Roman"/>
                <a:ea typeface="Times New Roman"/>
                <a:cs typeface="Times New Roman"/>
                <a:sym typeface="Times New Roman"/>
              </a:rPr>
              <a:t>v</a:t>
            </a:r>
            <a:r>
              <a:rPr baseline="-25000" lang="en-US" sz="6900">
                <a:solidFill>
                  <a:schemeClr val="dk1"/>
                </a:solidFill>
                <a:latin typeface="Times New Roman"/>
                <a:ea typeface="Times New Roman"/>
                <a:cs typeface="Times New Roman"/>
                <a:sym typeface="Times New Roman"/>
              </a:rPr>
              <a:t>) </a:t>
            </a:r>
            <a:r>
              <a:rPr baseline="-25000" lang="en-US" sz="6900">
                <a:solidFill>
                  <a:schemeClr val="dk1"/>
                </a:solidFill>
                <a:latin typeface="Noto Sans Symbols"/>
                <a:ea typeface="Noto Sans Symbols"/>
                <a:cs typeface="Noto Sans Symbols"/>
                <a:sym typeface="Noto Sans Symbols"/>
              </a:rPr>
              <a:t>=</a:t>
            </a:r>
            <a:r>
              <a:rPr baseline="-25000" lang="en-US" sz="6900">
                <a:solidFill>
                  <a:schemeClr val="dk1"/>
                </a:solidFill>
                <a:latin typeface="Times New Roman"/>
                <a:ea typeface="Times New Roman"/>
                <a:cs typeface="Times New Roman"/>
                <a:sym typeface="Times New Roman"/>
              </a:rPr>
              <a:t> </a:t>
            </a:r>
            <a:r>
              <a:rPr baseline="-25000" i="1" lang="en-US" sz="6900">
                <a:solidFill>
                  <a:schemeClr val="dk1"/>
                </a:solidFill>
                <a:latin typeface="Times New Roman"/>
                <a:ea typeface="Times New Roman"/>
                <a:cs typeface="Times New Roman"/>
                <a:sym typeface="Times New Roman"/>
              </a:rPr>
              <a:t>e</a:t>
            </a:r>
            <a:r>
              <a:rPr lang="en-US" sz="2650">
                <a:solidFill>
                  <a:schemeClr val="dk1"/>
                </a:solidFill>
                <a:latin typeface="Noto Sans Symbols"/>
                <a:ea typeface="Noto Sans Symbols"/>
                <a:cs typeface="Noto Sans Symbols"/>
                <a:sym typeface="Noto Sans Symbols"/>
              </a:rPr>
              <a:t>−</a:t>
            </a:r>
            <a:r>
              <a:rPr i="1" lang="en-US" sz="2650">
                <a:solidFill>
                  <a:schemeClr val="dk1"/>
                </a:solidFill>
                <a:latin typeface="Times New Roman"/>
                <a:ea typeface="Times New Roman"/>
                <a:cs typeface="Times New Roman"/>
                <a:sym typeface="Times New Roman"/>
              </a:rPr>
              <a:t>D	</a:t>
            </a:r>
            <a:r>
              <a:rPr lang="en-US" sz="2650">
                <a:solidFill>
                  <a:schemeClr val="dk1"/>
                </a:solidFill>
                <a:latin typeface="Times New Roman"/>
                <a:ea typeface="Times New Roman"/>
                <a:cs typeface="Times New Roman"/>
                <a:sym typeface="Times New Roman"/>
              </a:rPr>
              <a:t>(</a:t>
            </a:r>
            <a:r>
              <a:rPr i="1" lang="en-US" sz="2650">
                <a:solidFill>
                  <a:schemeClr val="dk1"/>
                </a:solidFill>
                <a:latin typeface="Times New Roman"/>
                <a:ea typeface="Times New Roman"/>
                <a:cs typeface="Times New Roman"/>
                <a:sym typeface="Times New Roman"/>
              </a:rPr>
              <a:t>u</a:t>
            </a:r>
            <a:r>
              <a:rPr lang="en-US" sz="2650">
                <a:solidFill>
                  <a:schemeClr val="dk1"/>
                </a:solidFill>
                <a:latin typeface="Times New Roman"/>
                <a:ea typeface="Times New Roman"/>
                <a:cs typeface="Times New Roman"/>
                <a:sym typeface="Times New Roman"/>
              </a:rPr>
              <a:t>,</a:t>
            </a:r>
            <a:r>
              <a:rPr i="1" lang="en-US" sz="2650">
                <a:solidFill>
                  <a:schemeClr val="dk1"/>
                </a:solidFill>
                <a:latin typeface="Times New Roman"/>
                <a:ea typeface="Times New Roman"/>
                <a:cs typeface="Times New Roman"/>
                <a:sym typeface="Times New Roman"/>
              </a:rPr>
              <a:t>v</a:t>
            </a:r>
            <a:r>
              <a:rPr lang="en-US" sz="2650">
                <a:solidFill>
                  <a:schemeClr val="dk1"/>
                </a:solidFill>
                <a:latin typeface="Times New Roman"/>
                <a:ea typeface="Times New Roman"/>
                <a:cs typeface="Times New Roman"/>
                <a:sym typeface="Times New Roman"/>
              </a:rPr>
              <a:t>)/ 2</a:t>
            </a:r>
            <a:r>
              <a:rPr i="1" lang="en-US" sz="2650">
                <a:solidFill>
                  <a:schemeClr val="dk1"/>
                </a:solidFill>
                <a:latin typeface="Times New Roman"/>
                <a:ea typeface="Times New Roman"/>
                <a:cs typeface="Times New Roman"/>
                <a:sym typeface="Times New Roman"/>
              </a:rPr>
              <a:t>D</a:t>
            </a:r>
            <a:r>
              <a:rPr baseline="-25000" lang="en-US" sz="2850">
                <a:solidFill>
                  <a:schemeClr val="dk1"/>
                </a:solidFill>
                <a:latin typeface="Times New Roman"/>
                <a:ea typeface="Times New Roman"/>
                <a:cs typeface="Times New Roman"/>
                <a:sym typeface="Times New Roman"/>
              </a:rPr>
              <a:t>0</a:t>
            </a:r>
            <a:endParaRPr baseline="-25000" sz="2850">
              <a:solidFill>
                <a:schemeClr val="dk1"/>
              </a:solidFill>
              <a:latin typeface="Times New Roman"/>
              <a:ea typeface="Times New Roman"/>
              <a:cs typeface="Times New Roman"/>
              <a:sym typeface="Times New Roman"/>
            </a:endParaRPr>
          </a:p>
        </p:txBody>
      </p:sp>
      <p:grpSp>
        <p:nvGrpSpPr>
          <p:cNvPr id="274" name="Google Shape;274;p20"/>
          <p:cNvGrpSpPr/>
          <p:nvPr/>
        </p:nvGrpSpPr>
        <p:grpSpPr>
          <a:xfrm>
            <a:off x="-2318" y="1631156"/>
            <a:ext cx="279274" cy="5226843"/>
            <a:chOff x="-2318" y="1631156"/>
            <a:chExt cx="279274" cy="5226843"/>
          </a:xfrm>
        </p:grpSpPr>
        <p:sp>
          <p:nvSpPr>
            <p:cNvPr id="275" name="Google Shape;275;p20"/>
            <p:cNvSpPr/>
            <p:nvPr/>
          </p:nvSpPr>
          <p:spPr>
            <a:xfrm>
              <a:off x="0" y="6663531"/>
              <a:ext cx="276956" cy="19446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20"/>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20"/>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8" name="Google Shape;278;p20"/>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
        <p:nvSpPr>
          <p:cNvPr id="279" name="Google Shape;279;p20"/>
          <p:cNvSpPr/>
          <p:nvPr/>
        </p:nvSpPr>
        <p:spPr>
          <a:xfrm>
            <a:off x="1369694" y="3934777"/>
            <a:ext cx="6686550" cy="188214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1"/>
          <p:cNvSpPr/>
          <p:nvPr/>
        </p:nvSpPr>
        <p:spPr>
          <a:xfrm>
            <a:off x="3233737" y="1411287"/>
            <a:ext cx="4029075" cy="5418137"/>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21"/>
          <p:cNvSpPr txBox="1"/>
          <p:nvPr>
            <p:ph type="title"/>
          </p:nvPr>
        </p:nvSpPr>
        <p:spPr>
          <a:xfrm>
            <a:off x="739140" y="375920"/>
            <a:ext cx="856615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Gaussian	Lowpass Filters (cont…)</a:t>
            </a:r>
            <a:endParaRPr sz="4400"/>
          </a:p>
        </p:txBody>
      </p:sp>
      <p:grpSp>
        <p:nvGrpSpPr>
          <p:cNvPr id="286" name="Google Shape;286;p21"/>
          <p:cNvGrpSpPr/>
          <p:nvPr/>
        </p:nvGrpSpPr>
        <p:grpSpPr>
          <a:xfrm>
            <a:off x="-2318" y="1631156"/>
            <a:ext cx="279274" cy="5226843"/>
            <a:chOff x="-2318" y="1631156"/>
            <a:chExt cx="279274" cy="5226843"/>
          </a:xfrm>
        </p:grpSpPr>
        <p:sp>
          <p:nvSpPr>
            <p:cNvPr id="287" name="Google Shape;287;p21"/>
            <p:cNvSpPr/>
            <p:nvPr/>
          </p:nvSpPr>
          <p:spPr>
            <a:xfrm>
              <a:off x="0" y="6663531"/>
              <a:ext cx="276956" cy="19446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21"/>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21"/>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0" name="Google Shape;290;p21"/>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
        <p:nvSpPr>
          <p:cNvPr id="291" name="Google Shape;291;p21"/>
          <p:cNvSpPr txBox="1"/>
          <p:nvPr/>
        </p:nvSpPr>
        <p:spPr>
          <a:xfrm>
            <a:off x="2256789" y="2022157"/>
            <a:ext cx="813435" cy="566420"/>
          </a:xfrm>
          <a:prstGeom prst="rect">
            <a:avLst/>
          </a:prstGeom>
          <a:noFill/>
          <a:ln>
            <a:noFill/>
          </a:ln>
        </p:spPr>
        <p:txBody>
          <a:bodyPr anchorCtr="0" anchor="t" bIns="0" lIns="0" spcFirstLastPara="1" rIns="0" wrap="square" tIns="27925">
            <a:spAutoFit/>
          </a:bodyPr>
          <a:lstStyle/>
          <a:p>
            <a:pPr indent="-165100" lvl="0" marL="177800" marR="5080" rtl="0" algn="l">
              <a:lnSpc>
                <a:spcPct val="116666"/>
              </a:lnSpc>
              <a:spcBef>
                <a:spcPts val="0"/>
              </a:spcBef>
              <a:spcAft>
                <a:spcPts val="0"/>
              </a:spcAft>
              <a:buNone/>
            </a:pPr>
            <a:r>
              <a:rPr lang="en-US" sz="1800">
                <a:solidFill>
                  <a:schemeClr val="dk1"/>
                </a:solidFill>
                <a:latin typeface="Arial"/>
                <a:ea typeface="Arial"/>
                <a:cs typeface="Arial"/>
                <a:sym typeface="Arial"/>
              </a:rPr>
              <a:t>Original  image</a:t>
            </a:r>
            <a:endParaRPr sz="1800">
              <a:solidFill>
                <a:schemeClr val="dk1"/>
              </a:solidFill>
              <a:latin typeface="Arial"/>
              <a:ea typeface="Arial"/>
              <a:cs typeface="Arial"/>
              <a:sym typeface="Arial"/>
            </a:endParaRPr>
          </a:p>
        </p:txBody>
      </p:sp>
      <p:sp>
        <p:nvSpPr>
          <p:cNvPr id="292" name="Google Shape;292;p21"/>
          <p:cNvSpPr txBox="1"/>
          <p:nvPr/>
        </p:nvSpPr>
        <p:spPr>
          <a:xfrm>
            <a:off x="7301865" y="1776095"/>
            <a:ext cx="1957070" cy="845819"/>
          </a:xfrm>
          <a:prstGeom prst="rect">
            <a:avLst/>
          </a:prstGeom>
          <a:noFill/>
          <a:ln>
            <a:noFill/>
          </a:ln>
        </p:spPr>
        <p:txBody>
          <a:bodyPr anchorCtr="0" anchor="t" bIns="0" lIns="0" spcFirstLastPara="1" rIns="0" wrap="square" tIns="13950">
            <a:spAutoFit/>
          </a:bodyPr>
          <a:lstStyle/>
          <a:p>
            <a:pPr indent="0" lvl="0" marL="12700" marR="5080" rtl="0" algn="l">
              <a:lnSpc>
                <a:spcPct val="99500"/>
              </a:lnSpc>
              <a:spcBef>
                <a:spcPts val="0"/>
              </a:spcBef>
              <a:spcAft>
                <a:spcPts val="0"/>
              </a:spcAft>
              <a:buNone/>
            </a:pPr>
            <a:r>
              <a:rPr lang="en-US" sz="1800">
                <a:solidFill>
                  <a:schemeClr val="dk1"/>
                </a:solidFill>
                <a:latin typeface="Arial"/>
                <a:ea typeface="Arial"/>
                <a:cs typeface="Arial"/>
                <a:sym typeface="Arial"/>
              </a:rPr>
              <a:t>Result of filtering  with Gaussian filter  with cutoff radius 5</a:t>
            </a:r>
            <a:endParaRPr sz="1800">
              <a:solidFill>
                <a:schemeClr val="dk1"/>
              </a:solidFill>
              <a:latin typeface="Arial"/>
              <a:ea typeface="Arial"/>
              <a:cs typeface="Arial"/>
              <a:sym typeface="Arial"/>
            </a:endParaRPr>
          </a:p>
        </p:txBody>
      </p:sp>
      <p:sp>
        <p:nvSpPr>
          <p:cNvPr id="293" name="Google Shape;293;p21"/>
          <p:cNvSpPr txBox="1"/>
          <p:nvPr/>
        </p:nvSpPr>
        <p:spPr>
          <a:xfrm>
            <a:off x="7301865" y="3558857"/>
            <a:ext cx="2054860" cy="845819"/>
          </a:xfrm>
          <a:prstGeom prst="rect">
            <a:avLst/>
          </a:prstGeom>
          <a:noFill/>
          <a:ln>
            <a:noFill/>
          </a:ln>
        </p:spPr>
        <p:txBody>
          <a:bodyPr anchorCtr="0" anchor="t" bIns="0" lIns="0" spcFirstLastPara="1" rIns="0" wrap="square" tIns="13950">
            <a:spAutoFit/>
          </a:bodyPr>
          <a:lstStyle/>
          <a:p>
            <a:pPr indent="0" lvl="0" marL="12700" marR="5080" rtl="0" algn="l">
              <a:lnSpc>
                <a:spcPct val="99500"/>
              </a:lnSpc>
              <a:spcBef>
                <a:spcPts val="0"/>
              </a:spcBef>
              <a:spcAft>
                <a:spcPts val="0"/>
              </a:spcAft>
              <a:buNone/>
            </a:pPr>
            <a:r>
              <a:rPr lang="en-US" sz="1800">
                <a:solidFill>
                  <a:schemeClr val="dk1"/>
                </a:solidFill>
                <a:latin typeface="Arial"/>
                <a:ea typeface="Arial"/>
                <a:cs typeface="Arial"/>
                <a:sym typeface="Arial"/>
              </a:rPr>
              <a:t>Result of filtering  with Gaussian filter  with cutoff radius 30</a:t>
            </a:r>
            <a:endParaRPr sz="1800">
              <a:solidFill>
                <a:schemeClr val="dk1"/>
              </a:solidFill>
              <a:latin typeface="Arial"/>
              <a:ea typeface="Arial"/>
              <a:cs typeface="Arial"/>
              <a:sym typeface="Arial"/>
            </a:endParaRPr>
          </a:p>
        </p:txBody>
      </p:sp>
      <p:sp>
        <p:nvSpPr>
          <p:cNvPr id="294" name="Google Shape;294;p21"/>
          <p:cNvSpPr txBox="1"/>
          <p:nvPr/>
        </p:nvSpPr>
        <p:spPr>
          <a:xfrm>
            <a:off x="7301865" y="5338445"/>
            <a:ext cx="1957070" cy="1112520"/>
          </a:xfrm>
          <a:prstGeom prst="rect">
            <a:avLst/>
          </a:prstGeom>
          <a:noFill/>
          <a:ln>
            <a:noFill/>
          </a:ln>
        </p:spPr>
        <p:txBody>
          <a:bodyPr anchorCtr="0" anchor="t" bIns="0" lIns="0" spcFirstLastPara="1" rIns="0" wrap="square" tIns="15875">
            <a:spAutoFit/>
          </a:bodyPr>
          <a:lstStyle/>
          <a:p>
            <a:pPr indent="0" lvl="0" marL="12700" marR="5080" rtl="0" algn="l">
              <a:lnSpc>
                <a:spcPct val="98800"/>
              </a:lnSpc>
              <a:spcBef>
                <a:spcPts val="0"/>
              </a:spcBef>
              <a:spcAft>
                <a:spcPts val="0"/>
              </a:spcAft>
              <a:buNone/>
            </a:pPr>
            <a:r>
              <a:rPr lang="en-US" sz="1800">
                <a:solidFill>
                  <a:schemeClr val="dk1"/>
                </a:solidFill>
                <a:latin typeface="Arial"/>
                <a:ea typeface="Arial"/>
                <a:cs typeface="Arial"/>
                <a:sym typeface="Arial"/>
              </a:rPr>
              <a:t>Result of filtering  with Gaussian filter  with cutoff radius  230</a:t>
            </a:r>
            <a:endParaRPr sz="1800">
              <a:solidFill>
                <a:schemeClr val="dk1"/>
              </a:solidFill>
              <a:latin typeface="Arial"/>
              <a:ea typeface="Arial"/>
              <a:cs typeface="Arial"/>
              <a:sym typeface="Arial"/>
            </a:endParaRPr>
          </a:p>
        </p:txBody>
      </p:sp>
      <p:sp>
        <p:nvSpPr>
          <p:cNvPr id="295" name="Google Shape;295;p21"/>
          <p:cNvSpPr txBox="1"/>
          <p:nvPr/>
        </p:nvSpPr>
        <p:spPr>
          <a:xfrm>
            <a:off x="1343220" y="5295582"/>
            <a:ext cx="1728470" cy="1112520"/>
          </a:xfrm>
          <a:prstGeom prst="rect">
            <a:avLst/>
          </a:prstGeom>
          <a:noFill/>
          <a:ln>
            <a:noFill/>
          </a:ln>
        </p:spPr>
        <p:txBody>
          <a:bodyPr anchorCtr="0" anchor="t" bIns="0" lIns="0" spcFirstLastPara="1" rIns="0" wrap="square" tIns="13950">
            <a:spAutoFit/>
          </a:bodyPr>
          <a:lstStyle/>
          <a:p>
            <a:pPr indent="-182245" lvl="0" marL="194310" marR="5080" rtl="0" algn="just">
              <a:lnSpc>
                <a:spcPct val="99500"/>
              </a:lnSpc>
              <a:spcBef>
                <a:spcPts val="0"/>
              </a:spcBef>
              <a:spcAft>
                <a:spcPts val="0"/>
              </a:spcAft>
              <a:buNone/>
            </a:pPr>
            <a:r>
              <a:rPr lang="en-US" sz="1800">
                <a:solidFill>
                  <a:schemeClr val="dk1"/>
                </a:solidFill>
                <a:latin typeface="Arial"/>
                <a:ea typeface="Arial"/>
                <a:cs typeface="Arial"/>
                <a:sym typeface="Arial"/>
              </a:rPr>
              <a:t>Result of filtering  with Gaussian  filter with cutoff</a:t>
            </a:r>
            <a:endParaRPr sz="1800">
              <a:solidFill>
                <a:schemeClr val="dk1"/>
              </a:solidFill>
              <a:latin typeface="Arial"/>
              <a:ea typeface="Arial"/>
              <a:cs typeface="Arial"/>
              <a:sym typeface="Arial"/>
            </a:endParaRPr>
          </a:p>
          <a:p>
            <a:pPr indent="0" lvl="0" marL="774700" marR="0" rtl="0" algn="just">
              <a:lnSpc>
                <a:spcPct val="116666"/>
              </a:lnSpc>
              <a:spcBef>
                <a:spcPts val="0"/>
              </a:spcBef>
              <a:spcAft>
                <a:spcPts val="0"/>
              </a:spcAft>
              <a:buNone/>
            </a:pPr>
            <a:r>
              <a:rPr lang="en-US" sz="1800">
                <a:solidFill>
                  <a:schemeClr val="dk1"/>
                </a:solidFill>
                <a:latin typeface="Arial"/>
                <a:ea typeface="Arial"/>
                <a:cs typeface="Arial"/>
                <a:sym typeface="Arial"/>
              </a:rPr>
              <a:t>radius 85</a:t>
            </a:r>
            <a:endParaRPr sz="1800">
              <a:solidFill>
                <a:schemeClr val="dk1"/>
              </a:solidFill>
              <a:latin typeface="Arial"/>
              <a:ea typeface="Arial"/>
              <a:cs typeface="Arial"/>
              <a:sym typeface="Arial"/>
            </a:endParaRPr>
          </a:p>
        </p:txBody>
      </p:sp>
      <p:sp>
        <p:nvSpPr>
          <p:cNvPr id="296" name="Google Shape;296;p21"/>
          <p:cNvSpPr txBox="1"/>
          <p:nvPr/>
        </p:nvSpPr>
        <p:spPr>
          <a:xfrm>
            <a:off x="1343220" y="3528695"/>
            <a:ext cx="1728470" cy="1112520"/>
          </a:xfrm>
          <a:prstGeom prst="rect">
            <a:avLst/>
          </a:prstGeom>
          <a:noFill/>
          <a:ln>
            <a:noFill/>
          </a:ln>
        </p:spPr>
        <p:txBody>
          <a:bodyPr anchorCtr="0" anchor="t" bIns="0" lIns="0" spcFirstLastPara="1" rIns="0" wrap="square" tIns="13950">
            <a:spAutoFit/>
          </a:bodyPr>
          <a:lstStyle/>
          <a:p>
            <a:pPr indent="-182245" lvl="0" marL="194310" marR="5080" rtl="0" algn="just">
              <a:lnSpc>
                <a:spcPct val="99500"/>
              </a:lnSpc>
              <a:spcBef>
                <a:spcPts val="0"/>
              </a:spcBef>
              <a:spcAft>
                <a:spcPts val="0"/>
              </a:spcAft>
              <a:buNone/>
            </a:pPr>
            <a:r>
              <a:rPr lang="en-US" sz="1800">
                <a:solidFill>
                  <a:schemeClr val="dk1"/>
                </a:solidFill>
                <a:latin typeface="Arial"/>
                <a:ea typeface="Arial"/>
                <a:cs typeface="Arial"/>
                <a:sym typeface="Arial"/>
              </a:rPr>
              <a:t>Result of filtering  with Gaussian  filter with cutoff</a:t>
            </a:r>
            <a:endParaRPr sz="1800">
              <a:solidFill>
                <a:schemeClr val="dk1"/>
              </a:solidFill>
              <a:latin typeface="Arial"/>
              <a:ea typeface="Arial"/>
              <a:cs typeface="Arial"/>
              <a:sym typeface="Arial"/>
            </a:endParaRPr>
          </a:p>
          <a:p>
            <a:pPr indent="0" lvl="0" marL="774700" marR="0" rtl="0" algn="just">
              <a:lnSpc>
                <a:spcPct val="116666"/>
              </a:lnSpc>
              <a:spcBef>
                <a:spcPts val="0"/>
              </a:spcBef>
              <a:spcAft>
                <a:spcPts val="0"/>
              </a:spcAft>
              <a:buNone/>
            </a:pPr>
            <a:r>
              <a:rPr lang="en-US" sz="1800">
                <a:solidFill>
                  <a:schemeClr val="dk1"/>
                </a:solidFill>
                <a:latin typeface="Arial"/>
                <a:ea typeface="Arial"/>
                <a:cs typeface="Arial"/>
                <a:sym typeface="Arial"/>
              </a:rPr>
              <a:t>radius 15</a:t>
            </a:r>
            <a:endParaRPr sz="1800">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grpSp>
        <p:nvGrpSpPr>
          <p:cNvPr id="301" name="Google Shape;301;p22"/>
          <p:cNvGrpSpPr/>
          <p:nvPr/>
        </p:nvGrpSpPr>
        <p:grpSpPr>
          <a:xfrm>
            <a:off x="2298700" y="1433512"/>
            <a:ext cx="5572124" cy="2487613"/>
            <a:chOff x="2298700" y="1433512"/>
            <a:chExt cx="5572124" cy="2487613"/>
          </a:xfrm>
        </p:grpSpPr>
        <p:sp>
          <p:nvSpPr>
            <p:cNvPr id="302" name="Google Shape;302;p22"/>
            <p:cNvSpPr/>
            <p:nvPr/>
          </p:nvSpPr>
          <p:spPr>
            <a:xfrm>
              <a:off x="2298700" y="1435100"/>
              <a:ext cx="2687637" cy="2486025"/>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22"/>
            <p:cNvSpPr/>
            <p:nvPr/>
          </p:nvSpPr>
          <p:spPr>
            <a:xfrm>
              <a:off x="5043487" y="1433512"/>
              <a:ext cx="2827337" cy="2487612"/>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4" name="Google Shape;304;p22"/>
          <p:cNvSpPr txBox="1"/>
          <p:nvPr>
            <p:ph type="title"/>
          </p:nvPr>
        </p:nvSpPr>
        <p:spPr>
          <a:xfrm>
            <a:off x="739140" y="375920"/>
            <a:ext cx="667194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Lowpass Filters Compared</a:t>
            </a:r>
            <a:endParaRPr sz="4400"/>
          </a:p>
        </p:txBody>
      </p:sp>
      <p:sp>
        <p:nvSpPr>
          <p:cNvPr id="305" name="Google Shape;305;p22"/>
          <p:cNvSpPr txBox="1"/>
          <p:nvPr/>
        </p:nvSpPr>
        <p:spPr>
          <a:xfrm>
            <a:off x="325459" y="2114232"/>
            <a:ext cx="1931670" cy="845819"/>
          </a:xfrm>
          <a:prstGeom prst="rect">
            <a:avLst/>
          </a:prstGeom>
          <a:noFill/>
          <a:ln>
            <a:noFill/>
          </a:ln>
        </p:spPr>
        <p:txBody>
          <a:bodyPr anchorCtr="0" anchor="t" bIns="0" lIns="0" spcFirstLastPara="1" rIns="0" wrap="square" tIns="13950">
            <a:spAutoFit/>
          </a:bodyPr>
          <a:lstStyle/>
          <a:p>
            <a:pPr indent="203200" lvl="0" marL="12700" marR="5080" rtl="0" algn="r">
              <a:lnSpc>
                <a:spcPct val="99500"/>
              </a:lnSpc>
              <a:spcBef>
                <a:spcPts val="0"/>
              </a:spcBef>
              <a:spcAft>
                <a:spcPts val="0"/>
              </a:spcAft>
              <a:buNone/>
            </a:pPr>
            <a:r>
              <a:rPr lang="en-US" sz="1800">
                <a:solidFill>
                  <a:schemeClr val="dk1"/>
                </a:solidFill>
                <a:latin typeface="Arial"/>
                <a:ea typeface="Arial"/>
                <a:cs typeface="Arial"/>
                <a:sym typeface="Arial"/>
              </a:rPr>
              <a:t>Result of filtering  with ideal low pass  filter of radius 15</a:t>
            </a:r>
            <a:endParaRPr sz="1800">
              <a:solidFill>
                <a:schemeClr val="dk1"/>
              </a:solidFill>
              <a:latin typeface="Arial"/>
              <a:ea typeface="Arial"/>
              <a:cs typeface="Arial"/>
              <a:sym typeface="Arial"/>
            </a:endParaRPr>
          </a:p>
        </p:txBody>
      </p:sp>
      <p:sp>
        <p:nvSpPr>
          <p:cNvPr id="306" name="Google Shape;306;p22"/>
          <p:cNvSpPr txBox="1"/>
          <p:nvPr/>
        </p:nvSpPr>
        <p:spPr>
          <a:xfrm>
            <a:off x="7933690" y="1977707"/>
            <a:ext cx="1728470" cy="1391920"/>
          </a:xfrm>
          <a:prstGeom prst="rect">
            <a:avLst/>
          </a:prstGeom>
          <a:noFill/>
          <a:ln>
            <a:noFill/>
          </a:ln>
        </p:spPr>
        <p:txBody>
          <a:bodyPr anchorCtr="0" anchor="t" bIns="0" lIns="0" spcFirstLastPara="1" rIns="0" wrap="square" tIns="13950">
            <a:spAutoFit/>
          </a:bodyPr>
          <a:lstStyle/>
          <a:p>
            <a:pPr indent="0" lvl="0" marL="12700" marR="5080" rtl="0" algn="l">
              <a:lnSpc>
                <a:spcPct val="99500"/>
              </a:lnSpc>
              <a:spcBef>
                <a:spcPts val="0"/>
              </a:spcBef>
              <a:spcAft>
                <a:spcPts val="0"/>
              </a:spcAft>
              <a:buNone/>
            </a:pPr>
            <a:r>
              <a:rPr lang="en-US" sz="1800">
                <a:solidFill>
                  <a:schemeClr val="dk1"/>
                </a:solidFill>
                <a:latin typeface="Arial"/>
                <a:ea typeface="Arial"/>
                <a:cs typeface="Arial"/>
                <a:sym typeface="Arial"/>
              </a:rPr>
              <a:t>Result of filtering  with Butterworth  filter of order 2  and cutoff radius  15</a:t>
            </a:r>
            <a:endParaRPr sz="1800">
              <a:solidFill>
                <a:schemeClr val="dk1"/>
              </a:solidFill>
              <a:latin typeface="Arial"/>
              <a:ea typeface="Arial"/>
              <a:cs typeface="Arial"/>
              <a:sym typeface="Arial"/>
            </a:endParaRPr>
          </a:p>
        </p:txBody>
      </p:sp>
      <p:sp>
        <p:nvSpPr>
          <p:cNvPr id="307" name="Google Shape;307;p22"/>
          <p:cNvSpPr txBox="1"/>
          <p:nvPr/>
        </p:nvSpPr>
        <p:spPr>
          <a:xfrm>
            <a:off x="2017908" y="4749482"/>
            <a:ext cx="1728470" cy="1112520"/>
          </a:xfrm>
          <a:prstGeom prst="rect">
            <a:avLst/>
          </a:prstGeom>
          <a:noFill/>
          <a:ln>
            <a:noFill/>
          </a:ln>
        </p:spPr>
        <p:txBody>
          <a:bodyPr anchorCtr="0" anchor="t" bIns="0" lIns="0" spcFirstLastPara="1" rIns="0" wrap="square" tIns="13950">
            <a:spAutoFit/>
          </a:bodyPr>
          <a:lstStyle/>
          <a:p>
            <a:pPr indent="-182245" lvl="0" marL="194310" marR="5080" rtl="0" algn="just">
              <a:lnSpc>
                <a:spcPct val="99500"/>
              </a:lnSpc>
              <a:spcBef>
                <a:spcPts val="0"/>
              </a:spcBef>
              <a:spcAft>
                <a:spcPts val="0"/>
              </a:spcAft>
              <a:buNone/>
            </a:pPr>
            <a:r>
              <a:rPr lang="en-US" sz="1800">
                <a:solidFill>
                  <a:schemeClr val="dk1"/>
                </a:solidFill>
                <a:latin typeface="Arial"/>
                <a:ea typeface="Arial"/>
                <a:cs typeface="Arial"/>
                <a:sym typeface="Arial"/>
              </a:rPr>
              <a:t>Result of filtering  with Gaussian  filter with cutoff</a:t>
            </a:r>
            <a:endParaRPr sz="1800">
              <a:solidFill>
                <a:schemeClr val="dk1"/>
              </a:solidFill>
              <a:latin typeface="Arial"/>
              <a:ea typeface="Arial"/>
              <a:cs typeface="Arial"/>
              <a:sym typeface="Arial"/>
            </a:endParaRPr>
          </a:p>
          <a:p>
            <a:pPr indent="0" lvl="0" marL="774700" marR="0" rtl="0" algn="just">
              <a:lnSpc>
                <a:spcPct val="116666"/>
              </a:lnSpc>
              <a:spcBef>
                <a:spcPts val="0"/>
              </a:spcBef>
              <a:spcAft>
                <a:spcPts val="0"/>
              </a:spcAft>
              <a:buNone/>
            </a:pPr>
            <a:r>
              <a:rPr lang="en-US" sz="1800">
                <a:solidFill>
                  <a:schemeClr val="dk1"/>
                </a:solidFill>
                <a:latin typeface="Arial"/>
                <a:ea typeface="Arial"/>
                <a:cs typeface="Arial"/>
                <a:sym typeface="Arial"/>
              </a:rPr>
              <a:t>radius 15</a:t>
            </a:r>
            <a:endParaRPr sz="1800">
              <a:solidFill>
                <a:schemeClr val="dk1"/>
              </a:solidFill>
              <a:latin typeface="Arial"/>
              <a:ea typeface="Arial"/>
              <a:cs typeface="Arial"/>
              <a:sym typeface="Arial"/>
            </a:endParaRPr>
          </a:p>
        </p:txBody>
      </p:sp>
      <p:sp>
        <p:nvSpPr>
          <p:cNvPr id="308" name="Google Shape;308;p22"/>
          <p:cNvSpPr/>
          <p:nvPr/>
        </p:nvSpPr>
        <p:spPr>
          <a:xfrm>
            <a:off x="3845619" y="4144235"/>
            <a:ext cx="2555594" cy="2367474"/>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09" name="Google Shape;309;p22"/>
          <p:cNvGrpSpPr/>
          <p:nvPr/>
        </p:nvGrpSpPr>
        <p:grpSpPr>
          <a:xfrm>
            <a:off x="-2318" y="1631156"/>
            <a:ext cx="279274" cy="5226843"/>
            <a:chOff x="-2318" y="1631156"/>
            <a:chExt cx="279274" cy="5226843"/>
          </a:xfrm>
        </p:grpSpPr>
        <p:sp>
          <p:nvSpPr>
            <p:cNvPr id="310" name="Google Shape;310;p22"/>
            <p:cNvSpPr/>
            <p:nvPr/>
          </p:nvSpPr>
          <p:spPr>
            <a:xfrm>
              <a:off x="0" y="6663531"/>
              <a:ext cx="276956" cy="194468"/>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22"/>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22"/>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3" name="Google Shape;313;p22"/>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3"/>
          <p:cNvSpPr txBox="1"/>
          <p:nvPr/>
        </p:nvSpPr>
        <p:spPr>
          <a:xfrm>
            <a:off x="742441" y="375920"/>
            <a:ext cx="6983095" cy="6959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4400">
                <a:solidFill>
                  <a:srgbClr val="775F55"/>
                </a:solidFill>
                <a:latin typeface="Arial"/>
                <a:ea typeface="Arial"/>
                <a:cs typeface="Arial"/>
                <a:sym typeface="Arial"/>
              </a:rPr>
              <a:t>Lowpass Filtering	Examples</a:t>
            </a:r>
            <a:endParaRPr sz="4400">
              <a:solidFill>
                <a:schemeClr val="dk1"/>
              </a:solidFill>
              <a:latin typeface="Arial"/>
              <a:ea typeface="Arial"/>
              <a:cs typeface="Arial"/>
              <a:sym typeface="Arial"/>
            </a:endParaRPr>
          </a:p>
        </p:txBody>
      </p:sp>
      <p:sp>
        <p:nvSpPr>
          <p:cNvPr id="319" name="Google Shape;319;p23"/>
          <p:cNvSpPr txBox="1"/>
          <p:nvPr/>
        </p:nvSpPr>
        <p:spPr>
          <a:xfrm>
            <a:off x="742441" y="1633220"/>
            <a:ext cx="8542655" cy="899160"/>
          </a:xfrm>
          <a:prstGeom prst="rect">
            <a:avLst/>
          </a:prstGeom>
          <a:noFill/>
          <a:ln>
            <a:noFill/>
          </a:ln>
        </p:spPr>
        <p:txBody>
          <a:bodyPr anchorCtr="0" anchor="t" bIns="0" lIns="0" spcFirstLastPara="1" rIns="0" wrap="square" tIns="35550">
            <a:spAutoFit/>
          </a:bodyPr>
          <a:lstStyle/>
          <a:p>
            <a:pPr indent="0" lvl="0" marL="12700" marR="5080" rtl="0" algn="l">
              <a:lnSpc>
                <a:spcPct val="117241"/>
              </a:lnSpc>
              <a:spcBef>
                <a:spcPts val="0"/>
              </a:spcBef>
              <a:spcAft>
                <a:spcPts val="0"/>
              </a:spcAft>
              <a:buNone/>
            </a:pPr>
            <a:r>
              <a:rPr lang="en-US" sz="2900">
                <a:solidFill>
                  <a:schemeClr val="dk1"/>
                </a:solidFill>
                <a:latin typeface="Arial"/>
                <a:ea typeface="Arial"/>
                <a:cs typeface="Arial"/>
                <a:sym typeface="Arial"/>
              </a:rPr>
              <a:t>A low pass Gaussian filter is used to connect broken  text</a:t>
            </a:r>
            <a:endParaRPr sz="2900">
              <a:solidFill>
                <a:schemeClr val="dk1"/>
              </a:solidFill>
              <a:latin typeface="Arial"/>
              <a:ea typeface="Arial"/>
              <a:cs typeface="Arial"/>
              <a:sym typeface="Arial"/>
            </a:endParaRPr>
          </a:p>
        </p:txBody>
      </p:sp>
      <p:sp>
        <p:nvSpPr>
          <p:cNvPr id="320" name="Google Shape;320;p23"/>
          <p:cNvSpPr/>
          <p:nvPr/>
        </p:nvSpPr>
        <p:spPr>
          <a:xfrm>
            <a:off x="1907641" y="2528077"/>
            <a:ext cx="5783936" cy="2749877"/>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21" name="Google Shape;321;p23"/>
          <p:cNvGrpSpPr/>
          <p:nvPr/>
        </p:nvGrpSpPr>
        <p:grpSpPr>
          <a:xfrm>
            <a:off x="-2318" y="1631156"/>
            <a:ext cx="279274" cy="5226843"/>
            <a:chOff x="-2318" y="1631156"/>
            <a:chExt cx="279274" cy="5226843"/>
          </a:xfrm>
        </p:grpSpPr>
        <p:sp>
          <p:nvSpPr>
            <p:cNvPr id="322" name="Google Shape;322;p23"/>
            <p:cNvSpPr/>
            <p:nvPr/>
          </p:nvSpPr>
          <p:spPr>
            <a:xfrm>
              <a:off x="0" y="6663531"/>
              <a:ext cx="276956" cy="19446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23"/>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23"/>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5" name="Google Shape;325;p23"/>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4"/>
          <p:cNvSpPr txBox="1"/>
          <p:nvPr/>
        </p:nvSpPr>
        <p:spPr>
          <a:xfrm>
            <a:off x="742441" y="406400"/>
            <a:ext cx="8298180" cy="635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4000">
                <a:solidFill>
                  <a:srgbClr val="775F55"/>
                </a:solidFill>
                <a:latin typeface="Arial"/>
                <a:ea typeface="Arial"/>
                <a:cs typeface="Arial"/>
                <a:sym typeface="Arial"/>
              </a:rPr>
              <a:t>Lowpass Filtering	Examples (cont…)</a:t>
            </a:r>
            <a:endParaRPr sz="4000">
              <a:solidFill>
                <a:schemeClr val="dk1"/>
              </a:solidFill>
              <a:latin typeface="Arial"/>
              <a:ea typeface="Arial"/>
              <a:cs typeface="Arial"/>
              <a:sym typeface="Arial"/>
            </a:endParaRPr>
          </a:p>
        </p:txBody>
      </p:sp>
      <p:sp>
        <p:nvSpPr>
          <p:cNvPr id="331" name="Google Shape;331;p24"/>
          <p:cNvSpPr txBox="1"/>
          <p:nvPr/>
        </p:nvSpPr>
        <p:spPr>
          <a:xfrm>
            <a:off x="742441" y="1633220"/>
            <a:ext cx="8125459" cy="899160"/>
          </a:xfrm>
          <a:prstGeom prst="rect">
            <a:avLst/>
          </a:prstGeom>
          <a:noFill/>
          <a:ln>
            <a:noFill/>
          </a:ln>
        </p:spPr>
        <p:txBody>
          <a:bodyPr anchorCtr="0" anchor="t" bIns="0" lIns="0" spcFirstLastPara="1" rIns="0" wrap="square" tIns="35550">
            <a:spAutoFit/>
          </a:bodyPr>
          <a:lstStyle/>
          <a:p>
            <a:pPr indent="0" lvl="0" marL="12700" marR="5080" rtl="0" algn="l">
              <a:lnSpc>
                <a:spcPct val="117241"/>
              </a:lnSpc>
              <a:spcBef>
                <a:spcPts val="0"/>
              </a:spcBef>
              <a:spcAft>
                <a:spcPts val="0"/>
              </a:spcAft>
              <a:buNone/>
            </a:pPr>
            <a:r>
              <a:rPr lang="en-US" sz="2900">
                <a:solidFill>
                  <a:schemeClr val="dk1"/>
                </a:solidFill>
                <a:latin typeface="Arial"/>
                <a:ea typeface="Arial"/>
                <a:cs typeface="Arial"/>
                <a:sym typeface="Arial"/>
              </a:rPr>
              <a:t>Different lowpass Gaussian filters used to remove  blemishes in a photograph</a:t>
            </a:r>
            <a:endParaRPr sz="2900">
              <a:solidFill>
                <a:schemeClr val="dk1"/>
              </a:solidFill>
              <a:latin typeface="Arial"/>
              <a:ea typeface="Arial"/>
              <a:cs typeface="Arial"/>
              <a:sym typeface="Arial"/>
            </a:endParaRPr>
          </a:p>
        </p:txBody>
      </p:sp>
      <p:sp>
        <p:nvSpPr>
          <p:cNvPr id="332" name="Google Shape;332;p24"/>
          <p:cNvSpPr/>
          <p:nvPr/>
        </p:nvSpPr>
        <p:spPr>
          <a:xfrm>
            <a:off x="1534480" y="2672079"/>
            <a:ext cx="6719881" cy="382524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3" name="Google Shape;333;p24"/>
          <p:cNvGrpSpPr/>
          <p:nvPr/>
        </p:nvGrpSpPr>
        <p:grpSpPr>
          <a:xfrm>
            <a:off x="-2318" y="1631156"/>
            <a:ext cx="279274" cy="5226843"/>
            <a:chOff x="-2318" y="1631156"/>
            <a:chExt cx="279274" cy="5226843"/>
          </a:xfrm>
        </p:grpSpPr>
        <p:sp>
          <p:nvSpPr>
            <p:cNvPr id="334" name="Google Shape;334;p24"/>
            <p:cNvSpPr/>
            <p:nvPr/>
          </p:nvSpPr>
          <p:spPr>
            <a:xfrm>
              <a:off x="0" y="6663531"/>
              <a:ext cx="276956" cy="19446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24"/>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24"/>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7" name="Google Shape;337;p24"/>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5"/>
          <p:cNvSpPr/>
          <p:nvPr/>
        </p:nvSpPr>
        <p:spPr>
          <a:xfrm>
            <a:off x="2051050" y="1296987"/>
            <a:ext cx="5807075" cy="534511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25"/>
          <p:cNvSpPr txBox="1"/>
          <p:nvPr>
            <p:ph type="title"/>
          </p:nvPr>
        </p:nvSpPr>
        <p:spPr>
          <a:xfrm>
            <a:off x="739140" y="406400"/>
            <a:ext cx="8298180" cy="635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000"/>
              <a:t>Lowpass Filtering	Examples (cont…)</a:t>
            </a:r>
            <a:endParaRPr sz="4000"/>
          </a:p>
        </p:txBody>
      </p:sp>
      <p:sp>
        <p:nvSpPr>
          <p:cNvPr id="344" name="Google Shape;344;p25"/>
          <p:cNvSpPr txBox="1"/>
          <p:nvPr/>
        </p:nvSpPr>
        <p:spPr>
          <a:xfrm>
            <a:off x="1245241" y="2282507"/>
            <a:ext cx="813435" cy="566420"/>
          </a:xfrm>
          <a:prstGeom prst="rect">
            <a:avLst/>
          </a:prstGeom>
          <a:noFill/>
          <a:ln>
            <a:noFill/>
          </a:ln>
        </p:spPr>
        <p:txBody>
          <a:bodyPr anchorCtr="0" anchor="t" bIns="0" lIns="0" spcFirstLastPara="1" rIns="0" wrap="square" tIns="27925">
            <a:spAutoFit/>
          </a:bodyPr>
          <a:lstStyle/>
          <a:p>
            <a:pPr indent="-165100" lvl="0" marL="177165" marR="5080" rtl="0" algn="l">
              <a:lnSpc>
                <a:spcPct val="116666"/>
              </a:lnSpc>
              <a:spcBef>
                <a:spcPts val="0"/>
              </a:spcBef>
              <a:spcAft>
                <a:spcPts val="0"/>
              </a:spcAft>
              <a:buNone/>
            </a:pPr>
            <a:r>
              <a:rPr lang="en-US" sz="1800">
                <a:solidFill>
                  <a:schemeClr val="dk1"/>
                </a:solidFill>
                <a:latin typeface="Arial"/>
                <a:ea typeface="Arial"/>
                <a:cs typeface="Arial"/>
                <a:sym typeface="Arial"/>
              </a:rPr>
              <a:t>Original  image</a:t>
            </a:r>
            <a:endParaRPr sz="1800">
              <a:solidFill>
                <a:schemeClr val="dk1"/>
              </a:solidFill>
              <a:latin typeface="Arial"/>
              <a:ea typeface="Arial"/>
              <a:cs typeface="Arial"/>
              <a:sym typeface="Arial"/>
            </a:endParaRPr>
          </a:p>
        </p:txBody>
      </p:sp>
      <p:sp>
        <p:nvSpPr>
          <p:cNvPr id="345" name="Google Shape;345;p25"/>
          <p:cNvSpPr txBox="1"/>
          <p:nvPr/>
        </p:nvSpPr>
        <p:spPr>
          <a:xfrm>
            <a:off x="7852727" y="2282507"/>
            <a:ext cx="1880870" cy="566420"/>
          </a:xfrm>
          <a:prstGeom prst="rect">
            <a:avLst/>
          </a:prstGeom>
          <a:noFill/>
          <a:ln>
            <a:noFill/>
          </a:ln>
        </p:spPr>
        <p:txBody>
          <a:bodyPr anchorCtr="0" anchor="t" bIns="0" lIns="0" spcFirstLastPara="1" rIns="0" wrap="square" tIns="27925">
            <a:spAutoFit/>
          </a:bodyPr>
          <a:lstStyle/>
          <a:p>
            <a:pPr indent="0" lvl="0" marL="12700" marR="5080" rtl="0" algn="l">
              <a:lnSpc>
                <a:spcPct val="116666"/>
              </a:lnSpc>
              <a:spcBef>
                <a:spcPts val="0"/>
              </a:spcBef>
              <a:spcAft>
                <a:spcPts val="0"/>
              </a:spcAft>
              <a:buNone/>
            </a:pPr>
            <a:r>
              <a:rPr lang="en-US" sz="1800">
                <a:solidFill>
                  <a:schemeClr val="dk1"/>
                </a:solidFill>
                <a:latin typeface="Arial"/>
                <a:ea typeface="Arial"/>
                <a:cs typeface="Arial"/>
                <a:sym typeface="Arial"/>
              </a:rPr>
              <a:t>Gaussian lowpass  filter</a:t>
            </a:r>
            <a:endParaRPr sz="1800">
              <a:solidFill>
                <a:schemeClr val="dk1"/>
              </a:solidFill>
              <a:latin typeface="Arial"/>
              <a:ea typeface="Arial"/>
              <a:cs typeface="Arial"/>
              <a:sym typeface="Arial"/>
            </a:endParaRPr>
          </a:p>
        </p:txBody>
      </p:sp>
      <p:sp>
        <p:nvSpPr>
          <p:cNvPr id="346" name="Google Shape;346;p25"/>
          <p:cNvSpPr txBox="1"/>
          <p:nvPr/>
        </p:nvSpPr>
        <p:spPr>
          <a:xfrm>
            <a:off x="7852727" y="5006657"/>
            <a:ext cx="1106170" cy="566420"/>
          </a:xfrm>
          <a:prstGeom prst="rect">
            <a:avLst/>
          </a:prstGeom>
          <a:noFill/>
          <a:ln>
            <a:noFill/>
          </a:ln>
        </p:spPr>
        <p:txBody>
          <a:bodyPr anchorCtr="0" anchor="t" bIns="0" lIns="0" spcFirstLastPara="1" rIns="0" wrap="square" tIns="27925">
            <a:spAutoFit/>
          </a:bodyPr>
          <a:lstStyle/>
          <a:p>
            <a:pPr indent="0" lvl="0" marL="12700" marR="5080" rtl="0" algn="l">
              <a:lnSpc>
                <a:spcPct val="116666"/>
              </a:lnSpc>
              <a:spcBef>
                <a:spcPts val="0"/>
              </a:spcBef>
              <a:spcAft>
                <a:spcPts val="0"/>
              </a:spcAft>
              <a:buNone/>
            </a:pPr>
            <a:r>
              <a:rPr lang="en-US" sz="1800">
                <a:solidFill>
                  <a:schemeClr val="dk1"/>
                </a:solidFill>
                <a:latin typeface="Arial"/>
                <a:ea typeface="Arial"/>
                <a:cs typeface="Arial"/>
                <a:sym typeface="Arial"/>
              </a:rPr>
              <a:t>Processed  image</a:t>
            </a:r>
            <a:endParaRPr sz="1800">
              <a:solidFill>
                <a:schemeClr val="dk1"/>
              </a:solidFill>
              <a:latin typeface="Arial"/>
              <a:ea typeface="Arial"/>
              <a:cs typeface="Arial"/>
              <a:sym typeface="Arial"/>
            </a:endParaRPr>
          </a:p>
        </p:txBody>
      </p:sp>
      <p:sp>
        <p:nvSpPr>
          <p:cNvPr id="347" name="Google Shape;347;p25"/>
          <p:cNvSpPr txBox="1"/>
          <p:nvPr/>
        </p:nvSpPr>
        <p:spPr>
          <a:xfrm>
            <a:off x="609783" y="5006657"/>
            <a:ext cx="1449070" cy="566420"/>
          </a:xfrm>
          <a:prstGeom prst="rect">
            <a:avLst/>
          </a:prstGeom>
          <a:noFill/>
          <a:ln>
            <a:noFill/>
          </a:ln>
        </p:spPr>
        <p:txBody>
          <a:bodyPr anchorCtr="0" anchor="t" bIns="0" lIns="0" spcFirstLastPara="1" rIns="0" wrap="square" tIns="27925">
            <a:spAutoFit/>
          </a:bodyPr>
          <a:lstStyle/>
          <a:p>
            <a:pPr indent="190500" lvl="0" marL="12700" marR="5080" rtl="0" algn="l">
              <a:lnSpc>
                <a:spcPct val="116666"/>
              </a:lnSpc>
              <a:spcBef>
                <a:spcPts val="0"/>
              </a:spcBef>
              <a:spcAft>
                <a:spcPts val="0"/>
              </a:spcAft>
              <a:buNone/>
            </a:pPr>
            <a:r>
              <a:rPr lang="en-US" sz="1800">
                <a:solidFill>
                  <a:schemeClr val="dk1"/>
                </a:solidFill>
                <a:latin typeface="Arial"/>
                <a:ea typeface="Arial"/>
                <a:cs typeface="Arial"/>
                <a:sym typeface="Arial"/>
              </a:rPr>
              <a:t>Spectrum of  original image</a:t>
            </a:r>
            <a:endParaRPr sz="1800">
              <a:solidFill>
                <a:schemeClr val="dk1"/>
              </a:solidFill>
              <a:latin typeface="Arial"/>
              <a:ea typeface="Arial"/>
              <a:cs typeface="Arial"/>
              <a:sym typeface="Arial"/>
            </a:endParaRPr>
          </a:p>
        </p:txBody>
      </p:sp>
      <p:grpSp>
        <p:nvGrpSpPr>
          <p:cNvPr id="348" name="Google Shape;348;p25"/>
          <p:cNvGrpSpPr/>
          <p:nvPr/>
        </p:nvGrpSpPr>
        <p:grpSpPr>
          <a:xfrm>
            <a:off x="-2318" y="1631156"/>
            <a:ext cx="279274" cy="5226843"/>
            <a:chOff x="-2318" y="1631156"/>
            <a:chExt cx="279274" cy="5226843"/>
          </a:xfrm>
        </p:grpSpPr>
        <p:sp>
          <p:nvSpPr>
            <p:cNvPr id="349" name="Google Shape;349;p25"/>
            <p:cNvSpPr/>
            <p:nvPr/>
          </p:nvSpPr>
          <p:spPr>
            <a:xfrm>
              <a:off x="0" y="6663531"/>
              <a:ext cx="276956" cy="19446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25"/>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25"/>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2" name="Google Shape;352;p25"/>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6"/>
          <p:cNvSpPr txBox="1"/>
          <p:nvPr>
            <p:ph type="title"/>
          </p:nvPr>
        </p:nvSpPr>
        <p:spPr>
          <a:xfrm>
            <a:off x="742441" y="436879"/>
            <a:ext cx="760031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Sharpening in the Frequency Domain</a:t>
            </a:r>
            <a:endParaRPr sz="3600"/>
          </a:p>
        </p:txBody>
      </p:sp>
      <p:sp>
        <p:nvSpPr>
          <p:cNvPr id="358" name="Google Shape;358;p26"/>
          <p:cNvSpPr txBox="1"/>
          <p:nvPr/>
        </p:nvSpPr>
        <p:spPr>
          <a:xfrm>
            <a:off x="717041" y="1633220"/>
            <a:ext cx="8450580" cy="4943661"/>
          </a:xfrm>
          <a:prstGeom prst="rect">
            <a:avLst/>
          </a:prstGeom>
          <a:noFill/>
          <a:ln>
            <a:noFill/>
          </a:ln>
        </p:spPr>
        <p:txBody>
          <a:bodyPr anchorCtr="0" anchor="t" bIns="0" lIns="0" spcFirstLastPara="1" rIns="0" wrap="square" tIns="35550">
            <a:spAutoFit/>
          </a:bodyPr>
          <a:lstStyle/>
          <a:p>
            <a:pPr indent="0" lvl="0" marL="38100" marR="30480" rtl="0" algn="l">
              <a:lnSpc>
                <a:spcPct val="117241"/>
              </a:lnSpc>
              <a:spcBef>
                <a:spcPts val="0"/>
              </a:spcBef>
              <a:spcAft>
                <a:spcPts val="0"/>
              </a:spcAft>
              <a:buNone/>
            </a:pPr>
            <a:r>
              <a:rPr lang="en-US" sz="2900">
                <a:solidFill>
                  <a:schemeClr val="dk1"/>
                </a:solidFill>
                <a:latin typeface="Arial"/>
                <a:ea typeface="Arial"/>
                <a:cs typeface="Arial"/>
                <a:sym typeface="Arial"/>
              </a:rPr>
              <a:t>Edges and fine detail in images are associated with  high frequency components</a:t>
            </a:r>
            <a:endParaRPr sz="2900">
              <a:solidFill>
                <a:schemeClr val="dk1"/>
              </a:solidFill>
              <a:latin typeface="Arial"/>
              <a:ea typeface="Arial"/>
              <a:cs typeface="Arial"/>
              <a:sym typeface="Arial"/>
            </a:endParaRPr>
          </a:p>
          <a:p>
            <a:pPr indent="0" lvl="0" marL="38100" marR="30480" rtl="0" algn="l">
              <a:lnSpc>
                <a:spcPct val="117241"/>
              </a:lnSpc>
              <a:spcBef>
                <a:spcPts val="280"/>
              </a:spcBef>
              <a:spcAft>
                <a:spcPts val="0"/>
              </a:spcAft>
              <a:buNone/>
            </a:pPr>
            <a:r>
              <a:t/>
            </a:r>
            <a:endParaRPr sz="2900">
              <a:solidFill>
                <a:schemeClr val="dk1"/>
              </a:solidFill>
              <a:latin typeface="Arial"/>
              <a:ea typeface="Arial"/>
              <a:cs typeface="Arial"/>
              <a:sym typeface="Arial"/>
            </a:endParaRPr>
          </a:p>
          <a:p>
            <a:pPr indent="0" lvl="0" marL="38100" marR="297180" rtl="0" algn="l">
              <a:lnSpc>
                <a:spcPct val="100600"/>
              </a:lnSpc>
              <a:spcBef>
                <a:spcPts val="600"/>
              </a:spcBef>
              <a:spcAft>
                <a:spcPts val="0"/>
              </a:spcAft>
              <a:buNone/>
            </a:pPr>
            <a:r>
              <a:rPr i="1" lang="en-US" sz="2900">
                <a:solidFill>
                  <a:schemeClr val="dk1"/>
                </a:solidFill>
                <a:latin typeface="Arial"/>
                <a:ea typeface="Arial"/>
                <a:cs typeface="Arial"/>
                <a:sym typeface="Arial"/>
              </a:rPr>
              <a:t>High pass filters </a:t>
            </a:r>
            <a:r>
              <a:rPr lang="en-US" sz="2900">
                <a:solidFill>
                  <a:schemeClr val="dk1"/>
                </a:solidFill>
                <a:latin typeface="Arial"/>
                <a:ea typeface="Arial"/>
                <a:cs typeface="Arial"/>
                <a:sym typeface="Arial"/>
              </a:rPr>
              <a:t>– only pass the high frequencies,  drop the low ones</a:t>
            </a:r>
            <a:endParaRPr sz="2900">
              <a:solidFill>
                <a:schemeClr val="dk1"/>
              </a:solidFill>
              <a:latin typeface="Arial"/>
              <a:ea typeface="Arial"/>
              <a:cs typeface="Arial"/>
              <a:sym typeface="Arial"/>
            </a:endParaRPr>
          </a:p>
          <a:p>
            <a:pPr indent="0" lvl="0" marL="38100" marR="297180" rtl="0" algn="l">
              <a:lnSpc>
                <a:spcPct val="100600"/>
              </a:lnSpc>
              <a:spcBef>
                <a:spcPts val="600"/>
              </a:spcBef>
              <a:spcAft>
                <a:spcPts val="0"/>
              </a:spcAft>
              <a:buNone/>
            </a:pPr>
            <a:r>
              <a:t/>
            </a:r>
            <a:endParaRPr sz="2900">
              <a:solidFill>
                <a:schemeClr val="dk1"/>
              </a:solidFill>
              <a:latin typeface="Arial"/>
              <a:ea typeface="Arial"/>
              <a:cs typeface="Arial"/>
              <a:sym typeface="Arial"/>
            </a:endParaRPr>
          </a:p>
          <a:p>
            <a:pPr indent="0" lvl="0" marL="38100" marR="215265" rtl="0" algn="l">
              <a:lnSpc>
                <a:spcPct val="100600"/>
              </a:lnSpc>
              <a:spcBef>
                <a:spcPts val="695"/>
              </a:spcBef>
              <a:spcAft>
                <a:spcPts val="0"/>
              </a:spcAft>
              <a:buNone/>
            </a:pPr>
            <a:r>
              <a:rPr lang="en-US" sz="2900">
                <a:solidFill>
                  <a:schemeClr val="dk1"/>
                </a:solidFill>
                <a:latin typeface="Arial"/>
                <a:ea typeface="Arial"/>
                <a:cs typeface="Arial"/>
                <a:sym typeface="Arial"/>
              </a:rPr>
              <a:t>High pass frequencies are precisely the reverse of  low pass filters, so:</a:t>
            </a:r>
            <a:endParaRPr sz="2900">
              <a:solidFill>
                <a:schemeClr val="dk1"/>
              </a:solidFill>
              <a:latin typeface="Arial"/>
              <a:ea typeface="Arial"/>
              <a:cs typeface="Arial"/>
              <a:sym typeface="Arial"/>
            </a:endParaRPr>
          </a:p>
          <a:p>
            <a:pPr indent="0" lvl="0" marL="38100" marR="215265" rtl="0" algn="l">
              <a:lnSpc>
                <a:spcPct val="100600"/>
              </a:lnSpc>
              <a:spcBef>
                <a:spcPts val="695"/>
              </a:spcBef>
              <a:spcAft>
                <a:spcPts val="0"/>
              </a:spcAft>
              <a:buNone/>
            </a:pPr>
            <a:r>
              <a:t/>
            </a:r>
            <a:endParaRPr sz="2900">
              <a:solidFill>
                <a:schemeClr val="dk1"/>
              </a:solidFill>
              <a:latin typeface="Arial"/>
              <a:ea typeface="Arial"/>
              <a:cs typeface="Arial"/>
              <a:sym typeface="Arial"/>
            </a:endParaRPr>
          </a:p>
          <a:p>
            <a:pPr indent="0" lvl="0" marL="952500" marR="0" rtl="0" algn="l">
              <a:lnSpc>
                <a:spcPct val="100000"/>
              </a:lnSpc>
              <a:spcBef>
                <a:spcPts val="620"/>
              </a:spcBef>
              <a:spcAft>
                <a:spcPts val="0"/>
              </a:spcAft>
              <a:buNone/>
            </a:pPr>
            <a:r>
              <a:rPr i="1" lang="en-US" sz="2900">
                <a:solidFill>
                  <a:schemeClr val="dk1"/>
                </a:solidFill>
                <a:latin typeface="Times New Roman"/>
                <a:ea typeface="Times New Roman"/>
                <a:cs typeface="Times New Roman"/>
                <a:sym typeface="Times New Roman"/>
              </a:rPr>
              <a:t>H</a:t>
            </a:r>
            <a:r>
              <a:rPr baseline="-25000" i="1" lang="en-US" sz="2850">
                <a:solidFill>
                  <a:schemeClr val="dk1"/>
                </a:solidFill>
                <a:latin typeface="Times New Roman"/>
                <a:ea typeface="Times New Roman"/>
                <a:cs typeface="Times New Roman"/>
                <a:sym typeface="Times New Roman"/>
              </a:rPr>
              <a:t>hp</a:t>
            </a:r>
            <a:r>
              <a:rPr i="1" lang="en-US" sz="2900">
                <a:solidFill>
                  <a:schemeClr val="dk1"/>
                </a:solidFill>
                <a:latin typeface="Times New Roman"/>
                <a:ea typeface="Times New Roman"/>
                <a:cs typeface="Times New Roman"/>
                <a:sym typeface="Times New Roman"/>
              </a:rPr>
              <a:t>(u, v) = 1 – H</a:t>
            </a:r>
            <a:r>
              <a:rPr baseline="-25000" i="1" lang="en-US" sz="2850">
                <a:solidFill>
                  <a:schemeClr val="dk1"/>
                </a:solidFill>
                <a:latin typeface="Times New Roman"/>
                <a:ea typeface="Times New Roman"/>
                <a:cs typeface="Times New Roman"/>
                <a:sym typeface="Times New Roman"/>
              </a:rPr>
              <a:t>lp</a:t>
            </a:r>
            <a:r>
              <a:rPr i="1" lang="en-US" sz="2900">
                <a:solidFill>
                  <a:schemeClr val="dk1"/>
                </a:solidFill>
                <a:latin typeface="Times New Roman"/>
                <a:ea typeface="Times New Roman"/>
                <a:cs typeface="Times New Roman"/>
                <a:sym typeface="Times New Roman"/>
              </a:rPr>
              <a:t>(u, v)</a:t>
            </a:r>
            <a:endParaRPr sz="29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7"/>
          <p:cNvSpPr txBox="1"/>
          <p:nvPr>
            <p:ph type="title"/>
          </p:nvPr>
        </p:nvSpPr>
        <p:spPr>
          <a:xfrm>
            <a:off x="742441" y="375920"/>
            <a:ext cx="561594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Ideal	High	Pass Filters</a:t>
            </a:r>
            <a:endParaRPr sz="4400"/>
          </a:p>
        </p:txBody>
      </p:sp>
      <p:sp>
        <p:nvSpPr>
          <p:cNvPr id="364" name="Google Shape;364;p27"/>
          <p:cNvSpPr txBox="1"/>
          <p:nvPr/>
        </p:nvSpPr>
        <p:spPr>
          <a:xfrm>
            <a:off x="729741" y="1633220"/>
            <a:ext cx="6165215" cy="902969"/>
          </a:xfrm>
          <a:prstGeom prst="rect">
            <a:avLst/>
          </a:prstGeom>
          <a:noFill/>
          <a:ln>
            <a:noFill/>
          </a:ln>
        </p:spPr>
        <p:txBody>
          <a:bodyPr anchorCtr="0" anchor="t" bIns="0" lIns="0" spcFirstLastPara="1" rIns="0" wrap="square" tIns="12700">
            <a:spAutoFit/>
          </a:bodyPr>
          <a:lstStyle/>
          <a:p>
            <a:pPr indent="0" lvl="0" marL="25400" marR="0" rtl="0" algn="l">
              <a:lnSpc>
                <a:spcPct val="107758"/>
              </a:lnSpc>
              <a:spcBef>
                <a:spcPts val="0"/>
              </a:spcBef>
              <a:spcAft>
                <a:spcPts val="0"/>
              </a:spcAft>
              <a:buNone/>
            </a:pPr>
            <a:r>
              <a:rPr lang="en-US" sz="2900">
                <a:solidFill>
                  <a:schemeClr val="dk1"/>
                </a:solidFill>
                <a:latin typeface="Arial"/>
                <a:ea typeface="Arial"/>
                <a:cs typeface="Arial"/>
                <a:sym typeface="Arial"/>
              </a:rPr>
              <a:t>The ideal high pass filter is given as:</a:t>
            </a:r>
            <a:endParaRPr sz="2900">
              <a:solidFill>
                <a:schemeClr val="dk1"/>
              </a:solidFill>
              <a:latin typeface="Arial"/>
              <a:ea typeface="Arial"/>
              <a:cs typeface="Arial"/>
              <a:sym typeface="Arial"/>
            </a:endParaRPr>
          </a:p>
          <a:p>
            <a:pPr indent="0" lvl="0" marL="909319" marR="0" rtl="0" algn="ctr">
              <a:lnSpc>
                <a:spcPct val="73140"/>
              </a:lnSpc>
              <a:spcBef>
                <a:spcPts val="0"/>
              </a:spcBef>
              <a:spcAft>
                <a:spcPts val="0"/>
              </a:spcAft>
              <a:buNone/>
            </a:pPr>
            <a:r>
              <a:rPr baseline="-25000" i="1" lang="en-US" sz="5175">
                <a:solidFill>
                  <a:schemeClr val="dk1"/>
                </a:solidFill>
                <a:latin typeface="Times New Roman"/>
                <a:ea typeface="Times New Roman"/>
                <a:cs typeface="Times New Roman"/>
                <a:sym typeface="Times New Roman"/>
              </a:rPr>
              <a:t>H </a:t>
            </a:r>
            <a:r>
              <a:rPr baseline="-25000" lang="en-US" sz="5175">
                <a:solidFill>
                  <a:schemeClr val="dk1"/>
                </a:solidFill>
                <a:latin typeface="Times New Roman"/>
                <a:ea typeface="Times New Roman"/>
                <a:cs typeface="Times New Roman"/>
                <a:sym typeface="Times New Roman"/>
              </a:rPr>
              <a:t>(</a:t>
            </a:r>
            <a:r>
              <a:rPr baseline="-25000" i="1" lang="en-US" sz="5175">
                <a:solidFill>
                  <a:schemeClr val="dk1"/>
                </a:solidFill>
                <a:latin typeface="Times New Roman"/>
                <a:ea typeface="Times New Roman"/>
                <a:cs typeface="Times New Roman"/>
                <a:sym typeface="Times New Roman"/>
              </a:rPr>
              <a:t>u</a:t>
            </a:r>
            <a:r>
              <a:rPr baseline="-25000" lang="en-US" sz="5175">
                <a:solidFill>
                  <a:schemeClr val="dk1"/>
                </a:solidFill>
                <a:latin typeface="Times New Roman"/>
                <a:ea typeface="Times New Roman"/>
                <a:cs typeface="Times New Roman"/>
                <a:sym typeface="Times New Roman"/>
              </a:rPr>
              <a:t>, </a:t>
            </a:r>
            <a:r>
              <a:rPr baseline="-25000" i="1" lang="en-US" sz="5175">
                <a:solidFill>
                  <a:schemeClr val="dk1"/>
                </a:solidFill>
                <a:latin typeface="Times New Roman"/>
                <a:ea typeface="Times New Roman"/>
                <a:cs typeface="Times New Roman"/>
                <a:sym typeface="Times New Roman"/>
              </a:rPr>
              <a:t>v</a:t>
            </a:r>
            <a:r>
              <a:rPr baseline="-25000" lang="en-US" sz="5175">
                <a:solidFill>
                  <a:schemeClr val="dk1"/>
                </a:solidFill>
                <a:latin typeface="Times New Roman"/>
                <a:ea typeface="Times New Roman"/>
                <a:cs typeface="Times New Roman"/>
                <a:sym typeface="Times New Roman"/>
              </a:rPr>
              <a:t>) </a:t>
            </a:r>
            <a:r>
              <a:rPr baseline="-25000" lang="en-US" sz="5175">
                <a:solidFill>
                  <a:schemeClr val="dk1"/>
                </a:solidFill>
                <a:latin typeface="Noto Sans Symbols"/>
                <a:ea typeface="Noto Sans Symbols"/>
                <a:cs typeface="Noto Sans Symbols"/>
                <a:sym typeface="Noto Sans Symbols"/>
              </a:rPr>
              <a:t>=</a:t>
            </a:r>
            <a:r>
              <a:rPr baseline="-25000" lang="en-US" sz="5175">
                <a:solidFill>
                  <a:schemeClr val="dk1"/>
                </a:solidFill>
                <a:latin typeface="Times New Roman"/>
                <a:ea typeface="Times New Roman"/>
                <a:cs typeface="Times New Roman"/>
                <a:sym typeface="Times New Roman"/>
              </a:rPr>
              <a:t> </a:t>
            </a:r>
            <a:r>
              <a:rPr baseline="-25000" lang="en-US" sz="5175">
                <a:solidFill>
                  <a:schemeClr val="dk1"/>
                </a:solidFill>
                <a:latin typeface="Noto Sans Symbols"/>
                <a:ea typeface="Noto Sans Symbols"/>
                <a:cs typeface="Noto Sans Symbols"/>
                <a:sym typeface="Noto Sans Symbols"/>
              </a:rPr>
              <a:t>⎧⎧</a:t>
            </a:r>
            <a:r>
              <a:rPr lang="en-US" sz="3450">
                <a:solidFill>
                  <a:schemeClr val="dk1"/>
                </a:solidFill>
                <a:latin typeface="Times New Roman"/>
                <a:ea typeface="Times New Roman"/>
                <a:cs typeface="Times New Roman"/>
                <a:sym typeface="Times New Roman"/>
              </a:rPr>
              <a:t>0	if </a:t>
            </a:r>
            <a:r>
              <a:rPr i="1" lang="en-US" sz="3450">
                <a:solidFill>
                  <a:schemeClr val="dk1"/>
                </a:solidFill>
                <a:latin typeface="Times New Roman"/>
                <a:ea typeface="Times New Roman"/>
                <a:cs typeface="Times New Roman"/>
                <a:sym typeface="Times New Roman"/>
              </a:rPr>
              <a:t>D</a:t>
            </a:r>
            <a:r>
              <a:rPr lang="en-US" sz="3450">
                <a:solidFill>
                  <a:schemeClr val="dk1"/>
                </a:solidFill>
                <a:latin typeface="Times New Roman"/>
                <a:ea typeface="Times New Roman"/>
                <a:cs typeface="Times New Roman"/>
                <a:sym typeface="Times New Roman"/>
              </a:rPr>
              <a:t>(</a:t>
            </a:r>
            <a:r>
              <a:rPr i="1" lang="en-US" sz="3450">
                <a:solidFill>
                  <a:schemeClr val="dk1"/>
                </a:solidFill>
                <a:latin typeface="Times New Roman"/>
                <a:ea typeface="Times New Roman"/>
                <a:cs typeface="Times New Roman"/>
                <a:sym typeface="Times New Roman"/>
              </a:rPr>
              <a:t>u</a:t>
            </a:r>
            <a:r>
              <a:rPr lang="en-US" sz="3450">
                <a:solidFill>
                  <a:schemeClr val="dk1"/>
                </a:solidFill>
                <a:latin typeface="Times New Roman"/>
                <a:ea typeface="Times New Roman"/>
                <a:cs typeface="Times New Roman"/>
                <a:sym typeface="Times New Roman"/>
              </a:rPr>
              <a:t>, </a:t>
            </a:r>
            <a:r>
              <a:rPr i="1" lang="en-US" sz="3450">
                <a:solidFill>
                  <a:schemeClr val="dk1"/>
                </a:solidFill>
                <a:latin typeface="Times New Roman"/>
                <a:ea typeface="Times New Roman"/>
                <a:cs typeface="Times New Roman"/>
                <a:sym typeface="Times New Roman"/>
              </a:rPr>
              <a:t>v</a:t>
            </a:r>
            <a:r>
              <a:rPr lang="en-US" sz="3450">
                <a:solidFill>
                  <a:schemeClr val="dk1"/>
                </a:solidFill>
                <a:latin typeface="Times New Roman"/>
                <a:ea typeface="Times New Roman"/>
                <a:cs typeface="Times New Roman"/>
                <a:sym typeface="Times New Roman"/>
              </a:rPr>
              <a:t>) </a:t>
            </a:r>
            <a:r>
              <a:rPr lang="en-US" sz="3450">
                <a:solidFill>
                  <a:schemeClr val="dk1"/>
                </a:solidFill>
                <a:latin typeface="Noto Sans Symbols"/>
                <a:ea typeface="Noto Sans Symbols"/>
                <a:cs typeface="Noto Sans Symbols"/>
                <a:sym typeface="Noto Sans Symbols"/>
              </a:rPr>
              <a:t>≤</a:t>
            </a:r>
            <a:r>
              <a:rPr lang="en-US" sz="3450">
                <a:solidFill>
                  <a:schemeClr val="dk1"/>
                </a:solidFill>
                <a:latin typeface="Times New Roman"/>
                <a:ea typeface="Times New Roman"/>
                <a:cs typeface="Times New Roman"/>
                <a:sym typeface="Times New Roman"/>
              </a:rPr>
              <a:t> </a:t>
            </a:r>
            <a:r>
              <a:rPr i="1" lang="en-US" sz="3450">
                <a:solidFill>
                  <a:schemeClr val="dk1"/>
                </a:solidFill>
                <a:latin typeface="Times New Roman"/>
                <a:ea typeface="Times New Roman"/>
                <a:cs typeface="Times New Roman"/>
                <a:sym typeface="Times New Roman"/>
              </a:rPr>
              <a:t>D</a:t>
            </a:r>
            <a:r>
              <a:rPr baseline="-25000" lang="en-US" sz="3000">
                <a:solidFill>
                  <a:schemeClr val="dk1"/>
                </a:solidFill>
                <a:latin typeface="Times New Roman"/>
                <a:ea typeface="Times New Roman"/>
                <a:cs typeface="Times New Roman"/>
                <a:sym typeface="Times New Roman"/>
              </a:rPr>
              <a:t>0</a:t>
            </a:r>
            <a:endParaRPr baseline="-25000" sz="3000">
              <a:solidFill>
                <a:schemeClr val="dk1"/>
              </a:solidFill>
              <a:latin typeface="Times New Roman"/>
              <a:ea typeface="Times New Roman"/>
              <a:cs typeface="Times New Roman"/>
              <a:sym typeface="Times New Roman"/>
            </a:endParaRPr>
          </a:p>
        </p:txBody>
      </p:sp>
      <p:sp>
        <p:nvSpPr>
          <p:cNvPr id="365" name="Google Shape;365;p27"/>
          <p:cNvSpPr txBox="1"/>
          <p:nvPr/>
        </p:nvSpPr>
        <p:spPr>
          <a:xfrm>
            <a:off x="717041" y="3525520"/>
            <a:ext cx="6777990" cy="467359"/>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None/>
            </a:pPr>
            <a:r>
              <a:rPr lang="en-US" sz="2900">
                <a:solidFill>
                  <a:schemeClr val="dk1"/>
                </a:solidFill>
                <a:latin typeface="Arial"/>
                <a:ea typeface="Arial"/>
                <a:cs typeface="Arial"/>
                <a:sym typeface="Arial"/>
              </a:rPr>
              <a:t>where D</a:t>
            </a:r>
            <a:r>
              <a:rPr baseline="-25000" lang="en-US" sz="2850">
                <a:solidFill>
                  <a:schemeClr val="dk1"/>
                </a:solidFill>
                <a:latin typeface="Arial"/>
                <a:ea typeface="Arial"/>
                <a:cs typeface="Arial"/>
                <a:sym typeface="Arial"/>
              </a:rPr>
              <a:t>0 </a:t>
            </a:r>
            <a:r>
              <a:rPr lang="en-US" sz="2900">
                <a:solidFill>
                  <a:schemeClr val="dk1"/>
                </a:solidFill>
                <a:latin typeface="Arial"/>
                <a:ea typeface="Arial"/>
                <a:cs typeface="Arial"/>
                <a:sym typeface="Arial"/>
              </a:rPr>
              <a:t>is the cut off distance as before</a:t>
            </a:r>
            <a:endParaRPr sz="2900">
              <a:solidFill>
                <a:schemeClr val="dk1"/>
              </a:solidFill>
              <a:latin typeface="Arial"/>
              <a:ea typeface="Arial"/>
              <a:cs typeface="Arial"/>
              <a:sym typeface="Arial"/>
            </a:endParaRPr>
          </a:p>
        </p:txBody>
      </p:sp>
      <p:sp>
        <p:nvSpPr>
          <p:cNvPr id="366" name="Google Shape;366;p27"/>
          <p:cNvSpPr/>
          <p:nvPr/>
        </p:nvSpPr>
        <p:spPr>
          <a:xfrm>
            <a:off x="1016354" y="4151280"/>
            <a:ext cx="7521121" cy="212094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27"/>
          <p:cNvSpPr txBox="1"/>
          <p:nvPr/>
        </p:nvSpPr>
        <p:spPr>
          <a:xfrm>
            <a:off x="3491987" y="2756809"/>
            <a:ext cx="260350" cy="55118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3450">
                <a:solidFill>
                  <a:schemeClr val="dk1"/>
                </a:solidFill>
                <a:latin typeface="Noto Sans Symbols"/>
                <a:ea typeface="Noto Sans Symbols"/>
                <a:cs typeface="Noto Sans Symbols"/>
                <a:sym typeface="Noto Sans Symbols"/>
              </a:rPr>
              <a:t>⎩⎩</a:t>
            </a:r>
            <a:endParaRPr sz="3450">
              <a:solidFill>
                <a:schemeClr val="dk1"/>
              </a:solidFill>
              <a:latin typeface="Noto Sans Symbols"/>
              <a:ea typeface="Noto Sans Symbols"/>
              <a:cs typeface="Noto Sans Symbols"/>
              <a:sym typeface="Noto Sans Symbols"/>
            </a:endParaRPr>
          </a:p>
        </p:txBody>
      </p:sp>
      <p:sp>
        <p:nvSpPr>
          <p:cNvPr id="368" name="Google Shape;368;p27"/>
          <p:cNvSpPr txBox="1"/>
          <p:nvPr/>
        </p:nvSpPr>
        <p:spPr>
          <a:xfrm>
            <a:off x="6656295" y="2933023"/>
            <a:ext cx="164465" cy="33210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0</a:t>
            </a:r>
            <a:endParaRPr sz="2000">
              <a:solidFill>
                <a:schemeClr val="dk1"/>
              </a:solidFill>
              <a:latin typeface="Times New Roman"/>
              <a:ea typeface="Times New Roman"/>
              <a:cs typeface="Times New Roman"/>
              <a:sym typeface="Times New Roman"/>
            </a:endParaRPr>
          </a:p>
        </p:txBody>
      </p:sp>
      <p:sp>
        <p:nvSpPr>
          <p:cNvPr id="369" name="Google Shape;369;p27"/>
          <p:cNvSpPr txBox="1"/>
          <p:nvPr/>
        </p:nvSpPr>
        <p:spPr>
          <a:xfrm>
            <a:off x="3466587" y="2641394"/>
            <a:ext cx="3260725" cy="551180"/>
          </a:xfrm>
          <a:prstGeom prst="rect">
            <a:avLst/>
          </a:prstGeom>
          <a:noFill/>
          <a:ln>
            <a:noFill/>
          </a:ln>
        </p:spPr>
        <p:txBody>
          <a:bodyPr anchorCtr="0" anchor="t" bIns="0" lIns="0" spcFirstLastPara="1" rIns="0" wrap="square" tIns="12050">
            <a:spAutoFit/>
          </a:bodyPr>
          <a:lstStyle/>
          <a:p>
            <a:pPr indent="0" lvl="0" marL="38100" marR="0" rtl="0" algn="l">
              <a:lnSpc>
                <a:spcPct val="100000"/>
              </a:lnSpc>
              <a:spcBef>
                <a:spcPts val="0"/>
              </a:spcBef>
              <a:spcAft>
                <a:spcPts val="0"/>
              </a:spcAft>
              <a:buNone/>
            </a:pPr>
            <a:r>
              <a:rPr baseline="30000" lang="en-US" sz="5175">
                <a:solidFill>
                  <a:schemeClr val="dk1"/>
                </a:solidFill>
                <a:latin typeface="Noto Sans Symbols"/>
                <a:ea typeface="Noto Sans Symbols"/>
                <a:cs typeface="Noto Sans Symbols"/>
                <a:sym typeface="Noto Sans Symbols"/>
              </a:rPr>
              <a:t>⎨⎨</a:t>
            </a:r>
            <a:r>
              <a:rPr lang="en-US" sz="3450">
                <a:solidFill>
                  <a:schemeClr val="dk1"/>
                </a:solidFill>
                <a:latin typeface="Times New Roman"/>
                <a:ea typeface="Times New Roman"/>
                <a:cs typeface="Times New Roman"/>
                <a:sym typeface="Times New Roman"/>
              </a:rPr>
              <a:t>1 if </a:t>
            </a:r>
            <a:r>
              <a:rPr i="1" lang="en-US" sz="3450">
                <a:solidFill>
                  <a:schemeClr val="dk1"/>
                </a:solidFill>
                <a:latin typeface="Times New Roman"/>
                <a:ea typeface="Times New Roman"/>
                <a:cs typeface="Times New Roman"/>
                <a:sym typeface="Times New Roman"/>
              </a:rPr>
              <a:t>D</a:t>
            </a:r>
            <a:r>
              <a:rPr lang="en-US" sz="3450">
                <a:solidFill>
                  <a:schemeClr val="dk1"/>
                </a:solidFill>
                <a:latin typeface="Times New Roman"/>
                <a:ea typeface="Times New Roman"/>
                <a:cs typeface="Times New Roman"/>
                <a:sym typeface="Times New Roman"/>
              </a:rPr>
              <a:t>(</a:t>
            </a:r>
            <a:r>
              <a:rPr i="1" lang="en-US" sz="3450">
                <a:solidFill>
                  <a:schemeClr val="dk1"/>
                </a:solidFill>
                <a:latin typeface="Times New Roman"/>
                <a:ea typeface="Times New Roman"/>
                <a:cs typeface="Times New Roman"/>
                <a:sym typeface="Times New Roman"/>
              </a:rPr>
              <a:t>u</a:t>
            </a:r>
            <a:r>
              <a:rPr lang="en-US" sz="3450">
                <a:solidFill>
                  <a:schemeClr val="dk1"/>
                </a:solidFill>
                <a:latin typeface="Times New Roman"/>
                <a:ea typeface="Times New Roman"/>
                <a:cs typeface="Times New Roman"/>
                <a:sym typeface="Times New Roman"/>
              </a:rPr>
              <a:t>, </a:t>
            </a:r>
            <a:r>
              <a:rPr i="1" lang="en-US" sz="3450">
                <a:solidFill>
                  <a:schemeClr val="dk1"/>
                </a:solidFill>
                <a:latin typeface="Times New Roman"/>
                <a:ea typeface="Times New Roman"/>
                <a:cs typeface="Times New Roman"/>
                <a:sym typeface="Times New Roman"/>
              </a:rPr>
              <a:t>v</a:t>
            </a:r>
            <a:r>
              <a:rPr lang="en-US" sz="3450">
                <a:solidFill>
                  <a:schemeClr val="dk1"/>
                </a:solidFill>
                <a:latin typeface="Times New Roman"/>
                <a:ea typeface="Times New Roman"/>
                <a:cs typeface="Times New Roman"/>
                <a:sym typeface="Times New Roman"/>
              </a:rPr>
              <a:t>) </a:t>
            </a:r>
            <a:r>
              <a:rPr lang="en-US" sz="3450">
                <a:solidFill>
                  <a:schemeClr val="dk1"/>
                </a:solidFill>
                <a:latin typeface="Noto Sans Symbols"/>
                <a:ea typeface="Noto Sans Symbols"/>
                <a:cs typeface="Noto Sans Symbols"/>
                <a:sym typeface="Noto Sans Symbols"/>
              </a:rPr>
              <a:t>&gt;</a:t>
            </a:r>
            <a:r>
              <a:rPr lang="en-US" sz="3450">
                <a:solidFill>
                  <a:schemeClr val="dk1"/>
                </a:solidFill>
                <a:latin typeface="Times New Roman"/>
                <a:ea typeface="Times New Roman"/>
                <a:cs typeface="Times New Roman"/>
                <a:sym typeface="Times New Roman"/>
              </a:rPr>
              <a:t> </a:t>
            </a:r>
            <a:r>
              <a:rPr i="1" lang="en-US" sz="3450">
                <a:solidFill>
                  <a:schemeClr val="dk1"/>
                </a:solidFill>
                <a:latin typeface="Times New Roman"/>
                <a:ea typeface="Times New Roman"/>
                <a:cs typeface="Times New Roman"/>
                <a:sym typeface="Times New Roman"/>
              </a:rPr>
              <a:t>D</a:t>
            </a:r>
            <a:endParaRPr sz="3450">
              <a:solidFill>
                <a:schemeClr val="dk1"/>
              </a:solidFill>
              <a:latin typeface="Times New Roman"/>
              <a:ea typeface="Times New Roman"/>
              <a:cs typeface="Times New Roman"/>
              <a:sym typeface="Times New Roman"/>
            </a:endParaRPr>
          </a:p>
        </p:txBody>
      </p:sp>
      <p:grpSp>
        <p:nvGrpSpPr>
          <p:cNvPr id="370" name="Google Shape;370;p27"/>
          <p:cNvGrpSpPr/>
          <p:nvPr/>
        </p:nvGrpSpPr>
        <p:grpSpPr>
          <a:xfrm>
            <a:off x="-2318" y="1631156"/>
            <a:ext cx="279274" cy="5226843"/>
            <a:chOff x="-2318" y="1631156"/>
            <a:chExt cx="279274" cy="5226843"/>
          </a:xfrm>
        </p:grpSpPr>
        <p:sp>
          <p:nvSpPr>
            <p:cNvPr id="371" name="Google Shape;371;p27"/>
            <p:cNvSpPr/>
            <p:nvPr/>
          </p:nvSpPr>
          <p:spPr>
            <a:xfrm>
              <a:off x="0" y="6663531"/>
              <a:ext cx="276956" cy="19446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27"/>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27"/>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4" name="Google Shape;374;p27"/>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8"/>
          <p:cNvSpPr/>
          <p:nvPr/>
        </p:nvSpPr>
        <p:spPr>
          <a:xfrm>
            <a:off x="3541712" y="1311275"/>
            <a:ext cx="2732087" cy="2492375"/>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28"/>
          <p:cNvSpPr txBox="1"/>
          <p:nvPr>
            <p:ph type="title"/>
          </p:nvPr>
        </p:nvSpPr>
        <p:spPr>
          <a:xfrm>
            <a:off x="739140" y="375920"/>
            <a:ext cx="775843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Ideal	High	Pass Filters (cont…)</a:t>
            </a:r>
            <a:endParaRPr sz="4400"/>
          </a:p>
        </p:txBody>
      </p:sp>
      <p:sp>
        <p:nvSpPr>
          <p:cNvPr id="381" name="Google Shape;381;p28"/>
          <p:cNvSpPr/>
          <p:nvPr/>
        </p:nvSpPr>
        <p:spPr>
          <a:xfrm>
            <a:off x="1546851" y="3896037"/>
            <a:ext cx="6718633" cy="204185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28"/>
          <p:cNvSpPr txBox="1"/>
          <p:nvPr/>
        </p:nvSpPr>
        <p:spPr>
          <a:xfrm>
            <a:off x="1694307" y="5908357"/>
            <a:ext cx="1855470" cy="845819"/>
          </a:xfrm>
          <a:prstGeom prst="rect">
            <a:avLst/>
          </a:prstGeom>
          <a:noFill/>
          <a:ln>
            <a:noFill/>
          </a:ln>
        </p:spPr>
        <p:txBody>
          <a:bodyPr anchorCtr="0" anchor="t" bIns="0" lIns="0" spcFirstLastPara="1" rIns="0" wrap="square" tIns="13950">
            <a:spAutoFit/>
          </a:bodyPr>
          <a:lstStyle/>
          <a:p>
            <a:pPr indent="-634" lvl="0" marL="38100" marR="30480" rtl="0" algn="ctr">
              <a:lnSpc>
                <a:spcPct val="99500"/>
              </a:lnSpc>
              <a:spcBef>
                <a:spcPts val="0"/>
              </a:spcBef>
              <a:spcAft>
                <a:spcPts val="0"/>
              </a:spcAft>
              <a:buNone/>
            </a:pPr>
            <a:r>
              <a:rPr lang="en-US" sz="1800">
                <a:solidFill>
                  <a:schemeClr val="dk1"/>
                </a:solidFill>
                <a:latin typeface="Arial"/>
                <a:ea typeface="Arial"/>
                <a:cs typeface="Arial"/>
                <a:sym typeface="Arial"/>
              </a:rPr>
              <a:t>Results of ideal  high pass filtering  with </a:t>
            </a:r>
            <a:r>
              <a:rPr i="1" lang="en-US" sz="1800">
                <a:solidFill>
                  <a:schemeClr val="dk1"/>
                </a:solidFill>
                <a:latin typeface="Times New Roman"/>
                <a:ea typeface="Times New Roman"/>
                <a:cs typeface="Times New Roman"/>
                <a:sym typeface="Times New Roman"/>
              </a:rPr>
              <a:t>D</a:t>
            </a:r>
            <a:r>
              <a:rPr baseline="-25000" i="1" lang="en-US" sz="1800">
                <a:solidFill>
                  <a:schemeClr val="dk1"/>
                </a:solidFill>
                <a:latin typeface="Times New Roman"/>
                <a:ea typeface="Times New Roman"/>
                <a:cs typeface="Times New Roman"/>
                <a:sym typeface="Times New Roman"/>
              </a:rPr>
              <a:t>0 </a:t>
            </a:r>
            <a:r>
              <a:rPr lang="en-US" sz="1800">
                <a:solidFill>
                  <a:schemeClr val="dk1"/>
                </a:solidFill>
                <a:latin typeface="Arial"/>
                <a:ea typeface="Arial"/>
                <a:cs typeface="Arial"/>
                <a:sym typeface="Arial"/>
              </a:rPr>
              <a:t>= 15</a:t>
            </a:r>
            <a:endParaRPr sz="1800">
              <a:solidFill>
                <a:schemeClr val="dk1"/>
              </a:solidFill>
              <a:latin typeface="Arial"/>
              <a:ea typeface="Arial"/>
              <a:cs typeface="Arial"/>
              <a:sym typeface="Arial"/>
            </a:endParaRPr>
          </a:p>
        </p:txBody>
      </p:sp>
      <p:sp>
        <p:nvSpPr>
          <p:cNvPr id="383" name="Google Shape;383;p28"/>
          <p:cNvSpPr txBox="1"/>
          <p:nvPr/>
        </p:nvSpPr>
        <p:spPr>
          <a:xfrm>
            <a:off x="3962844" y="5908357"/>
            <a:ext cx="1855470" cy="845819"/>
          </a:xfrm>
          <a:prstGeom prst="rect">
            <a:avLst/>
          </a:prstGeom>
          <a:noFill/>
          <a:ln>
            <a:noFill/>
          </a:ln>
        </p:spPr>
        <p:txBody>
          <a:bodyPr anchorCtr="0" anchor="t" bIns="0" lIns="0" spcFirstLastPara="1" rIns="0" wrap="square" tIns="13950">
            <a:spAutoFit/>
          </a:bodyPr>
          <a:lstStyle/>
          <a:p>
            <a:pPr indent="-634" lvl="0" marL="38100" marR="30480" rtl="0" algn="ctr">
              <a:lnSpc>
                <a:spcPct val="99500"/>
              </a:lnSpc>
              <a:spcBef>
                <a:spcPts val="0"/>
              </a:spcBef>
              <a:spcAft>
                <a:spcPts val="0"/>
              </a:spcAft>
              <a:buNone/>
            </a:pPr>
            <a:r>
              <a:rPr lang="en-US" sz="1800">
                <a:solidFill>
                  <a:schemeClr val="dk1"/>
                </a:solidFill>
                <a:latin typeface="Arial"/>
                <a:ea typeface="Arial"/>
                <a:cs typeface="Arial"/>
                <a:sym typeface="Arial"/>
              </a:rPr>
              <a:t>Results of ideal  high pass filtering  with </a:t>
            </a:r>
            <a:r>
              <a:rPr i="1" lang="en-US" sz="1800">
                <a:solidFill>
                  <a:schemeClr val="dk1"/>
                </a:solidFill>
                <a:latin typeface="Times New Roman"/>
                <a:ea typeface="Times New Roman"/>
                <a:cs typeface="Times New Roman"/>
                <a:sym typeface="Times New Roman"/>
              </a:rPr>
              <a:t>D</a:t>
            </a:r>
            <a:r>
              <a:rPr baseline="-25000" i="1" lang="en-US" sz="1800">
                <a:solidFill>
                  <a:schemeClr val="dk1"/>
                </a:solidFill>
                <a:latin typeface="Times New Roman"/>
                <a:ea typeface="Times New Roman"/>
                <a:cs typeface="Times New Roman"/>
                <a:sym typeface="Times New Roman"/>
              </a:rPr>
              <a:t>0 </a:t>
            </a:r>
            <a:r>
              <a:rPr lang="en-US" sz="1800">
                <a:solidFill>
                  <a:schemeClr val="dk1"/>
                </a:solidFill>
                <a:latin typeface="Arial"/>
                <a:ea typeface="Arial"/>
                <a:cs typeface="Arial"/>
                <a:sym typeface="Arial"/>
              </a:rPr>
              <a:t>= 30</a:t>
            </a:r>
            <a:endParaRPr sz="1800">
              <a:solidFill>
                <a:schemeClr val="dk1"/>
              </a:solidFill>
              <a:latin typeface="Arial"/>
              <a:ea typeface="Arial"/>
              <a:cs typeface="Arial"/>
              <a:sym typeface="Arial"/>
            </a:endParaRPr>
          </a:p>
        </p:txBody>
      </p:sp>
      <p:sp>
        <p:nvSpPr>
          <p:cNvPr id="384" name="Google Shape;384;p28"/>
          <p:cNvSpPr txBox="1"/>
          <p:nvPr/>
        </p:nvSpPr>
        <p:spPr>
          <a:xfrm>
            <a:off x="6231382" y="5908357"/>
            <a:ext cx="1855470" cy="845819"/>
          </a:xfrm>
          <a:prstGeom prst="rect">
            <a:avLst/>
          </a:prstGeom>
          <a:noFill/>
          <a:ln>
            <a:noFill/>
          </a:ln>
        </p:spPr>
        <p:txBody>
          <a:bodyPr anchorCtr="0" anchor="t" bIns="0" lIns="0" spcFirstLastPara="1" rIns="0" wrap="square" tIns="13950">
            <a:spAutoFit/>
          </a:bodyPr>
          <a:lstStyle/>
          <a:p>
            <a:pPr indent="-634" lvl="0" marL="37465" marR="30480" rtl="0" algn="ctr">
              <a:lnSpc>
                <a:spcPct val="99500"/>
              </a:lnSpc>
              <a:spcBef>
                <a:spcPts val="0"/>
              </a:spcBef>
              <a:spcAft>
                <a:spcPts val="0"/>
              </a:spcAft>
              <a:buNone/>
            </a:pPr>
            <a:r>
              <a:rPr lang="en-US" sz="1800">
                <a:solidFill>
                  <a:schemeClr val="dk1"/>
                </a:solidFill>
                <a:latin typeface="Arial"/>
                <a:ea typeface="Arial"/>
                <a:cs typeface="Arial"/>
                <a:sym typeface="Arial"/>
              </a:rPr>
              <a:t>Results of ideal  high pass filtering  with </a:t>
            </a:r>
            <a:r>
              <a:rPr i="1" lang="en-US" sz="1800">
                <a:solidFill>
                  <a:schemeClr val="dk1"/>
                </a:solidFill>
                <a:latin typeface="Times New Roman"/>
                <a:ea typeface="Times New Roman"/>
                <a:cs typeface="Times New Roman"/>
                <a:sym typeface="Times New Roman"/>
              </a:rPr>
              <a:t>D</a:t>
            </a:r>
            <a:r>
              <a:rPr baseline="-25000" i="1" lang="en-US" sz="1800">
                <a:solidFill>
                  <a:schemeClr val="dk1"/>
                </a:solidFill>
                <a:latin typeface="Times New Roman"/>
                <a:ea typeface="Times New Roman"/>
                <a:cs typeface="Times New Roman"/>
                <a:sym typeface="Times New Roman"/>
              </a:rPr>
              <a:t>0 </a:t>
            </a:r>
            <a:r>
              <a:rPr lang="en-US" sz="1800">
                <a:solidFill>
                  <a:schemeClr val="dk1"/>
                </a:solidFill>
                <a:latin typeface="Arial"/>
                <a:ea typeface="Arial"/>
                <a:cs typeface="Arial"/>
                <a:sym typeface="Arial"/>
              </a:rPr>
              <a:t>= 80</a:t>
            </a:r>
            <a:endParaRPr sz="1800">
              <a:solidFill>
                <a:schemeClr val="dk1"/>
              </a:solidFill>
              <a:latin typeface="Arial"/>
              <a:ea typeface="Arial"/>
              <a:cs typeface="Arial"/>
              <a:sym typeface="Arial"/>
            </a:endParaRPr>
          </a:p>
        </p:txBody>
      </p:sp>
      <p:grpSp>
        <p:nvGrpSpPr>
          <p:cNvPr id="385" name="Google Shape;385;p28"/>
          <p:cNvGrpSpPr/>
          <p:nvPr/>
        </p:nvGrpSpPr>
        <p:grpSpPr>
          <a:xfrm>
            <a:off x="-2318" y="1631156"/>
            <a:ext cx="279274" cy="5226843"/>
            <a:chOff x="-2318" y="1631156"/>
            <a:chExt cx="279274" cy="5226843"/>
          </a:xfrm>
        </p:grpSpPr>
        <p:sp>
          <p:nvSpPr>
            <p:cNvPr id="386" name="Google Shape;386;p28"/>
            <p:cNvSpPr/>
            <p:nvPr/>
          </p:nvSpPr>
          <p:spPr>
            <a:xfrm>
              <a:off x="0" y="6663531"/>
              <a:ext cx="276956" cy="194468"/>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28"/>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28"/>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9" name="Google Shape;389;p28"/>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9"/>
          <p:cNvSpPr txBox="1"/>
          <p:nvPr>
            <p:ph type="title"/>
          </p:nvPr>
        </p:nvSpPr>
        <p:spPr>
          <a:xfrm>
            <a:off x="742441" y="375920"/>
            <a:ext cx="7261859"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Butterworth	High	Pass Filters</a:t>
            </a:r>
            <a:endParaRPr sz="4400"/>
          </a:p>
        </p:txBody>
      </p:sp>
      <p:sp>
        <p:nvSpPr>
          <p:cNvPr id="395" name="Google Shape;395;p29"/>
          <p:cNvSpPr txBox="1"/>
          <p:nvPr/>
        </p:nvSpPr>
        <p:spPr>
          <a:xfrm>
            <a:off x="742441" y="1633220"/>
            <a:ext cx="7068184" cy="46735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900">
                <a:solidFill>
                  <a:schemeClr val="dk1"/>
                </a:solidFill>
                <a:latin typeface="Arial"/>
                <a:ea typeface="Arial"/>
                <a:cs typeface="Arial"/>
                <a:sym typeface="Arial"/>
              </a:rPr>
              <a:t>The Butterworth high pass filter is given as:</a:t>
            </a:r>
            <a:endParaRPr sz="2900">
              <a:solidFill>
                <a:schemeClr val="dk1"/>
              </a:solidFill>
              <a:latin typeface="Arial"/>
              <a:ea typeface="Arial"/>
              <a:cs typeface="Arial"/>
              <a:sym typeface="Arial"/>
            </a:endParaRPr>
          </a:p>
        </p:txBody>
      </p:sp>
      <p:sp>
        <p:nvSpPr>
          <p:cNvPr id="396" name="Google Shape;396;p29"/>
          <p:cNvSpPr txBox="1"/>
          <p:nvPr/>
        </p:nvSpPr>
        <p:spPr>
          <a:xfrm>
            <a:off x="717041" y="3525520"/>
            <a:ext cx="8565515" cy="911860"/>
          </a:xfrm>
          <a:prstGeom prst="rect">
            <a:avLst/>
          </a:prstGeom>
          <a:noFill/>
          <a:ln>
            <a:noFill/>
          </a:ln>
        </p:spPr>
        <p:txBody>
          <a:bodyPr anchorCtr="0" anchor="t" bIns="0" lIns="0" spcFirstLastPara="1" rIns="0" wrap="square" tIns="10150">
            <a:spAutoFit/>
          </a:bodyPr>
          <a:lstStyle/>
          <a:p>
            <a:pPr indent="0" lvl="0" marL="38100" marR="30480" rtl="0" algn="l">
              <a:lnSpc>
                <a:spcPct val="100600"/>
              </a:lnSpc>
              <a:spcBef>
                <a:spcPts val="0"/>
              </a:spcBef>
              <a:spcAft>
                <a:spcPts val="0"/>
              </a:spcAft>
              <a:buNone/>
            </a:pPr>
            <a:r>
              <a:rPr lang="en-US" sz="2900">
                <a:solidFill>
                  <a:schemeClr val="dk1"/>
                </a:solidFill>
                <a:latin typeface="Arial"/>
                <a:ea typeface="Arial"/>
                <a:cs typeface="Arial"/>
                <a:sym typeface="Arial"/>
              </a:rPr>
              <a:t>where </a:t>
            </a:r>
            <a:r>
              <a:rPr i="1" lang="en-US" sz="2900">
                <a:solidFill>
                  <a:schemeClr val="dk1"/>
                </a:solidFill>
                <a:latin typeface="Times New Roman"/>
                <a:ea typeface="Times New Roman"/>
                <a:cs typeface="Times New Roman"/>
                <a:sym typeface="Times New Roman"/>
              </a:rPr>
              <a:t>n </a:t>
            </a:r>
            <a:r>
              <a:rPr lang="en-US" sz="2900">
                <a:solidFill>
                  <a:schemeClr val="dk1"/>
                </a:solidFill>
                <a:latin typeface="Arial"/>
                <a:ea typeface="Arial"/>
                <a:cs typeface="Arial"/>
                <a:sym typeface="Arial"/>
              </a:rPr>
              <a:t>is the order and </a:t>
            </a:r>
            <a:r>
              <a:rPr i="1" lang="en-US" sz="2900">
                <a:solidFill>
                  <a:schemeClr val="dk1"/>
                </a:solidFill>
                <a:latin typeface="Times New Roman"/>
                <a:ea typeface="Times New Roman"/>
                <a:cs typeface="Times New Roman"/>
                <a:sym typeface="Times New Roman"/>
              </a:rPr>
              <a:t>D</a:t>
            </a:r>
            <a:r>
              <a:rPr baseline="-25000" i="1" lang="en-US" sz="2850">
                <a:solidFill>
                  <a:schemeClr val="dk1"/>
                </a:solidFill>
                <a:latin typeface="Times New Roman"/>
                <a:ea typeface="Times New Roman"/>
                <a:cs typeface="Times New Roman"/>
                <a:sym typeface="Times New Roman"/>
              </a:rPr>
              <a:t>0 </a:t>
            </a:r>
            <a:r>
              <a:rPr lang="en-US" sz="2900">
                <a:solidFill>
                  <a:schemeClr val="dk1"/>
                </a:solidFill>
                <a:latin typeface="Arial"/>
                <a:ea typeface="Arial"/>
                <a:cs typeface="Arial"/>
                <a:sym typeface="Arial"/>
              </a:rPr>
              <a:t>is the cut off distance as  before</a:t>
            </a:r>
            <a:endParaRPr sz="2900">
              <a:solidFill>
                <a:schemeClr val="dk1"/>
              </a:solidFill>
              <a:latin typeface="Arial"/>
              <a:ea typeface="Arial"/>
              <a:cs typeface="Arial"/>
              <a:sym typeface="Arial"/>
            </a:endParaRPr>
          </a:p>
        </p:txBody>
      </p:sp>
      <p:sp>
        <p:nvSpPr>
          <p:cNvPr id="397" name="Google Shape;397;p29"/>
          <p:cNvSpPr/>
          <p:nvPr/>
        </p:nvSpPr>
        <p:spPr>
          <a:xfrm>
            <a:off x="3511392" y="2609840"/>
            <a:ext cx="3353435" cy="0"/>
          </a:xfrm>
          <a:custGeom>
            <a:rect b="b" l="l" r="r" t="t"/>
            <a:pathLst>
              <a:path extrusionOk="0" h="120000" w="3353434">
                <a:moveTo>
                  <a:pt x="0" y="0"/>
                </a:moveTo>
                <a:lnTo>
                  <a:pt x="3352966" y="0"/>
                </a:lnTo>
              </a:path>
            </a:pathLst>
          </a:custGeom>
          <a:noFill/>
          <a:ln cap="flat" cmpd="sng" w="17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29"/>
          <p:cNvSpPr txBox="1"/>
          <p:nvPr/>
        </p:nvSpPr>
        <p:spPr>
          <a:xfrm>
            <a:off x="1677397" y="2270984"/>
            <a:ext cx="1732280" cy="547370"/>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None/>
            </a:pPr>
            <a:r>
              <a:rPr i="1" lang="en-US" sz="3400">
                <a:solidFill>
                  <a:schemeClr val="dk1"/>
                </a:solidFill>
                <a:latin typeface="Times New Roman"/>
                <a:ea typeface="Times New Roman"/>
                <a:cs typeface="Times New Roman"/>
                <a:sym typeface="Times New Roman"/>
              </a:rPr>
              <a:t>H </a:t>
            </a:r>
            <a:r>
              <a:rPr lang="en-US" sz="3400">
                <a:solidFill>
                  <a:schemeClr val="dk1"/>
                </a:solidFill>
                <a:latin typeface="Times New Roman"/>
                <a:ea typeface="Times New Roman"/>
                <a:cs typeface="Times New Roman"/>
                <a:sym typeface="Times New Roman"/>
              </a:rPr>
              <a:t>(</a:t>
            </a:r>
            <a:r>
              <a:rPr i="1" lang="en-US" sz="3400">
                <a:solidFill>
                  <a:schemeClr val="dk1"/>
                </a:solidFill>
                <a:latin typeface="Times New Roman"/>
                <a:ea typeface="Times New Roman"/>
                <a:cs typeface="Times New Roman"/>
                <a:sym typeface="Times New Roman"/>
              </a:rPr>
              <a:t>u</a:t>
            </a:r>
            <a:r>
              <a:rPr lang="en-US" sz="3400">
                <a:solidFill>
                  <a:schemeClr val="dk1"/>
                </a:solidFill>
                <a:latin typeface="Times New Roman"/>
                <a:ea typeface="Times New Roman"/>
                <a:cs typeface="Times New Roman"/>
                <a:sym typeface="Times New Roman"/>
              </a:rPr>
              <a:t>, </a:t>
            </a:r>
            <a:r>
              <a:rPr i="1" lang="en-US" sz="3400">
                <a:solidFill>
                  <a:schemeClr val="dk1"/>
                </a:solidFill>
                <a:latin typeface="Times New Roman"/>
                <a:ea typeface="Times New Roman"/>
                <a:cs typeface="Times New Roman"/>
                <a:sym typeface="Times New Roman"/>
              </a:rPr>
              <a:t>v</a:t>
            </a:r>
            <a:r>
              <a:rPr lang="en-US" sz="3400">
                <a:solidFill>
                  <a:schemeClr val="dk1"/>
                </a:solidFill>
                <a:latin typeface="Times New Roman"/>
                <a:ea typeface="Times New Roman"/>
                <a:cs typeface="Times New Roman"/>
                <a:sym typeface="Times New Roman"/>
              </a:rPr>
              <a:t>) </a:t>
            </a:r>
            <a:r>
              <a:rPr lang="en-US" sz="3400">
                <a:solidFill>
                  <a:schemeClr val="dk1"/>
                </a:solidFill>
                <a:latin typeface="Noto Sans Symbols"/>
                <a:ea typeface="Noto Sans Symbols"/>
                <a:cs typeface="Noto Sans Symbols"/>
                <a:sym typeface="Noto Sans Symbols"/>
              </a:rPr>
              <a:t>=</a:t>
            </a:r>
            <a:endParaRPr sz="3400">
              <a:solidFill>
                <a:schemeClr val="dk1"/>
              </a:solidFill>
              <a:latin typeface="Noto Sans Symbols"/>
              <a:ea typeface="Noto Sans Symbols"/>
              <a:cs typeface="Noto Sans Symbols"/>
              <a:sym typeface="Noto Sans Symbols"/>
            </a:endParaRPr>
          </a:p>
        </p:txBody>
      </p:sp>
      <p:sp>
        <p:nvSpPr>
          <p:cNvPr id="399" name="Google Shape;399;p29"/>
          <p:cNvSpPr txBox="1"/>
          <p:nvPr/>
        </p:nvSpPr>
        <p:spPr>
          <a:xfrm>
            <a:off x="4560474" y="2901054"/>
            <a:ext cx="161925" cy="329565"/>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0</a:t>
            </a:r>
            <a:endParaRPr sz="2000">
              <a:solidFill>
                <a:schemeClr val="dk1"/>
              </a:solidFill>
              <a:latin typeface="Times New Roman"/>
              <a:ea typeface="Times New Roman"/>
              <a:cs typeface="Times New Roman"/>
              <a:sym typeface="Times New Roman"/>
            </a:endParaRPr>
          </a:p>
        </p:txBody>
      </p:sp>
      <p:sp>
        <p:nvSpPr>
          <p:cNvPr id="400" name="Google Shape;400;p29"/>
          <p:cNvSpPr txBox="1"/>
          <p:nvPr/>
        </p:nvSpPr>
        <p:spPr>
          <a:xfrm>
            <a:off x="3454179" y="2611359"/>
            <a:ext cx="3375025" cy="547370"/>
          </a:xfrm>
          <a:prstGeom prst="rect">
            <a:avLst/>
          </a:prstGeom>
          <a:noFill/>
          <a:ln>
            <a:noFill/>
          </a:ln>
        </p:spPr>
        <p:txBody>
          <a:bodyPr anchorCtr="0" anchor="t" bIns="0" lIns="0" spcFirstLastPara="1" rIns="0" wrap="square" tIns="15225">
            <a:spAutoFit/>
          </a:bodyPr>
          <a:lstStyle/>
          <a:p>
            <a:pPr indent="0" lvl="0" marL="38100" marR="0" rtl="0" algn="l">
              <a:lnSpc>
                <a:spcPct val="100000"/>
              </a:lnSpc>
              <a:spcBef>
                <a:spcPts val="0"/>
              </a:spcBef>
              <a:spcAft>
                <a:spcPts val="0"/>
              </a:spcAft>
              <a:buNone/>
            </a:pPr>
            <a:r>
              <a:rPr lang="en-US" sz="3400">
                <a:solidFill>
                  <a:schemeClr val="dk1"/>
                </a:solidFill>
                <a:latin typeface="Times New Roman"/>
                <a:ea typeface="Times New Roman"/>
                <a:cs typeface="Times New Roman"/>
                <a:sym typeface="Times New Roman"/>
              </a:rPr>
              <a:t>1</a:t>
            </a:r>
            <a:r>
              <a:rPr lang="en-US" sz="3400">
                <a:solidFill>
                  <a:schemeClr val="dk1"/>
                </a:solidFill>
                <a:latin typeface="Noto Sans Symbols"/>
                <a:ea typeface="Noto Sans Symbols"/>
                <a:cs typeface="Noto Sans Symbols"/>
                <a:sym typeface="Noto Sans Symbols"/>
              </a:rPr>
              <a:t>+</a:t>
            </a:r>
            <a:r>
              <a:rPr lang="en-US" sz="3400">
                <a:solidFill>
                  <a:schemeClr val="dk1"/>
                </a:solidFill>
                <a:latin typeface="Times New Roman"/>
                <a:ea typeface="Times New Roman"/>
                <a:cs typeface="Times New Roman"/>
                <a:sym typeface="Times New Roman"/>
              </a:rPr>
              <a:t>[</a:t>
            </a:r>
            <a:r>
              <a:rPr i="1" lang="en-US" sz="3400">
                <a:solidFill>
                  <a:schemeClr val="dk1"/>
                </a:solidFill>
                <a:latin typeface="Times New Roman"/>
                <a:ea typeface="Times New Roman"/>
                <a:cs typeface="Times New Roman"/>
                <a:sym typeface="Times New Roman"/>
              </a:rPr>
              <a:t>D	</a:t>
            </a:r>
            <a:r>
              <a:rPr lang="en-US" sz="3400">
                <a:solidFill>
                  <a:schemeClr val="dk1"/>
                </a:solidFill>
                <a:latin typeface="Times New Roman"/>
                <a:ea typeface="Times New Roman"/>
                <a:cs typeface="Times New Roman"/>
                <a:sym typeface="Times New Roman"/>
              </a:rPr>
              <a:t>/ </a:t>
            </a:r>
            <a:r>
              <a:rPr i="1" lang="en-US" sz="3400">
                <a:solidFill>
                  <a:schemeClr val="dk1"/>
                </a:solidFill>
                <a:latin typeface="Times New Roman"/>
                <a:ea typeface="Times New Roman"/>
                <a:cs typeface="Times New Roman"/>
                <a:sym typeface="Times New Roman"/>
              </a:rPr>
              <a:t>D</a:t>
            </a:r>
            <a:r>
              <a:rPr lang="en-US" sz="3400">
                <a:solidFill>
                  <a:schemeClr val="dk1"/>
                </a:solidFill>
                <a:latin typeface="Times New Roman"/>
                <a:ea typeface="Times New Roman"/>
                <a:cs typeface="Times New Roman"/>
                <a:sym typeface="Times New Roman"/>
              </a:rPr>
              <a:t>(</a:t>
            </a:r>
            <a:r>
              <a:rPr i="1" lang="en-US" sz="3400">
                <a:solidFill>
                  <a:schemeClr val="dk1"/>
                </a:solidFill>
                <a:latin typeface="Times New Roman"/>
                <a:ea typeface="Times New Roman"/>
                <a:cs typeface="Times New Roman"/>
                <a:sym typeface="Times New Roman"/>
              </a:rPr>
              <a:t>u</a:t>
            </a:r>
            <a:r>
              <a:rPr lang="en-US" sz="3400">
                <a:solidFill>
                  <a:schemeClr val="dk1"/>
                </a:solidFill>
                <a:latin typeface="Times New Roman"/>
                <a:ea typeface="Times New Roman"/>
                <a:cs typeface="Times New Roman"/>
                <a:sym typeface="Times New Roman"/>
              </a:rPr>
              <a:t>, </a:t>
            </a:r>
            <a:r>
              <a:rPr i="1" lang="en-US" sz="3400">
                <a:solidFill>
                  <a:schemeClr val="dk1"/>
                </a:solidFill>
                <a:latin typeface="Times New Roman"/>
                <a:ea typeface="Times New Roman"/>
                <a:cs typeface="Times New Roman"/>
                <a:sym typeface="Times New Roman"/>
              </a:rPr>
              <a:t>v</a:t>
            </a:r>
            <a:r>
              <a:rPr lang="en-US" sz="3400">
                <a:solidFill>
                  <a:schemeClr val="dk1"/>
                </a:solidFill>
                <a:latin typeface="Times New Roman"/>
                <a:ea typeface="Times New Roman"/>
                <a:cs typeface="Times New Roman"/>
                <a:sym typeface="Times New Roman"/>
              </a:rPr>
              <a:t>)]</a:t>
            </a:r>
            <a:r>
              <a:rPr baseline="30000" lang="en-US" sz="3000">
                <a:solidFill>
                  <a:schemeClr val="dk1"/>
                </a:solidFill>
                <a:latin typeface="Times New Roman"/>
                <a:ea typeface="Times New Roman"/>
                <a:cs typeface="Times New Roman"/>
                <a:sym typeface="Times New Roman"/>
              </a:rPr>
              <a:t>2 </a:t>
            </a:r>
            <a:r>
              <a:rPr baseline="30000" i="1" lang="en-US" sz="3000">
                <a:solidFill>
                  <a:schemeClr val="dk1"/>
                </a:solidFill>
                <a:latin typeface="Times New Roman"/>
                <a:ea typeface="Times New Roman"/>
                <a:cs typeface="Times New Roman"/>
                <a:sym typeface="Times New Roman"/>
              </a:rPr>
              <a:t>n</a:t>
            </a:r>
            <a:endParaRPr baseline="30000" sz="3000">
              <a:solidFill>
                <a:schemeClr val="dk1"/>
              </a:solidFill>
              <a:latin typeface="Times New Roman"/>
              <a:ea typeface="Times New Roman"/>
              <a:cs typeface="Times New Roman"/>
              <a:sym typeface="Times New Roman"/>
            </a:endParaRPr>
          </a:p>
        </p:txBody>
      </p:sp>
      <p:sp>
        <p:nvSpPr>
          <p:cNvPr id="401" name="Google Shape;401;p29"/>
          <p:cNvSpPr txBox="1"/>
          <p:nvPr/>
        </p:nvSpPr>
        <p:spPr>
          <a:xfrm>
            <a:off x="5057899" y="1997273"/>
            <a:ext cx="259715" cy="547370"/>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None/>
            </a:pPr>
            <a:r>
              <a:rPr lang="en-US" sz="3400">
                <a:solidFill>
                  <a:schemeClr val="dk1"/>
                </a:solidFill>
                <a:latin typeface="Times New Roman"/>
                <a:ea typeface="Times New Roman"/>
                <a:cs typeface="Times New Roman"/>
                <a:sym typeface="Times New Roman"/>
              </a:rPr>
              <a:t>1</a:t>
            </a:r>
            <a:endParaRPr sz="3400">
              <a:solidFill>
                <a:schemeClr val="dk1"/>
              </a:solidFill>
              <a:latin typeface="Times New Roman"/>
              <a:ea typeface="Times New Roman"/>
              <a:cs typeface="Times New Roman"/>
              <a:sym typeface="Times New Roman"/>
            </a:endParaRPr>
          </a:p>
        </p:txBody>
      </p:sp>
      <p:sp>
        <p:nvSpPr>
          <p:cNvPr id="402" name="Google Shape;402;p29"/>
          <p:cNvSpPr/>
          <p:nvPr/>
        </p:nvSpPr>
        <p:spPr>
          <a:xfrm>
            <a:off x="1176325" y="4492625"/>
            <a:ext cx="7393012" cy="216376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03" name="Google Shape;403;p29"/>
          <p:cNvGrpSpPr/>
          <p:nvPr/>
        </p:nvGrpSpPr>
        <p:grpSpPr>
          <a:xfrm>
            <a:off x="-2318" y="1631156"/>
            <a:ext cx="279274" cy="5226843"/>
            <a:chOff x="-2318" y="1631156"/>
            <a:chExt cx="279274" cy="5226843"/>
          </a:xfrm>
        </p:grpSpPr>
        <p:sp>
          <p:nvSpPr>
            <p:cNvPr id="404" name="Google Shape;404;p29"/>
            <p:cNvSpPr/>
            <p:nvPr/>
          </p:nvSpPr>
          <p:spPr>
            <a:xfrm>
              <a:off x="0" y="6663531"/>
              <a:ext cx="276956" cy="19446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29"/>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29"/>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7" name="Google Shape;407;p29"/>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0"/>
          <p:cNvSpPr/>
          <p:nvPr/>
        </p:nvSpPr>
        <p:spPr>
          <a:xfrm>
            <a:off x="3541712" y="1311275"/>
            <a:ext cx="2732087" cy="2492375"/>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30"/>
          <p:cNvSpPr txBox="1"/>
          <p:nvPr>
            <p:ph type="title"/>
          </p:nvPr>
        </p:nvSpPr>
        <p:spPr>
          <a:xfrm>
            <a:off x="739140" y="436879"/>
            <a:ext cx="769937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Butterworth High Pass Filters (cont…)</a:t>
            </a:r>
            <a:endParaRPr sz="3600"/>
          </a:p>
        </p:txBody>
      </p:sp>
      <p:sp>
        <p:nvSpPr>
          <p:cNvPr id="414" name="Google Shape;414;p30"/>
          <p:cNvSpPr txBox="1"/>
          <p:nvPr/>
        </p:nvSpPr>
        <p:spPr>
          <a:xfrm>
            <a:off x="386168" y="4050982"/>
            <a:ext cx="1270635" cy="1658620"/>
          </a:xfrm>
          <a:prstGeom prst="rect">
            <a:avLst/>
          </a:prstGeom>
          <a:noFill/>
          <a:ln>
            <a:noFill/>
          </a:ln>
        </p:spPr>
        <p:txBody>
          <a:bodyPr anchorCtr="0" anchor="t" bIns="0" lIns="0" spcFirstLastPara="1" rIns="0" wrap="square" tIns="13950">
            <a:spAutoFit/>
          </a:bodyPr>
          <a:lstStyle/>
          <a:p>
            <a:pPr indent="177800" lvl="0" marL="38100" marR="30480" rtl="0" algn="r">
              <a:lnSpc>
                <a:spcPct val="99500"/>
              </a:lnSpc>
              <a:spcBef>
                <a:spcPts val="0"/>
              </a:spcBef>
              <a:spcAft>
                <a:spcPts val="0"/>
              </a:spcAft>
              <a:buNone/>
            </a:pPr>
            <a:r>
              <a:rPr lang="en-US" sz="1800">
                <a:solidFill>
                  <a:schemeClr val="dk1"/>
                </a:solidFill>
                <a:latin typeface="Arial"/>
                <a:ea typeface="Arial"/>
                <a:cs typeface="Arial"/>
                <a:sym typeface="Arial"/>
              </a:rPr>
              <a:t>Results of  Butterworth  high pass  filtering of  order 2 with</a:t>
            </a:r>
            <a:endParaRPr sz="1800">
              <a:solidFill>
                <a:schemeClr val="dk1"/>
              </a:solidFill>
              <a:latin typeface="Arial"/>
              <a:ea typeface="Arial"/>
              <a:cs typeface="Arial"/>
              <a:sym typeface="Arial"/>
            </a:endParaRPr>
          </a:p>
          <a:p>
            <a:pPr indent="0" lvl="0" marL="0" marR="30480" rtl="0" algn="r">
              <a:lnSpc>
                <a:spcPct val="116666"/>
              </a:lnSpc>
              <a:spcBef>
                <a:spcPts val="0"/>
              </a:spcBef>
              <a:spcAft>
                <a:spcPts val="0"/>
              </a:spcAft>
              <a:buNone/>
            </a:pPr>
            <a:r>
              <a:rPr i="1" lang="en-US" sz="1800">
                <a:solidFill>
                  <a:schemeClr val="dk1"/>
                </a:solidFill>
                <a:latin typeface="Times New Roman"/>
                <a:ea typeface="Times New Roman"/>
                <a:cs typeface="Times New Roman"/>
                <a:sym typeface="Times New Roman"/>
              </a:rPr>
              <a:t>D</a:t>
            </a:r>
            <a:r>
              <a:rPr baseline="-25000" i="1" lang="en-US" sz="1800">
                <a:solidFill>
                  <a:schemeClr val="dk1"/>
                </a:solidFill>
                <a:latin typeface="Times New Roman"/>
                <a:ea typeface="Times New Roman"/>
                <a:cs typeface="Times New Roman"/>
                <a:sym typeface="Times New Roman"/>
              </a:rPr>
              <a:t>0  </a:t>
            </a:r>
            <a:r>
              <a:rPr lang="en-US" sz="1800">
                <a:solidFill>
                  <a:schemeClr val="dk1"/>
                </a:solidFill>
                <a:latin typeface="Arial"/>
                <a:ea typeface="Arial"/>
                <a:cs typeface="Arial"/>
                <a:sym typeface="Arial"/>
              </a:rPr>
              <a:t>= 15</a:t>
            </a:r>
            <a:endParaRPr sz="1800">
              <a:solidFill>
                <a:schemeClr val="dk1"/>
              </a:solidFill>
              <a:latin typeface="Arial"/>
              <a:ea typeface="Arial"/>
              <a:cs typeface="Arial"/>
              <a:sym typeface="Arial"/>
            </a:endParaRPr>
          </a:p>
        </p:txBody>
      </p:sp>
      <p:sp>
        <p:nvSpPr>
          <p:cNvPr id="415" name="Google Shape;415;p30"/>
          <p:cNvSpPr/>
          <p:nvPr/>
        </p:nvSpPr>
        <p:spPr>
          <a:xfrm>
            <a:off x="1692917" y="3864257"/>
            <a:ext cx="6720507" cy="2024522"/>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30"/>
          <p:cNvSpPr txBox="1"/>
          <p:nvPr/>
        </p:nvSpPr>
        <p:spPr>
          <a:xfrm>
            <a:off x="8432165" y="4052570"/>
            <a:ext cx="1270635" cy="1658620"/>
          </a:xfrm>
          <a:prstGeom prst="rect">
            <a:avLst/>
          </a:prstGeom>
          <a:noFill/>
          <a:ln>
            <a:noFill/>
          </a:ln>
        </p:spPr>
        <p:txBody>
          <a:bodyPr anchorCtr="0" anchor="t" bIns="0" lIns="0" spcFirstLastPara="1" rIns="0" wrap="square" tIns="13950">
            <a:spAutoFit/>
          </a:bodyPr>
          <a:lstStyle/>
          <a:p>
            <a:pPr indent="0" lvl="0" marL="38100" marR="30480" rtl="0" algn="l">
              <a:lnSpc>
                <a:spcPct val="99500"/>
              </a:lnSpc>
              <a:spcBef>
                <a:spcPts val="0"/>
              </a:spcBef>
              <a:spcAft>
                <a:spcPts val="0"/>
              </a:spcAft>
              <a:buNone/>
            </a:pPr>
            <a:r>
              <a:rPr lang="en-US" sz="1800">
                <a:solidFill>
                  <a:schemeClr val="dk1"/>
                </a:solidFill>
                <a:latin typeface="Arial"/>
                <a:ea typeface="Arial"/>
                <a:cs typeface="Arial"/>
                <a:sym typeface="Arial"/>
              </a:rPr>
              <a:t>Results of  Butterworth  high pass  filtering of  order 2 with</a:t>
            </a:r>
            <a:endParaRPr sz="1800">
              <a:solidFill>
                <a:schemeClr val="dk1"/>
              </a:solidFill>
              <a:latin typeface="Arial"/>
              <a:ea typeface="Arial"/>
              <a:cs typeface="Arial"/>
              <a:sym typeface="Arial"/>
            </a:endParaRPr>
          </a:p>
          <a:p>
            <a:pPr indent="0" lvl="0" marL="38100" marR="0" rtl="0" algn="l">
              <a:lnSpc>
                <a:spcPct val="116666"/>
              </a:lnSpc>
              <a:spcBef>
                <a:spcPts val="0"/>
              </a:spcBef>
              <a:spcAft>
                <a:spcPts val="0"/>
              </a:spcAft>
              <a:buNone/>
            </a:pPr>
            <a:r>
              <a:rPr i="1" lang="en-US" sz="1800">
                <a:solidFill>
                  <a:schemeClr val="dk1"/>
                </a:solidFill>
                <a:latin typeface="Times New Roman"/>
                <a:ea typeface="Times New Roman"/>
                <a:cs typeface="Times New Roman"/>
                <a:sym typeface="Times New Roman"/>
              </a:rPr>
              <a:t>D</a:t>
            </a:r>
            <a:r>
              <a:rPr baseline="-25000" i="1" lang="en-US" sz="1800">
                <a:solidFill>
                  <a:schemeClr val="dk1"/>
                </a:solidFill>
                <a:latin typeface="Times New Roman"/>
                <a:ea typeface="Times New Roman"/>
                <a:cs typeface="Times New Roman"/>
                <a:sym typeface="Times New Roman"/>
              </a:rPr>
              <a:t>0 </a:t>
            </a:r>
            <a:r>
              <a:rPr lang="en-US" sz="1800">
                <a:solidFill>
                  <a:schemeClr val="dk1"/>
                </a:solidFill>
                <a:latin typeface="Arial"/>
                <a:ea typeface="Arial"/>
                <a:cs typeface="Arial"/>
                <a:sym typeface="Arial"/>
              </a:rPr>
              <a:t>= 80</a:t>
            </a:r>
            <a:endParaRPr sz="1800">
              <a:solidFill>
                <a:schemeClr val="dk1"/>
              </a:solidFill>
              <a:latin typeface="Arial"/>
              <a:ea typeface="Arial"/>
              <a:cs typeface="Arial"/>
              <a:sym typeface="Arial"/>
            </a:endParaRPr>
          </a:p>
        </p:txBody>
      </p:sp>
      <p:sp>
        <p:nvSpPr>
          <p:cNvPr id="417" name="Google Shape;417;p30"/>
          <p:cNvSpPr txBox="1"/>
          <p:nvPr/>
        </p:nvSpPr>
        <p:spPr>
          <a:xfrm>
            <a:off x="3332302" y="5882958"/>
            <a:ext cx="3367404" cy="566420"/>
          </a:xfrm>
          <a:prstGeom prst="rect">
            <a:avLst/>
          </a:prstGeom>
          <a:noFill/>
          <a:ln>
            <a:noFill/>
          </a:ln>
        </p:spPr>
        <p:txBody>
          <a:bodyPr anchorCtr="0" anchor="t" bIns="0" lIns="0" spcFirstLastPara="1" rIns="0" wrap="square" tIns="27925">
            <a:spAutoFit/>
          </a:bodyPr>
          <a:lstStyle/>
          <a:p>
            <a:pPr indent="-111760" lvl="0" marL="149225" marR="30480" rtl="0" algn="l">
              <a:lnSpc>
                <a:spcPct val="116666"/>
              </a:lnSpc>
              <a:spcBef>
                <a:spcPts val="0"/>
              </a:spcBef>
              <a:spcAft>
                <a:spcPts val="0"/>
              </a:spcAft>
              <a:buNone/>
            </a:pPr>
            <a:r>
              <a:rPr lang="en-US" sz="1800">
                <a:solidFill>
                  <a:schemeClr val="dk1"/>
                </a:solidFill>
                <a:latin typeface="Arial"/>
                <a:ea typeface="Arial"/>
                <a:cs typeface="Arial"/>
                <a:sym typeface="Arial"/>
              </a:rPr>
              <a:t>Results of Butterworth high pass  filtering of order 2 with </a:t>
            </a:r>
            <a:r>
              <a:rPr i="1" lang="en-US" sz="1800">
                <a:solidFill>
                  <a:schemeClr val="dk1"/>
                </a:solidFill>
                <a:latin typeface="Times New Roman"/>
                <a:ea typeface="Times New Roman"/>
                <a:cs typeface="Times New Roman"/>
                <a:sym typeface="Times New Roman"/>
              </a:rPr>
              <a:t>D</a:t>
            </a:r>
            <a:r>
              <a:rPr baseline="-25000" i="1" lang="en-US" sz="1800">
                <a:solidFill>
                  <a:schemeClr val="dk1"/>
                </a:solidFill>
                <a:latin typeface="Times New Roman"/>
                <a:ea typeface="Times New Roman"/>
                <a:cs typeface="Times New Roman"/>
                <a:sym typeface="Times New Roman"/>
              </a:rPr>
              <a:t>0 </a:t>
            </a:r>
            <a:r>
              <a:rPr lang="en-US" sz="1800">
                <a:solidFill>
                  <a:schemeClr val="dk1"/>
                </a:solidFill>
                <a:latin typeface="Arial"/>
                <a:ea typeface="Arial"/>
                <a:cs typeface="Arial"/>
                <a:sym typeface="Arial"/>
              </a:rPr>
              <a:t>= 30</a:t>
            </a:r>
            <a:endParaRPr sz="1800">
              <a:solidFill>
                <a:schemeClr val="dk1"/>
              </a:solidFill>
              <a:latin typeface="Arial"/>
              <a:ea typeface="Arial"/>
              <a:cs typeface="Arial"/>
              <a:sym typeface="Arial"/>
            </a:endParaRPr>
          </a:p>
        </p:txBody>
      </p:sp>
      <p:grpSp>
        <p:nvGrpSpPr>
          <p:cNvPr id="418" name="Google Shape;418;p30"/>
          <p:cNvGrpSpPr/>
          <p:nvPr/>
        </p:nvGrpSpPr>
        <p:grpSpPr>
          <a:xfrm>
            <a:off x="-2318" y="1631156"/>
            <a:ext cx="279274" cy="5226843"/>
            <a:chOff x="-2318" y="1631156"/>
            <a:chExt cx="279274" cy="5226843"/>
          </a:xfrm>
        </p:grpSpPr>
        <p:sp>
          <p:nvSpPr>
            <p:cNvPr id="419" name="Google Shape;419;p30"/>
            <p:cNvSpPr/>
            <p:nvPr/>
          </p:nvSpPr>
          <p:spPr>
            <a:xfrm>
              <a:off x="0" y="6663531"/>
              <a:ext cx="276956" cy="194468"/>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30"/>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30"/>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2" name="Google Shape;422;p30"/>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1"/>
          <p:cNvSpPr txBox="1"/>
          <p:nvPr>
            <p:ph type="title"/>
          </p:nvPr>
        </p:nvSpPr>
        <p:spPr>
          <a:xfrm>
            <a:off x="742441" y="375920"/>
            <a:ext cx="676529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Gaussian	High	Pass Filters</a:t>
            </a:r>
            <a:endParaRPr sz="4400"/>
          </a:p>
        </p:txBody>
      </p:sp>
      <p:sp>
        <p:nvSpPr>
          <p:cNvPr id="428" name="Google Shape;428;p31"/>
          <p:cNvSpPr txBox="1"/>
          <p:nvPr/>
        </p:nvSpPr>
        <p:spPr>
          <a:xfrm>
            <a:off x="717041" y="1552458"/>
            <a:ext cx="6791325" cy="2352040"/>
          </a:xfrm>
          <a:prstGeom prst="rect">
            <a:avLst/>
          </a:prstGeom>
          <a:noFill/>
          <a:ln>
            <a:noFill/>
          </a:ln>
        </p:spPr>
        <p:txBody>
          <a:bodyPr anchorCtr="0" anchor="t" bIns="0" lIns="0" spcFirstLastPara="1" rIns="0" wrap="square" tIns="93325">
            <a:spAutoFit/>
          </a:bodyPr>
          <a:lstStyle/>
          <a:p>
            <a:pPr indent="0" lvl="0" marL="0" marR="0" rtl="0" algn="ctr">
              <a:lnSpc>
                <a:spcPct val="100000"/>
              </a:lnSpc>
              <a:spcBef>
                <a:spcPts val="0"/>
              </a:spcBef>
              <a:spcAft>
                <a:spcPts val="0"/>
              </a:spcAft>
              <a:buNone/>
            </a:pPr>
            <a:r>
              <a:rPr lang="en-US" sz="2900">
                <a:solidFill>
                  <a:schemeClr val="dk1"/>
                </a:solidFill>
                <a:latin typeface="Arial"/>
                <a:ea typeface="Arial"/>
                <a:cs typeface="Arial"/>
                <a:sym typeface="Arial"/>
              </a:rPr>
              <a:t>The Gaussian high pass filter is given as:</a:t>
            </a:r>
            <a:endParaRPr sz="2900">
              <a:solidFill>
                <a:schemeClr val="dk1"/>
              </a:solidFill>
              <a:latin typeface="Arial"/>
              <a:ea typeface="Arial"/>
              <a:cs typeface="Arial"/>
              <a:sym typeface="Arial"/>
            </a:endParaRPr>
          </a:p>
          <a:p>
            <a:pPr indent="0" lvl="0" marL="4483100" marR="0" rtl="0" algn="l">
              <a:lnSpc>
                <a:spcPct val="15614"/>
              </a:lnSpc>
              <a:spcBef>
                <a:spcPts val="434"/>
              </a:spcBef>
              <a:spcAft>
                <a:spcPts val="0"/>
              </a:spcAft>
              <a:buNone/>
            </a:pPr>
            <a:r>
              <a:rPr baseline="-25000" lang="en-US" sz="2850">
                <a:solidFill>
                  <a:schemeClr val="dk1"/>
                </a:solidFill>
                <a:latin typeface="Times New Roman"/>
                <a:ea typeface="Times New Roman"/>
                <a:cs typeface="Times New Roman"/>
                <a:sym typeface="Times New Roman"/>
              </a:rPr>
              <a:t>2	</a:t>
            </a:r>
            <a:r>
              <a:rPr lang="en-US" sz="1900">
                <a:solidFill>
                  <a:schemeClr val="dk1"/>
                </a:solidFill>
                <a:latin typeface="Times New Roman"/>
                <a:ea typeface="Times New Roman"/>
                <a:cs typeface="Times New Roman"/>
                <a:sym typeface="Times New Roman"/>
              </a:rPr>
              <a:t>2</a:t>
            </a:r>
            <a:endParaRPr sz="1900">
              <a:solidFill>
                <a:schemeClr val="dk1"/>
              </a:solidFill>
              <a:latin typeface="Times New Roman"/>
              <a:ea typeface="Times New Roman"/>
              <a:cs typeface="Times New Roman"/>
              <a:sym typeface="Times New Roman"/>
            </a:endParaRPr>
          </a:p>
          <a:p>
            <a:pPr indent="0" lvl="0" marL="7620" marR="0" rtl="0" algn="ctr">
              <a:lnSpc>
                <a:spcPct val="53405"/>
              </a:lnSpc>
              <a:spcBef>
                <a:spcPts val="0"/>
              </a:spcBef>
              <a:spcAft>
                <a:spcPts val="0"/>
              </a:spcAft>
              <a:buNone/>
            </a:pPr>
            <a:r>
              <a:rPr baseline="-25000" i="1" lang="en-US" sz="6900">
                <a:solidFill>
                  <a:schemeClr val="dk1"/>
                </a:solidFill>
                <a:latin typeface="Times New Roman"/>
                <a:ea typeface="Times New Roman"/>
                <a:cs typeface="Times New Roman"/>
                <a:sym typeface="Times New Roman"/>
              </a:rPr>
              <a:t>H </a:t>
            </a:r>
            <a:r>
              <a:rPr baseline="-25000" lang="en-US" sz="6900">
                <a:solidFill>
                  <a:schemeClr val="dk1"/>
                </a:solidFill>
                <a:latin typeface="Times New Roman"/>
                <a:ea typeface="Times New Roman"/>
                <a:cs typeface="Times New Roman"/>
                <a:sym typeface="Times New Roman"/>
              </a:rPr>
              <a:t>(</a:t>
            </a:r>
            <a:r>
              <a:rPr baseline="-25000" i="1" lang="en-US" sz="6900">
                <a:solidFill>
                  <a:schemeClr val="dk1"/>
                </a:solidFill>
                <a:latin typeface="Times New Roman"/>
                <a:ea typeface="Times New Roman"/>
                <a:cs typeface="Times New Roman"/>
                <a:sym typeface="Times New Roman"/>
              </a:rPr>
              <a:t>u</a:t>
            </a:r>
            <a:r>
              <a:rPr baseline="-25000" lang="en-US" sz="6900">
                <a:solidFill>
                  <a:schemeClr val="dk1"/>
                </a:solidFill>
                <a:latin typeface="Times New Roman"/>
                <a:ea typeface="Times New Roman"/>
                <a:cs typeface="Times New Roman"/>
                <a:sym typeface="Times New Roman"/>
              </a:rPr>
              <a:t>, </a:t>
            </a:r>
            <a:r>
              <a:rPr baseline="-25000" i="1" lang="en-US" sz="6900">
                <a:solidFill>
                  <a:schemeClr val="dk1"/>
                </a:solidFill>
                <a:latin typeface="Times New Roman"/>
                <a:ea typeface="Times New Roman"/>
                <a:cs typeface="Times New Roman"/>
                <a:sym typeface="Times New Roman"/>
              </a:rPr>
              <a:t>v</a:t>
            </a:r>
            <a:r>
              <a:rPr baseline="-25000" lang="en-US" sz="6900">
                <a:solidFill>
                  <a:schemeClr val="dk1"/>
                </a:solidFill>
                <a:latin typeface="Times New Roman"/>
                <a:ea typeface="Times New Roman"/>
                <a:cs typeface="Times New Roman"/>
                <a:sym typeface="Times New Roman"/>
              </a:rPr>
              <a:t>) </a:t>
            </a:r>
            <a:r>
              <a:rPr baseline="-25000" lang="en-US" sz="6900">
                <a:solidFill>
                  <a:schemeClr val="dk1"/>
                </a:solidFill>
                <a:latin typeface="Noto Sans Symbols"/>
                <a:ea typeface="Noto Sans Symbols"/>
                <a:cs typeface="Noto Sans Symbols"/>
                <a:sym typeface="Noto Sans Symbols"/>
              </a:rPr>
              <a:t>=</a:t>
            </a:r>
            <a:r>
              <a:rPr baseline="-25000" lang="en-US" sz="6900">
                <a:solidFill>
                  <a:schemeClr val="dk1"/>
                </a:solidFill>
                <a:latin typeface="Times New Roman"/>
                <a:ea typeface="Times New Roman"/>
                <a:cs typeface="Times New Roman"/>
                <a:sym typeface="Times New Roman"/>
              </a:rPr>
              <a:t> 1</a:t>
            </a:r>
            <a:r>
              <a:rPr baseline="-25000" lang="en-US" sz="6900">
                <a:solidFill>
                  <a:schemeClr val="dk1"/>
                </a:solidFill>
                <a:latin typeface="Noto Sans Symbols"/>
                <a:ea typeface="Noto Sans Symbols"/>
                <a:cs typeface="Noto Sans Symbols"/>
                <a:sym typeface="Noto Sans Symbols"/>
              </a:rPr>
              <a:t>−</a:t>
            </a:r>
            <a:r>
              <a:rPr baseline="-25000" lang="en-US" sz="6900">
                <a:solidFill>
                  <a:schemeClr val="dk1"/>
                </a:solidFill>
                <a:latin typeface="Times New Roman"/>
                <a:ea typeface="Times New Roman"/>
                <a:cs typeface="Times New Roman"/>
                <a:sym typeface="Times New Roman"/>
              </a:rPr>
              <a:t> </a:t>
            </a:r>
            <a:r>
              <a:rPr baseline="-25000" i="1" lang="en-US" sz="6900">
                <a:solidFill>
                  <a:schemeClr val="dk1"/>
                </a:solidFill>
                <a:latin typeface="Times New Roman"/>
                <a:ea typeface="Times New Roman"/>
                <a:cs typeface="Times New Roman"/>
                <a:sym typeface="Times New Roman"/>
              </a:rPr>
              <a:t>e</a:t>
            </a:r>
            <a:r>
              <a:rPr lang="en-US" sz="2650">
                <a:solidFill>
                  <a:schemeClr val="dk1"/>
                </a:solidFill>
                <a:latin typeface="Noto Sans Symbols"/>
                <a:ea typeface="Noto Sans Symbols"/>
                <a:cs typeface="Noto Sans Symbols"/>
                <a:sym typeface="Noto Sans Symbols"/>
              </a:rPr>
              <a:t>−</a:t>
            </a:r>
            <a:r>
              <a:rPr i="1" lang="en-US" sz="2650">
                <a:solidFill>
                  <a:schemeClr val="dk1"/>
                </a:solidFill>
                <a:latin typeface="Times New Roman"/>
                <a:ea typeface="Times New Roman"/>
                <a:cs typeface="Times New Roman"/>
                <a:sym typeface="Times New Roman"/>
              </a:rPr>
              <a:t>D	</a:t>
            </a:r>
            <a:r>
              <a:rPr lang="en-US" sz="2650">
                <a:solidFill>
                  <a:schemeClr val="dk1"/>
                </a:solidFill>
                <a:latin typeface="Times New Roman"/>
                <a:ea typeface="Times New Roman"/>
                <a:cs typeface="Times New Roman"/>
                <a:sym typeface="Times New Roman"/>
              </a:rPr>
              <a:t>(</a:t>
            </a:r>
            <a:r>
              <a:rPr i="1" lang="en-US" sz="2650">
                <a:solidFill>
                  <a:schemeClr val="dk1"/>
                </a:solidFill>
                <a:latin typeface="Times New Roman"/>
                <a:ea typeface="Times New Roman"/>
                <a:cs typeface="Times New Roman"/>
                <a:sym typeface="Times New Roman"/>
              </a:rPr>
              <a:t>u</a:t>
            </a:r>
            <a:r>
              <a:rPr lang="en-US" sz="2650">
                <a:solidFill>
                  <a:schemeClr val="dk1"/>
                </a:solidFill>
                <a:latin typeface="Times New Roman"/>
                <a:ea typeface="Times New Roman"/>
                <a:cs typeface="Times New Roman"/>
                <a:sym typeface="Times New Roman"/>
              </a:rPr>
              <a:t>,</a:t>
            </a:r>
            <a:r>
              <a:rPr i="1" lang="en-US" sz="2650">
                <a:solidFill>
                  <a:schemeClr val="dk1"/>
                </a:solidFill>
                <a:latin typeface="Times New Roman"/>
                <a:ea typeface="Times New Roman"/>
                <a:cs typeface="Times New Roman"/>
                <a:sym typeface="Times New Roman"/>
              </a:rPr>
              <a:t>v</a:t>
            </a:r>
            <a:r>
              <a:rPr lang="en-US" sz="2650">
                <a:solidFill>
                  <a:schemeClr val="dk1"/>
                </a:solidFill>
                <a:latin typeface="Times New Roman"/>
                <a:ea typeface="Times New Roman"/>
                <a:cs typeface="Times New Roman"/>
                <a:sym typeface="Times New Roman"/>
              </a:rPr>
              <a:t>)/ 2</a:t>
            </a:r>
            <a:r>
              <a:rPr i="1" lang="en-US" sz="2650">
                <a:solidFill>
                  <a:schemeClr val="dk1"/>
                </a:solidFill>
                <a:latin typeface="Times New Roman"/>
                <a:ea typeface="Times New Roman"/>
                <a:cs typeface="Times New Roman"/>
                <a:sym typeface="Times New Roman"/>
              </a:rPr>
              <a:t>D</a:t>
            </a:r>
            <a:r>
              <a:rPr baseline="-25000" lang="en-US" sz="2850">
                <a:solidFill>
                  <a:schemeClr val="dk1"/>
                </a:solidFill>
                <a:latin typeface="Times New Roman"/>
                <a:ea typeface="Times New Roman"/>
                <a:cs typeface="Times New Roman"/>
                <a:sym typeface="Times New Roman"/>
              </a:rPr>
              <a:t>0</a:t>
            </a:r>
            <a:endParaRPr baseline="-25000" sz="285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5350">
              <a:solidFill>
                <a:schemeClr val="dk1"/>
              </a:solidFill>
              <a:latin typeface="Times New Roman"/>
              <a:ea typeface="Times New Roman"/>
              <a:cs typeface="Times New Roman"/>
              <a:sym typeface="Times New Roman"/>
            </a:endParaRPr>
          </a:p>
          <a:p>
            <a:pPr indent="0" lvl="0" marL="0" marR="19050" rtl="0" algn="ctr">
              <a:lnSpc>
                <a:spcPct val="100000"/>
              </a:lnSpc>
              <a:spcBef>
                <a:spcPts val="0"/>
              </a:spcBef>
              <a:spcAft>
                <a:spcPts val="0"/>
              </a:spcAft>
              <a:buNone/>
            </a:pPr>
            <a:r>
              <a:rPr lang="en-US" sz="2900">
                <a:solidFill>
                  <a:schemeClr val="dk1"/>
                </a:solidFill>
                <a:latin typeface="Arial"/>
                <a:ea typeface="Arial"/>
                <a:cs typeface="Arial"/>
                <a:sym typeface="Arial"/>
              </a:rPr>
              <a:t>where </a:t>
            </a:r>
            <a:r>
              <a:rPr i="1" lang="en-US" sz="2900">
                <a:solidFill>
                  <a:schemeClr val="dk1"/>
                </a:solidFill>
                <a:latin typeface="Times New Roman"/>
                <a:ea typeface="Times New Roman"/>
                <a:cs typeface="Times New Roman"/>
                <a:sym typeface="Times New Roman"/>
              </a:rPr>
              <a:t>D</a:t>
            </a:r>
            <a:r>
              <a:rPr baseline="-25000" i="1" lang="en-US" sz="2850">
                <a:solidFill>
                  <a:schemeClr val="dk1"/>
                </a:solidFill>
                <a:latin typeface="Times New Roman"/>
                <a:ea typeface="Times New Roman"/>
                <a:cs typeface="Times New Roman"/>
                <a:sym typeface="Times New Roman"/>
              </a:rPr>
              <a:t>0 </a:t>
            </a:r>
            <a:r>
              <a:rPr lang="en-US" sz="2900">
                <a:solidFill>
                  <a:schemeClr val="dk1"/>
                </a:solidFill>
                <a:latin typeface="Arial"/>
                <a:ea typeface="Arial"/>
                <a:cs typeface="Arial"/>
                <a:sym typeface="Arial"/>
              </a:rPr>
              <a:t>is the cut off distance as before</a:t>
            </a:r>
            <a:endParaRPr sz="2900">
              <a:solidFill>
                <a:schemeClr val="dk1"/>
              </a:solidFill>
              <a:latin typeface="Arial"/>
              <a:ea typeface="Arial"/>
              <a:cs typeface="Arial"/>
              <a:sym typeface="Arial"/>
            </a:endParaRPr>
          </a:p>
        </p:txBody>
      </p:sp>
      <p:sp>
        <p:nvSpPr>
          <p:cNvPr id="429" name="Google Shape;429;p31"/>
          <p:cNvSpPr/>
          <p:nvPr/>
        </p:nvSpPr>
        <p:spPr>
          <a:xfrm>
            <a:off x="1125537" y="3959225"/>
            <a:ext cx="7558087" cy="2205037"/>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30" name="Google Shape;430;p31"/>
          <p:cNvGrpSpPr/>
          <p:nvPr/>
        </p:nvGrpSpPr>
        <p:grpSpPr>
          <a:xfrm>
            <a:off x="-2318" y="1631156"/>
            <a:ext cx="279274" cy="5226843"/>
            <a:chOff x="-2318" y="1631156"/>
            <a:chExt cx="279274" cy="5226843"/>
          </a:xfrm>
        </p:grpSpPr>
        <p:sp>
          <p:nvSpPr>
            <p:cNvPr id="431" name="Google Shape;431;p31"/>
            <p:cNvSpPr/>
            <p:nvPr/>
          </p:nvSpPr>
          <p:spPr>
            <a:xfrm>
              <a:off x="0" y="6663531"/>
              <a:ext cx="276956" cy="19446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p31"/>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31"/>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4" name="Google Shape;434;p31"/>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2"/>
          <p:cNvSpPr/>
          <p:nvPr/>
        </p:nvSpPr>
        <p:spPr>
          <a:xfrm>
            <a:off x="3678237" y="1311275"/>
            <a:ext cx="2733675" cy="2492375"/>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32"/>
          <p:cNvSpPr txBox="1"/>
          <p:nvPr>
            <p:ph type="title"/>
          </p:nvPr>
        </p:nvSpPr>
        <p:spPr>
          <a:xfrm>
            <a:off x="739140" y="406400"/>
            <a:ext cx="8100059" cy="635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000"/>
              <a:t>Gaussian	High	Pass Filters (cont…)</a:t>
            </a:r>
            <a:endParaRPr sz="4000"/>
          </a:p>
        </p:txBody>
      </p:sp>
      <p:sp>
        <p:nvSpPr>
          <p:cNvPr id="441" name="Google Shape;441;p32"/>
          <p:cNvSpPr txBox="1"/>
          <p:nvPr/>
        </p:nvSpPr>
        <p:spPr>
          <a:xfrm>
            <a:off x="414831" y="4150995"/>
            <a:ext cx="1283335" cy="1391920"/>
          </a:xfrm>
          <a:prstGeom prst="rect">
            <a:avLst/>
          </a:prstGeom>
          <a:noFill/>
          <a:ln>
            <a:noFill/>
          </a:ln>
        </p:spPr>
        <p:txBody>
          <a:bodyPr anchorCtr="0" anchor="t" bIns="0" lIns="0" spcFirstLastPara="1" rIns="0" wrap="square" tIns="15875">
            <a:spAutoFit/>
          </a:bodyPr>
          <a:lstStyle/>
          <a:p>
            <a:pPr indent="190500" lvl="0" marL="38100" marR="30480" rtl="0" algn="r">
              <a:lnSpc>
                <a:spcPct val="98800"/>
              </a:lnSpc>
              <a:spcBef>
                <a:spcPts val="0"/>
              </a:spcBef>
              <a:spcAft>
                <a:spcPts val="0"/>
              </a:spcAft>
              <a:buNone/>
            </a:pPr>
            <a:r>
              <a:rPr lang="en-US" sz="1800">
                <a:solidFill>
                  <a:schemeClr val="dk1"/>
                </a:solidFill>
                <a:latin typeface="Arial"/>
                <a:ea typeface="Arial"/>
                <a:cs typeface="Arial"/>
                <a:sym typeface="Arial"/>
              </a:rPr>
              <a:t>Results of  Gaussian  high pass  filtering with</a:t>
            </a:r>
            <a:endParaRPr sz="1800">
              <a:solidFill>
                <a:schemeClr val="dk1"/>
              </a:solidFill>
              <a:latin typeface="Arial"/>
              <a:ea typeface="Arial"/>
              <a:cs typeface="Arial"/>
              <a:sym typeface="Arial"/>
            </a:endParaRPr>
          </a:p>
          <a:p>
            <a:pPr indent="0" lvl="0" marL="0" marR="30480" rtl="0" algn="r">
              <a:lnSpc>
                <a:spcPct val="100000"/>
              </a:lnSpc>
              <a:spcBef>
                <a:spcPts val="40"/>
              </a:spcBef>
              <a:spcAft>
                <a:spcPts val="0"/>
              </a:spcAft>
              <a:buNone/>
            </a:pPr>
            <a:r>
              <a:rPr i="1" lang="en-US" sz="1800">
                <a:solidFill>
                  <a:schemeClr val="dk1"/>
                </a:solidFill>
                <a:latin typeface="Times New Roman"/>
                <a:ea typeface="Times New Roman"/>
                <a:cs typeface="Times New Roman"/>
                <a:sym typeface="Times New Roman"/>
              </a:rPr>
              <a:t>D</a:t>
            </a:r>
            <a:r>
              <a:rPr baseline="-25000" i="1" lang="en-US" sz="1800">
                <a:solidFill>
                  <a:schemeClr val="dk1"/>
                </a:solidFill>
                <a:latin typeface="Times New Roman"/>
                <a:ea typeface="Times New Roman"/>
                <a:cs typeface="Times New Roman"/>
                <a:sym typeface="Times New Roman"/>
              </a:rPr>
              <a:t>0  </a:t>
            </a:r>
            <a:r>
              <a:rPr lang="en-US" sz="1800">
                <a:solidFill>
                  <a:schemeClr val="dk1"/>
                </a:solidFill>
                <a:latin typeface="Arial"/>
                <a:ea typeface="Arial"/>
                <a:cs typeface="Arial"/>
                <a:sym typeface="Arial"/>
              </a:rPr>
              <a:t>= 15</a:t>
            </a:r>
            <a:endParaRPr sz="1800">
              <a:solidFill>
                <a:schemeClr val="dk1"/>
              </a:solidFill>
              <a:latin typeface="Arial"/>
              <a:ea typeface="Arial"/>
              <a:cs typeface="Arial"/>
              <a:sym typeface="Arial"/>
            </a:endParaRPr>
          </a:p>
        </p:txBody>
      </p:sp>
      <p:sp>
        <p:nvSpPr>
          <p:cNvPr id="442" name="Google Shape;442;p32"/>
          <p:cNvSpPr txBox="1"/>
          <p:nvPr/>
        </p:nvSpPr>
        <p:spPr>
          <a:xfrm>
            <a:off x="8473440" y="4138295"/>
            <a:ext cx="1283335" cy="1391920"/>
          </a:xfrm>
          <a:prstGeom prst="rect">
            <a:avLst/>
          </a:prstGeom>
          <a:noFill/>
          <a:ln>
            <a:noFill/>
          </a:ln>
        </p:spPr>
        <p:txBody>
          <a:bodyPr anchorCtr="0" anchor="t" bIns="0" lIns="0" spcFirstLastPara="1" rIns="0" wrap="square" tIns="13950">
            <a:spAutoFit/>
          </a:bodyPr>
          <a:lstStyle/>
          <a:p>
            <a:pPr indent="0" lvl="0" marL="38100" marR="30480" rtl="0" algn="l">
              <a:lnSpc>
                <a:spcPct val="99500"/>
              </a:lnSpc>
              <a:spcBef>
                <a:spcPts val="0"/>
              </a:spcBef>
              <a:spcAft>
                <a:spcPts val="0"/>
              </a:spcAft>
              <a:buNone/>
            </a:pPr>
            <a:r>
              <a:rPr lang="en-US" sz="1800">
                <a:solidFill>
                  <a:schemeClr val="dk1"/>
                </a:solidFill>
                <a:latin typeface="Arial"/>
                <a:ea typeface="Arial"/>
                <a:cs typeface="Arial"/>
                <a:sym typeface="Arial"/>
              </a:rPr>
              <a:t>Results of  Gaussian  high pass  filtering with  </a:t>
            </a:r>
            <a:r>
              <a:rPr i="1" lang="en-US" sz="1800">
                <a:solidFill>
                  <a:schemeClr val="dk1"/>
                </a:solidFill>
                <a:latin typeface="Times New Roman"/>
                <a:ea typeface="Times New Roman"/>
                <a:cs typeface="Times New Roman"/>
                <a:sym typeface="Times New Roman"/>
              </a:rPr>
              <a:t>D</a:t>
            </a:r>
            <a:r>
              <a:rPr baseline="-25000" i="1" lang="en-US" sz="1800">
                <a:solidFill>
                  <a:schemeClr val="dk1"/>
                </a:solidFill>
                <a:latin typeface="Times New Roman"/>
                <a:ea typeface="Times New Roman"/>
                <a:cs typeface="Times New Roman"/>
                <a:sym typeface="Times New Roman"/>
              </a:rPr>
              <a:t>0 </a:t>
            </a:r>
            <a:r>
              <a:rPr lang="en-US" sz="1800">
                <a:solidFill>
                  <a:schemeClr val="dk1"/>
                </a:solidFill>
                <a:latin typeface="Arial"/>
                <a:ea typeface="Arial"/>
                <a:cs typeface="Arial"/>
                <a:sym typeface="Arial"/>
              </a:rPr>
              <a:t>= 80</a:t>
            </a:r>
            <a:endParaRPr sz="1800">
              <a:solidFill>
                <a:schemeClr val="dk1"/>
              </a:solidFill>
              <a:latin typeface="Arial"/>
              <a:ea typeface="Arial"/>
              <a:cs typeface="Arial"/>
              <a:sym typeface="Arial"/>
            </a:endParaRPr>
          </a:p>
        </p:txBody>
      </p:sp>
      <p:sp>
        <p:nvSpPr>
          <p:cNvPr id="443" name="Google Shape;443;p32"/>
          <p:cNvSpPr txBox="1"/>
          <p:nvPr/>
        </p:nvSpPr>
        <p:spPr>
          <a:xfrm>
            <a:off x="3498171" y="5882958"/>
            <a:ext cx="3164205" cy="566420"/>
          </a:xfrm>
          <a:prstGeom prst="rect">
            <a:avLst/>
          </a:prstGeom>
          <a:noFill/>
          <a:ln>
            <a:noFill/>
          </a:ln>
        </p:spPr>
        <p:txBody>
          <a:bodyPr anchorCtr="0" anchor="t" bIns="0" lIns="0" spcFirstLastPara="1" rIns="0" wrap="square" tIns="27925">
            <a:spAutoFit/>
          </a:bodyPr>
          <a:lstStyle/>
          <a:p>
            <a:pPr indent="-530860" lvl="0" marL="568325" marR="30480" rtl="0" algn="l">
              <a:lnSpc>
                <a:spcPct val="116666"/>
              </a:lnSpc>
              <a:spcBef>
                <a:spcPts val="0"/>
              </a:spcBef>
              <a:spcAft>
                <a:spcPts val="0"/>
              </a:spcAft>
              <a:buNone/>
            </a:pPr>
            <a:r>
              <a:rPr lang="en-US" sz="1800">
                <a:solidFill>
                  <a:schemeClr val="dk1"/>
                </a:solidFill>
                <a:latin typeface="Arial"/>
                <a:ea typeface="Arial"/>
                <a:cs typeface="Arial"/>
                <a:sym typeface="Arial"/>
              </a:rPr>
              <a:t>Results of Gaussian high pass  filtering with </a:t>
            </a:r>
            <a:r>
              <a:rPr i="1" lang="en-US" sz="1800">
                <a:solidFill>
                  <a:schemeClr val="dk1"/>
                </a:solidFill>
                <a:latin typeface="Times New Roman"/>
                <a:ea typeface="Times New Roman"/>
                <a:cs typeface="Times New Roman"/>
                <a:sym typeface="Times New Roman"/>
              </a:rPr>
              <a:t>D</a:t>
            </a:r>
            <a:r>
              <a:rPr baseline="-25000" i="1" lang="en-US" sz="1800">
                <a:solidFill>
                  <a:schemeClr val="dk1"/>
                </a:solidFill>
                <a:latin typeface="Times New Roman"/>
                <a:ea typeface="Times New Roman"/>
                <a:cs typeface="Times New Roman"/>
                <a:sym typeface="Times New Roman"/>
              </a:rPr>
              <a:t>0 </a:t>
            </a:r>
            <a:r>
              <a:rPr lang="en-US" sz="1800">
                <a:solidFill>
                  <a:schemeClr val="dk1"/>
                </a:solidFill>
                <a:latin typeface="Arial"/>
                <a:ea typeface="Arial"/>
                <a:cs typeface="Arial"/>
                <a:sym typeface="Arial"/>
              </a:rPr>
              <a:t>= 30</a:t>
            </a:r>
            <a:endParaRPr sz="1800">
              <a:solidFill>
                <a:schemeClr val="dk1"/>
              </a:solidFill>
              <a:latin typeface="Arial"/>
              <a:ea typeface="Arial"/>
              <a:cs typeface="Arial"/>
              <a:sym typeface="Arial"/>
            </a:endParaRPr>
          </a:p>
        </p:txBody>
      </p:sp>
      <p:sp>
        <p:nvSpPr>
          <p:cNvPr id="444" name="Google Shape;444;p32"/>
          <p:cNvSpPr/>
          <p:nvPr/>
        </p:nvSpPr>
        <p:spPr>
          <a:xfrm>
            <a:off x="1734490" y="3862392"/>
            <a:ext cx="6710069" cy="200405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45" name="Google Shape;445;p32"/>
          <p:cNvGrpSpPr/>
          <p:nvPr/>
        </p:nvGrpSpPr>
        <p:grpSpPr>
          <a:xfrm>
            <a:off x="-2318" y="1631156"/>
            <a:ext cx="279274" cy="5226843"/>
            <a:chOff x="-2318" y="1631156"/>
            <a:chExt cx="279274" cy="5226843"/>
          </a:xfrm>
        </p:grpSpPr>
        <p:sp>
          <p:nvSpPr>
            <p:cNvPr id="446" name="Google Shape;446;p32"/>
            <p:cNvSpPr/>
            <p:nvPr/>
          </p:nvSpPr>
          <p:spPr>
            <a:xfrm>
              <a:off x="0" y="6663531"/>
              <a:ext cx="276956" cy="194468"/>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32"/>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32"/>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9" name="Google Shape;449;p32"/>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33"/>
          <p:cNvSpPr/>
          <p:nvPr/>
        </p:nvSpPr>
        <p:spPr>
          <a:xfrm>
            <a:off x="3571875" y="1311275"/>
            <a:ext cx="2733675" cy="2492375"/>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33"/>
          <p:cNvSpPr txBox="1"/>
          <p:nvPr>
            <p:ph type="title"/>
          </p:nvPr>
        </p:nvSpPr>
        <p:spPr>
          <a:xfrm>
            <a:off x="739140" y="375920"/>
            <a:ext cx="692086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Highpass Filter Comparison</a:t>
            </a:r>
            <a:endParaRPr sz="4400"/>
          </a:p>
        </p:txBody>
      </p:sp>
      <p:sp>
        <p:nvSpPr>
          <p:cNvPr id="456" name="Google Shape;456;p33"/>
          <p:cNvSpPr/>
          <p:nvPr/>
        </p:nvSpPr>
        <p:spPr>
          <a:xfrm>
            <a:off x="911836" y="3853175"/>
            <a:ext cx="2194918" cy="204185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33"/>
          <p:cNvSpPr txBox="1"/>
          <p:nvPr/>
        </p:nvSpPr>
        <p:spPr>
          <a:xfrm>
            <a:off x="1075182" y="5949632"/>
            <a:ext cx="1855470" cy="845819"/>
          </a:xfrm>
          <a:prstGeom prst="rect">
            <a:avLst/>
          </a:prstGeom>
          <a:noFill/>
          <a:ln>
            <a:noFill/>
          </a:ln>
        </p:spPr>
        <p:txBody>
          <a:bodyPr anchorCtr="0" anchor="t" bIns="0" lIns="0" spcFirstLastPara="1" rIns="0" wrap="square" tIns="13950">
            <a:spAutoFit/>
          </a:bodyPr>
          <a:lstStyle/>
          <a:p>
            <a:pPr indent="-634" lvl="0" marL="38100" marR="30480" rtl="0" algn="ctr">
              <a:lnSpc>
                <a:spcPct val="99500"/>
              </a:lnSpc>
              <a:spcBef>
                <a:spcPts val="0"/>
              </a:spcBef>
              <a:spcAft>
                <a:spcPts val="0"/>
              </a:spcAft>
              <a:buNone/>
            </a:pPr>
            <a:r>
              <a:rPr lang="en-US" sz="1800">
                <a:solidFill>
                  <a:schemeClr val="dk1"/>
                </a:solidFill>
                <a:latin typeface="Arial"/>
                <a:ea typeface="Arial"/>
                <a:cs typeface="Arial"/>
                <a:sym typeface="Arial"/>
              </a:rPr>
              <a:t>Results of ideal  high pass filtering  with </a:t>
            </a:r>
            <a:r>
              <a:rPr i="1" lang="en-US" sz="1800">
                <a:solidFill>
                  <a:schemeClr val="dk1"/>
                </a:solidFill>
                <a:latin typeface="Times New Roman"/>
                <a:ea typeface="Times New Roman"/>
                <a:cs typeface="Times New Roman"/>
                <a:sym typeface="Times New Roman"/>
              </a:rPr>
              <a:t>D</a:t>
            </a:r>
            <a:r>
              <a:rPr baseline="-25000" i="1" lang="en-US" sz="1800">
                <a:solidFill>
                  <a:schemeClr val="dk1"/>
                </a:solidFill>
                <a:latin typeface="Times New Roman"/>
                <a:ea typeface="Times New Roman"/>
                <a:cs typeface="Times New Roman"/>
                <a:sym typeface="Times New Roman"/>
              </a:rPr>
              <a:t>0 </a:t>
            </a:r>
            <a:r>
              <a:rPr lang="en-US" sz="1800">
                <a:solidFill>
                  <a:schemeClr val="dk1"/>
                </a:solidFill>
                <a:latin typeface="Arial"/>
                <a:ea typeface="Arial"/>
                <a:cs typeface="Arial"/>
                <a:sym typeface="Arial"/>
              </a:rPr>
              <a:t>= 15</a:t>
            </a:r>
            <a:endParaRPr sz="1800">
              <a:solidFill>
                <a:schemeClr val="dk1"/>
              </a:solidFill>
              <a:latin typeface="Arial"/>
              <a:ea typeface="Arial"/>
              <a:cs typeface="Arial"/>
              <a:sym typeface="Arial"/>
            </a:endParaRPr>
          </a:p>
        </p:txBody>
      </p:sp>
      <p:sp>
        <p:nvSpPr>
          <p:cNvPr id="458" name="Google Shape;458;p33"/>
          <p:cNvSpPr txBox="1"/>
          <p:nvPr/>
        </p:nvSpPr>
        <p:spPr>
          <a:xfrm>
            <a:off x="6690894" y="5949632"/>
            <a:ext cx="2325370" cy="845819"/>
          </a:xfrm>
          <a:prstGeom prst="rect">
            <a:avLst/>
          </a:prstGeom>
          <a:noFill/>
          <a:ln>
            <a:noFill/>
          </a:ln>
        </p:spPr>
        <p:txBody>
          <a:bodyPr anchorCtr="0" anchor="t" bIns="0" lIns="0" spcFirstLastPara="1" rIns="0" wrap="square" tIns="13950">
            <a:spAutoFit/>
          </a:bodyPr>
          <a:lstStyle/>
          <a:p>
            <a:pPr indent="0" lvl="0" marL="38100" marR="30480" rtl="0" algn="ctr">
              <a:lnSpc>
                <a:spcPct val="99500"/>
              </a:lnSpc>
              <a:spcBef>
                <a:spcPts val="0"/>
              </a:spcBef>
              <a:spcAft>
                <a:spcPts val="0"/>
              </a:spcAft>
              <a:buNone/>
            </a:pPr>
            <a:r>
              <a:rPr lang="en-US" sz="1800">
                <a:solidFill>
                  <a:schemeClr val="dk1"/>
                </a:solidFill>
                <a:latin typeface="Arial"/>
                <a:ea typeface="Arial"/>
                <a:cs typeface="Arial"/>
                <a:sym typeface="Arial"/>
              </a:rPr>
              <a:t>Results of Gaussian  high pass filtering with  </a:t>
            </a:r>
            <a:r>
              <a:rPr i="1" lang="en-US" sz="1800">
                <a:solidFill>
                  <a:schemeClr val="dk1"/>
                </a:solidFill>
                <a:latin typeface="Times New Roman"/>
                <a:ea typeface="Times New Roman"/>
                <a:cs typeface="Times New Roman"/>
                <a:sym typeface="Times New Roman"/>
              </a:rPr>
              <a:t>D</a:t>
            </a:r>
            <a:r>
              <a:rPr baseline="-25000" i="1" lang="en-US" sz="1800">
                <a:solidFill>
                  <a:schemeClr val="dk1"/>
                </a:solidFill>
                <a:latin typeface="Times New Roman"/>
                <a:ea typeface="Times New Roman"/>
                <a:cs typeface="Times New Roman"/>
                <a:sym typeface="Times New Roman"/>
              </a:rPr>
              <a:t>0  </a:t>
            </a:r>
            <a:r>
              <a:rPr lang="en-US" sz="1800">
                <a:solidFill>
                  <a:schemeClr val="dk1"/>
                </a:solidFill>
                <a:latin typeface="Arial"/>
                <a:ea typeface="Arial"/>
                <a:cs typeface="Arial"/>
                <a:sym typeface="Arial"/>
              </a:rPr>
              <a:t>= 15</a:t>
            </a:r>
            <a:endParaRPr sz="1800">
              <a:solidFill>
                <a:schemeClr val="dk1"/>
              </a:solidFill>
              <a:latin typeface="Arial"/>
              <a:ea typeface="Arial"/>
              <a:cs typeface="Arial"/>
              <a:sym typeface="Arial"/>
            </a:endParaRPr>
          </a:p>
        </p:txBody>
      </p:sp>
      <p:sp>
        <p:nvSpPr>
          <p:cNvPr id="459" name="Google Shape;459;p33"/>
          <p:cNvSpPr/>
          <p:nvPr/>
        </p:nvSpPr>
        <p:spPr>
          <a:xfrm>
            <a:off x="6779623" y="3860803"/>
            <a:ext cx="2197365" cy="2004056"/>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33"/>
          <p:cNvSpPr txBox="1"/>
          <p:nvPr/>
        </p:nvSpPr>
        <p:spPr>
          <a:xfrm>
            <a:off x="3582420" y="5949632"/>
            <a:ext cx="2707005" cy="845819"/>
          </a:xfrm>
          <a:prstGeom prst="rect">
            <a:avLst/>
          </a:prstGeom>
          <a:noFill/>
          <a:ln>
            <a:noFill/>
          </a:ln>
        </p:spPr>
        <p:txBody>
          <a:bodyPr anchorCtr="0" anchor="t" bIns="0" lIns="0" spcFirstLastPara="1" rIns="0" wrap="square" tIns="13950">
            <a:spAutoFit/>
          </a:bodyPr>
          <a:lstStyle/>
          <a:p>
            <a:pPr indent="-634" lvl="0" marL="37465" marR="30480" rtl="0" algn="ctr">
              <a:lnSpc>
                <a:spcPct val="99500"/>
              </a:lnSpc>
              <a:spcBef>
                <a:spcPts val="0"/>
              </a:spcBef>
              <a:spcAft>
                <a:spcPts val="0"/>
              </a:spcAft>
              <a:buNone/>
            </a:pPr>
            <a:r>
              <a:rPr lang="en-US" sz="1800">
                <a:solidFill>
                  <a:schemeClr val="dk1"/>
                </a:solidFill>
                <a:latin typeface="Arial"/>
                <a:ea typeface="Arial"/>
                <a:cs typeface="Arial"/>
                <a:sym typeface="Arial"/>
              </a:rPr>
              <a:t>Results of Butterworth  high pass filtering of order  2 with </a:t>
            </a:r>
            <a:r>
              <a:rPr i="1" lang="en-US" sz="1800">
                <a:solidFill>
                  <a:schemeClr val="dk1"/>
                </a:solidFill>
                <a:latin typeface="Times New Roman"/>
                <a:ea typeface="Times New Roman"/>
                <a:cs typeface="Times New Roman"/>
                <a:sym typeface="Times New Roman"/>
              </a:rPr>
              <a:t>D</a:t>
            </a:r>
            <a:r>
              <a:rPr baseline="-25000" i="1" lang="en-US" sz="1800">
                <a:solidFill>
                  <a:schemeClr val="dk1"/>
                </a:solidFill>
                <a:latin typeface="Times New Roman"/>
                <a:ea typeface="Times New Roman"/>
                <a:cs typeface="Times New Roman"/>
                <a:sym typeface="Times New Roman"/>
              </a:rPr>
              <a:t>0 </a:t>
            </a:r>
            <a:r>
              <a:rPr lang="en-US" sz="1800">
                <a:solidFill>
                  <a:schemeClr val="dk1"/>
                </a:solidFill>
                <a:latin typeface="Arial"/>
                <a:ea typeface="Arial"/>
                <a:cs typeface="Arial"/>
                <a:sym typeface="Arial"/>
              </a:rPr>
              <a:t>= 15</a:t>
            </a:r>
            <a:endParaRPr sz="1800">
              <a:solidFill>
                <a:schemeClr val="dk1"/>
              </a:solidFill>
              <a:latin typeface="Arial"/>
              <a:ea typeface="Arial"/>
              <a:cs typeface="Arial"/>
              <a:sym typeface="Arial"/>
            </a:endParaRPr>
          </a:p>
        </p:txBody>
      </p:sp>
      <p:sp>
        <p:nvSpPr>
          <p:cNvPr id="461" name="Google Shape;461;p33"/>
          <p:cNvSpPr/>
          <p:nvPr/>
        </p:nvSpPr>
        <p:spPr>
          <a:xfrm>
            <a:off x="3851950" y="3853145"/>
            <a:ext cx="2197365" cy="2024522"/>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62" name="Google Shape;462;p33"/>
          <p:cNvGrpSpPr/>
          <p:nvPr/>
        </p:nvGrpSpPr>
        <p:grpSpPr>
          <a:xfrm>
            <a:off x="-2318" y="1631156"/>
            <a:ext cx="279274" cy="5226843"/>
            <a:chOff x="-2318" y="1631156"/>
            <a:chExt cx="279274" cy="5226843"/>
          </a:xfrm>
        </p:grpSpPr>
        <p:sp>
          <p:nvSpPr>
            <p:cNvPr id="463" name="Google Shape;463;p33"/>
            <p:cNvSpPr/>
            <p:nvPr/>
          </p:nvSpPr>
          <p:spPr>
            <a:xfrm>
              <a:off x="0" y="6663531"/>
              <a:ext cx="276956" cy="194468"/>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4" name="Google Shape;464;p33"/>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33"/>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6" name="Google Shape;466;p33"/>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34"/>
          <p:cNvSpPr/>
          <p:nvPr/>
        </p:nvSpPr>
        <p:spPr>
          <a:xfrm>
            <a:off x="854075" y="1431925"/>
            <a:ext cx="5549900" cy="514191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34"/>
          <p:cNvSpPr txBox="1"/>
          <p:nvPr>
            <p:ph type="title"/>
          </p:nvPr>
        </p:nvSpPr>
        <p:spPr>
          <a:xfrm>
            <a:off x="739140" y="375920"/>
            <a:ext cx="692086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Highpass Filter Comparison</a:t>
            </a:r>
            <a:endParaRPr sz="4400"/>
          </a:p>
        </p:txBody>
      </p:sp>
      <p:sp>
        <p:nvSpPr>
          <p:cNvPr id="473" name="Google Shape;473;p34"/>
          <p:cNvSpPr txBox="1"/>
          <p:nvPr/>
        </p:nvSpPr>
        <p:spPr>
          <a:xfrm>
            <a:off x="6604952" y="3469957"/>
            <a:ext cx="1855470" cy="845819"/>
          </a:xfrm>
          <a:prstGeom prst="rect">
            <a:avLst/>
          </a:prstGeom>
          <a:noFill/>
          <a:ln>
            <a:noFill/>
          </a:ln>
        </p:spPr>
        <p:txBody>
          <a:bodyPr anchorCtr="0" anchor="t" bIns="0" lIns="0" spcFirstLastPara="1" rIns="0" wrap="square" tIns="13950">
            <a:spAutoFit/>
          </a:bodyPr>
          <a:lstStyle/>
          <a:p>
            <a:pPr indent="0" lvl="0" marL="38100" marR="30480" rtl="0" algn="l">
              <a:lnSpc>
                <a:spcPct val="99500"/>
              </a:lnSpc>
              <a:spcBef>
                <a:spcPts val="0"/>
              </a:spcBef>
              <a:spcAft>
                <a:spcPts val="0"/>
              </a:spcAft>
              <a:buNone/>
            </a:pPr>
            <a:r>
              <a:rPr lang="en-US" sz="1800">
                <a:solidFill>
                  <a:schemeClr val="dk1"/>
                </a:solidFill>
                <a:latin typeface="Arial"/>
                <a:ea typeface="Arial"/>
                <a:cs typeface="Arial"/>
                <a:sym typeface="Arial"/>
              </a:rPr>
              <a:t>Results of ideal  high pass filtering  with </a:t>
            </a:r>
            <a:r>
              <a:rPr i="1" lang="en-US" sz="1800">
                <a:solidFill>
                  <a:schemeClr val="dk1"/>
                </a:solidFill>
                <a:latin typeface="Times New Roman"/>
                <a:ea typeface="Times New Roman"/>
                <a:cs typeface="Times New Roman"/>
                <a:sym typeface="Times New Roman"/>
              </a:rPr>
              <a:t>D</a:t>
            </a:r>
            <a:r>
              <a:rPr baseline="-25000" i="1" lang="en-US" sz="1800">
                <a:solidFill>
                  <a:schemeClr val="dk1"/>
                </a:solidFill>
                <a:latin typeface="Times New Roman"/>
                <a:ea typeface="Times New Roman"/>
                <a:cs typeface="Times New Roman"/>
                <a:sym typeface="Times New Roman"/>
              </a:rPr>
              <a:t>0 </a:t>
            </a:r>
            <a:r>
              <a:rPr lang="en-US" sz="1800">
                <a:solidFill>
                  <a:schemeClr val="dk1"/>
                </a:solidFill>
                <a:latin typeface="Arial"/>
                <a:ea typeface="Arial"/>
                <a:cs typeface="Arial"/>
                <a:sym typeface="Arial"/>
              </a:rPr>
              <a:t>= 15</a:t>
            </a:r>
            <a:endParaRPr sz="1800">
              <a:solidFill>
                <a:schemeClr val="dk1"/>
              </a:solidFill>
              <a:latin typeface="Arial"/>
              <a:ea typeface="Arial"/>
              <a:cs typeface="Arial"/>
              <a:sym typeface="Arial"/>
            </a:endParaRPr>
          </a:p>
        </p:txBody>
      </p:sp>
      <p:grpSp>
        <p:nvGrpSpPr>
          <p:cNvPr id="474" name="Google Shape;474;p34"/>
          <p:cNvGrpSpPr/>
          <p:nvPr/>
        </p:nvGrpSpPr>
        <p:grpSpPr>
          <a:xfrm>
            <a:off x="-2318" y="1631156"/>
            <a:ext cx="279274" cy="5226843"/>
            <a:chOff x="-2318" y="1631156"/>
            <a:chExt cx="279274" cy="5226843"/>
          </a:xfrm>
        </p:grpSpPr>
        <p:sp>
          <p:nvSpPr>
            <p:cNvPr id="475" name="Google Shape;475;p34"/>
            <p:cNvSpPr/>
            <p:nvPr/>
          </p:nvSpPr>
          <p:spPr>
            <a:xfrm>
              <a:off x="0" y="6663531"/>
              <a:ext cx="276956" cy="19446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p34"/>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34"/>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8" name="Google Shape;478;p34"/>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35"/>
          <p:cNvSpPr/>
          <p:nvPr/>
        </p:nvSpPr>
        <p:spPr>
          <a:xfrm>
            <a:off x="692150" y="1401775"/>
            <a:ext cx="5495925" cy="5192699"/>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35"/>
          <p:cNvSpPr txBox="1"/>
          <p:nvPr>
            <p:ph type="title"/>
          </p:nvPr>
        </p:nvSpPr>
        <p:spPr>
          <a:xfrm>
            <a:off x="739140" y="375920"/>
            <a:ext cx="692086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Highpass Filter Comparison</a:t>
            </a:r>
            <a:endParaRPr sz="4400"/>
          </a:p>
        </p:txBody>
      </p:sp>
      <p:sp>
        <p:nvSpPr>
          <p:cNvPr id="485" name="Google Shape;485;p35"/>
          <p:cNvSpPr txBox="1"/>
          <p:nvPr/>
        </p:nvSpPr>
        <p:spPr>
          <a:xfrm>
            <a:off x="6630420" y="3469957"/>
            <a:ext cx="2707005" cy="845819"/>
          </a:xfrm>
          <a:prstGeom prst="rect">
            <a:avLst/>
          </a:prstGeom>
          <a:noFill/>
          <a:ln>
            <a:noFill/>
          </a:ln>
        </p:spPr>
        <p:txBody>
          <a:bodyPr anchorCtr="0" anchor="t" bIns="0" lIns="0" spcFirstLastPara="1" rIns="0" wrap="square" tIns="13950">
            <a:spAutoFit/>
          </a:bodyPr>
          <a:lstStyle/>
          <a:p>
            <a:pPr indent="-634" lvl="0" marL="37465" marR="30480" rtl="0" algn="ctr">
              <a:lnSpc>
                <a:spcPct val="99500"/>
              </a:lnSpc>
              <a:spcBef>
                <a:spcPts val="0"/>
              </a:spcBef>
              <a:spcAft>
                <a:spcPts val="0"/>
              </a:spcAft>
              <a:buNone/>
            </a:pPr>
            <a:r>
              <a:rPr lang="en-US" sz="1800">
                <a:solidFill>
                  <a:schemeClr val="dk1"/>
                </a:solidFill>
                <a:latin typeface="Arial"/>
                <a:ea typeface="Arial"/>
                <a:cs typeface="Arial"/>
                <a:sym typeface="Arial"/>
              </a:rPr>
              <a:t>Results of Butterworth  high pass filtering of order  2 with </a:t>
            </a:r>
            <a:r>
              <a:rPr i="1" lang="en-US" sz="1800">
                <a:solidFill>
                  <a:schemeClr val="dk1"/>
                </a:solidFill>
                <a:latin typeface="Times New Roman"/>
                <a:ea typeface="Times New Roman"/>
                <a:cs typeface="Times New Roman"/>
                <a:sym typeface="Times New Roman"/>
              </a:rPr>
              <a:t>D</a:t>
            </a:r>
            <a:r>
              <a:rPr baseline="-25000" i="1" lang="en-US" sz="1800">
                <a:solidFill>
                  <a:schemeClr val="dk1"/>
                </a:solidFill>
                <a:latin typeface="Times New Roman"/>
                <a:ea typeface="Times New Roman"/>
                <a:cs typeface="Times New Roman"/>
                <a:sym typeface="Times New Roman"/>
              </a:rPr>
              <a:t>0 </a:t>
            </a:r>
            <a:r>
              <a:rPr lang="en-US" sz="1800">
                <a:solidFill>
                  <a:schemeClr val="dk1"/>
                </a:solidFill>
                <a:latin typeface="Arial"/>
                <a:ea typeface="Arial"/>
                <a:cs typeface="Arial"/>
                <a:sym typeface="Arial"/>
              </a:rPr>
              <a:t>= 15</a:t>
            </a:r>
            <a:endParaRPr sz="1800">
              <a:solidFill>
                <a:schemeClr val="dk1"/>
              </a:solidFill>
              <a:latin typeface="Arial"/>
              <a:ea typeface="Arial"/>
              <a:cs typeface="Arial"/>
              <a:sym typeface="Arial"/>
            </a:endParaRPr>
          </a:p>
        </p:txBody>
      </p:sp>
      <p:grpSp>
        <p:nvGrpSpPr>
          <p:cNvPr id="486" name="Google Shape;486;p35"/>
          <p:cNvGrpSpPr/>
          <p:nvPr/>
        </p:nvGrpSpPr>
        <p:grpSpPr>
          <a:xfrm>
            <a:off x="-2318" y="1631156"/>
            <a:ext cx="279274" cy="5226843"/>
            <a:chOff x="-2318" y="1631156"/>
            <a:chExt cx="279274" cy="5226843"/>
          </a:xfrm>
        </p:grpSpPr>
        <p:sp>
          <p:nvSpPr>
            <p:cNvPr id="487" name="Google Shape;487;p35"/>
            <p:cNvSpPr/>
            <p:nvPr/>
          </p:nvSpPr>
          <p:spPr>
            <a:xfrm>
              <a:off x="0" y="6663531"/>
              <a:ext cx="276956" cy="19446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35"/>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35"/>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0" name="Google Shape;490;p35"/>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36"/>
          <p:cNvSpPr/>
          <p:nvPr/>
        </p:nvSpPr>
        <p:spPr>
          <a:xfrm>
            <a:off x="762000" y="1474787"/>
            <a:ext cx="5497512" cy="5068887"/>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6" name="Google Shape;496;p36"/>
          <p:cNvSpPr txBox="1"/>
          <p:nvPr>
            <p:ph type="title"/>
          </p:nvPr>
        </p:nvSpPr>
        <p:spPr>
          <a:xfrm>
            <a:off x="739140" y="375920"/>
            <a:ext cx="692086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Highpass Filter Comparison</a:t>
            </a:r>
            <a:endParaRPr sz="4400"/>
          </a:p>
        </p:txBody>
      </p:sp>
      <p:sp>
        <p:nvSpPr>
          <p:cNvPr id="497" name="Google Shape;497;p36"/>
          <p:cNvSpPr txBox="1"/>
          <p:nvPr/>
        </p:nvSpPr>
        <p:spPr>
          <a:xfrm>
            <a:off x="6522402" y="3469957"/>
            <a:ext cx="2325370" cy="845819"/>
          </a:xfrm>
          <a:prstGeom prst="rect">
            <a:avLst/>
          </a:prstGeom>
          <a:noFill/>
          <a:ln>
            <a:noFill/>
          </a:ln>
        </p:spPr>
        <p:txBody>
          <a:bodyPr anchorCtr="0" anchor="t" bIns="0" lIns="0" spcFirstLastPara="1" rIns="0" wrap="square" tIns="13950">
            <a:spAutoFit/>
          </a:bodyPr>
          <a:lstStyle/>
          <a:p>
            <a:pPr indent="0" lvl="0" marL="38100" marR="30480" rtl="0" algn="l">
              <a:lnSpc>
                <a:spcPct val="99500"/>
              </a:lnSpc>
              <a:spcBef>
                <a:spcPts val="0"/>
              </a:spcBef>
              <a:spcAft>
                <a:spcPts val="0"/>
              </a:spcAft>
              <a:buNone/>
            </a:pPr>
            <a:r>
              <a:rPr lang="en-US" sz="1800">
                <a:solidFill>
                  <a:schemeClr val="dk1"/>
                </a:solidFill>
                <a:latin typeface="Arial"/>
                <a:ea typeface="Arial"/>
                <a:cs typeface="Arial"/>
                <a:sym typeface="Arial"/>
              </a:rPr>
              <a:t>Results of Gaussian  high pass filtering with  </a:t>
            </a:r>
            <a:r>
              <a:rPr i="1" lang="en-US" sz="1800">
                <a:solidFill>
                  <a:schemeClr val="dk1"/>
                </a:solidFill>
                <a:latin typeface="Times New Roman"/>
                <a:ea typeface="Times New Roman"/>
                <a:cs typeface="Times New Roman"/>
                <a:sym typeface="Times New Roman"/>
              </a:rPr>
              <a:t>D</a:t>
            </a:r>
            <a:r>
              <a:rPr baseline="-25000" i="1" lang="en-US" sz="1800">
                <a:solidFill>
                  <a:schemeClr val="dk1"/>
                </a:solidFill>
                <a:latin typeface="Times New Roman"/>
                <a:ea typeface="Times New Roman"/>
                <a:cs typeface="Times New Roman"/>
                <a:sym typeface="Times New Roman"/>
              </a:rPr>
              <a:t>0 </a:t>
            </a:r>
            <a:r>
              <a:rPr lang="en-US" sz="1800">
                <a:solidFill>
                  <a:schemeClr val="dk1"/>
                </a:solidFill>
                <a:latin typeface="Arial"/>
                <a:ea typeface="Arial"/>
                <a:cs typeface="Arial"/>
                <a:sym typeface="Arial"/>
              </a:rPr>
              <a:t>= 15</a:t>
            </a:r>
            <a:endParaRPr sz="1800">
              <a:solidFill>
                <a:schemeClr val="dk1"/>
              </a:solidFill>
              <a:latin typeface="Arial"/>
              <a:ea typeface="Arial"/>
              <a:cs typeface="Arial"/>
              <a:sym typeface="Arial"/>
            </a:endParaRPr>
          </a:p>
        </p:txBody>
      </p:sp>
      <p:grpSp>
        <p:nvGrpSpPr>
          <p:cNvPr id="498" name="Google Shape;498;p36"/>
          <p:cNvGrpSpPr/>
          <p:nvPr/>
        </p:nvGrpSpPr>
        <p:grpSpPr>
          <a:xfrm>
            <a:off x="-2318" y="1631156"/>
            <a:ext cx="279274" cy="5226843"/>
            <a:chOff x="-2318" y="1631156"/>
            <a:chExt cx="279274" cy="5226843"/>
          </a:xfrm>
        </p:grpSpPr>
        <p:sp>
          <p:nvSpPr>
            <p:cNvPr id="499" name="Google Shape;499;p36"/>
            <p:cNvSpPr/>
            <p:nvPr/>
          </p:nvSpPr>
          <p:spPr>
            <a:xfrm>
              <a:off x="0" y="6663531"/>
              <a:ext cx="276956" cy="19446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36"/>
            <p:cNvSpPr/>
            <p:nvPr/>
          </p:nvSpPr>
          <p:spPr>
            <a:xfrm>
              <a:off x="-2318" y="1631156"/>
              <a:ext cx="273050" cy="5035550"/>
            </a:xfrm>
            <a:custGeom>
              <a:rect b="b" l="l" r="r" t="t"/>
              <a:pathLst>
                <a:path extrusionOk="0" h="5035550" w="273050">
                  <a:moveTo>
                    <a:pt x="272421" y="0"/>
                  </a:moveTo>
                  <a:lnTo>
                    <a:pt x="0" y="0"/>
                  </a:lnTo>
                  <a:lnTo>
                    <a:pt x="0" y="5035550"/>
                  </a:lnTo>
                  <a:lnTo>
                    <a:pt x="272421" y="5035550"/>
                  </a:lnTo>
                  <a:lnTo>
                    <a:pt x="272421" y="0"/>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1" name="Google Shape;501;p36"/>
            <p:cNvSpPr/>
            <p:nvPr/>
          </p:nvSpPr>
          <p:spPr>
            <a:xfrm>
              <a:off x="-2318" y="1631159"/>
              <a:ext cx="272415" cy="5035550"/>
            </a:xfrm>
            <a:custGeom>
              <a:rect b="b" l="l" r="r" t="t"/>
              <a:pathLst>
                <a:path extrusionOk="0" h="5035550" w="272415">
                  <a:moveTo>
                    <a:pt x="0" y="5035546"/>
                  </a:moveTo>
                  <a:lnTo>
                    <a:pt x="0" y="0"/>
                  </a:lnTo>
                  <a:lnTo>
                    <a:pt x="272420" y="0"/>
                  </a:lnTo>
                  <a:lnTo>
                    <a:pt x="272420" y="5035546"/>
                  </a:lnTo>
                  <a:lnTo>
                    <a:pt x="0" y="5035546"/>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2" name="Google Shape;502;p36"/>
          <p:cNvSpPr txBox="1"/>
          <p:nvPr/>
        </p:nvSpPr>
        <p:spPr>
          <a:xfrm rot="-5400000">
            <a:off x="-2380709" y="4047970"/>
            <a:ext cx="5029200" cy="208279"/>
          </a:xfrm>
          <a:prstGeom prst="rect">
            <a:avLst/>
          </a:prstGeom>
          <a:noFill/>
          <a:ln>
            <a:noFill/>
          </a:ln>
        </p:spPr>
        <p:txBody>
          <a:bodyPr anchorCtr="0" anchor="t" bIns="0" lIns="0" spcFirstLastPara="1" rIns="0" wrap="square" tIns="12700">
            <a:spAutoFit/>
          </a:bodyPr>
          <a:lstStyle/>
          <a:p>
            <a:pPr indent="0" lvl="0" marL="7874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6" name="Shape 506"/>
        <p:cNvGrpSpPr/>
        <p:nvPr/>
      </p:nvGrpSpPr>
      <p:grpSpPr>
        <a:xfrm>
          <a:off x="0" y="0"/>
          <a:ext cx="0" cy="0"/>
          <a:chOff x="0" y="0"/>
          <a:chExt cx="0" cy="0"/>
        </a:xfrm>
      </p:grpSpPr>
      <p:sp>
        <p:nvSpPr>
          <p:cNvPr id="507" name="Google Shape;507;p37"/>
          <p:cNvSpPr/>
          <p:nvPr/>
        </p:nvSpPr>
        <p:spPr>
          <a:xfrm>
            <a:off x="79375" y="787400"/>
            <a:ext cx="5478462" cy="84328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 name="Google Shape;508;p37"/>
          <p:cNvSpPr txBox="1"/>
          <p:nvPr/>
        </p:nvSpPr>
        <p:spPr>
          <a:xfrm rot="5400000">
            <a:off x="2690505" y="3828098"/>
            <a:ext cx="6828155" cy="650240"/>
          </a:xfrm>
          <a:prstGeom prst="rect">
            <a:avLst/>
          </a:prstGeom>
          <a:noFill/>
          <a:ln>
            <a:noFill/>
          </a:ln>
        </p:spPr>
        <p:txBody>
          <a:bodyPr anchorCtr="0" anchor="t" bIns="0" lIns="0" spcFirstLastPara="1" rIns="0" wrap="square" tIns="0">
            <a:spAutoFit/>
          </a:bodyPr>
          <a:lstStyle/>
          <a:p>
            <a:pPr indent="0" lvl="0" marL="12700" marR="0" rtl="0" algn="l">
              <a:lnSpc>
                <a:spcPct val="112840"/>
              </a:lnSpc>
              <a:spcBef>
                <a:spcPts val="0"/>
              </a:spcBef>
              <a:spcAft>
                <a:spcPts val="0"/>
              </a:spcAft>
              <a:buNone/>
            </a:pPr>
            <a:r>
              <a:rPr lang="en-US" sz="4400">
                <a:solidFill>
                  <a:srgbClr val="775F55"/>
                </a:solidFill>
                <a:latin typeface="Arial"/>
                <a:ea typeface="Arial"/>
                <a:cs typeface="Arial"/>
                <a:sym typeface="Arial"/>
              </a:rPr>
              <a:t>Highpass Filtering	Example</a:t>
            </a:r>
            <a:endParaRPr sz="4400">
              <a:solidFill>
                <a:schemeClr val="dk1"/>
              </a:solidFill>
              <a:latin typeface="Arial"/>
              <a:ea typeface="Arial"/>
              <a:cs typeface="Arial"/>
              <a:sym typeface="Arial"/>
            </a:endParaRPr>
          </a:p>
        </p:txBody>
      </p:sp>
      <p:sp>
        <p:nvSpPr>
          <p:cNvPr id="509" name="Google Shape;509;p37"/>
          <p:cNvSpPr txBox="1"/>
          <p:nvPr/>
        </p:nvSpPr>
        <p:spPr>
          <a:xfrm>
            <a:off x="3448679" y="553719"/>
            <a:ext cx="149987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Arial"/>
                <a:ea typeface="Arial"/>
                <a:cs typeface="Arial"/>
                <a:sym typeface="Arial"/>
              </a:rPr>
              <a:t>Original image</a:t>
            </a:r>
            <a:endParaRPr sz="1800">
              <a:solidFill>
                <a:schemeClr val="dk1"/>
              </a:solidFill>
              <a:latin typeface="Arial"/>
              <a:ea typeface="Arial"/>
              <a:cs typeface="Arial"/>
              <a:sym typeface="Arial"/>
            </a:endParaRPr>
          </a:p>
        </p:txBody>
      </p:sp>
      <p:sp>
        <p:nvSpPr>
          <p:cNvPr id="510" name="Google Shape;510;p37"/>
          <p:cNvSpPr txBox="1"/>
          <p:nvPr/>
        </p:nvSpPr>
        <p:spPr>
          <a:xfrm rot="10800000">
            <a:off x="3000335" y="9234681"/>
            <a:ext cx="2387773"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800">
                <a:solidFill>
                  <a:schemeClr val="dk1"/>
                </a:solidFill>
                <a:latin typeface="Arial"/>
                <a:ea typeface="Arial"/>
                <a:cs typeface="Arial"/>
                <a:sym typeface="Arial"/>
              </a:rPr>
              <a:t>Highpass filtering result</a:t>
            </a:r>
            <a:endParaRPr sz="1800">
              <a:solidFill>
                <a:schemeClr val="dk1"/>
              </a:solidFill>
              <a:latin typeface="Arial"/>
              <a:ea typeface="Arial"/>
              <a:cs typeface="Arial"/>
              <a:sym typeface="Arial"/>
            </a:endParaRPr>
          </a:p>
        </p:txBody>
      </p:sp>
      <p:sp>
        <p:nvSpPr>
          <p:cNvPr id="511" name="Google Shape;511;p37"/>
          <p:cNvSpPr txBox="1"/>
          <p:nvPr/>
        </p:nvSpPr>
        <p:spPr>
          <a:xfrm>
            <a:off x="702292" y="264794"/>
            <a:ext cx="1626870" cy="566420"/>
          </a:xfrm>
          <a:prstGeom prst="rect">
            <a:avLst/>
          </a:prstGeom>
          <a:noFill/>
          <a:ln>
            <a:noFill/>
          </a:ln>
        </p:spPr>
        <p:txBody>
          <a:bodyPr anchorCtr="0" anchor="t" bIns="0" lIns="0" spcFirstLastPara="1" rIns="0" wrap="square" tIns="27925">
            <a:spAutoFit/>
          </a:bodyPr>
          <a:lstStyle/>
          <a:p>
            <a:pPr indent="31115" lvl="0" marL="12700" marR="5080" rtl="0" algn="l">
              <a:lnSpc>
                <a:spcPct val="116666"/>
              </a:lnSpc>
              <a:spcBef>
                <a:spcPts val="0"/>
              </a:spcBef>
              <a:spcAft>
                <a:spcPts val="0"/>
              </a:spcAft>
              <a:buNone/>
            </a:pPr>
            <a:r>
              <a:rPr lang="en-US" sz="1800">
                <a:solidFill>
                  <a:schemeClr val="dk1"/>
                </a:solidFill>
                <a:latin typeface="Arial"/>
                <a:ea typeface="Arial"/>
                <a:cs typeface="Arial"/>
                <a:sym typeface="Arial"/>
              </a:rPr>
              <a:t>High frequency  emphasis result</a:t>
            </a:r>
            <a:endParaRPr sz="1800">
              <a:solidFill>
                <a:schemeClr val="dk1"/>
              </a:solidFill>
              <a:latin typeface="Arial"/>
              <a:ea typeface="Arial"/>
              <a:cs typeface="Arial"/>
              <a:sym typeface="Arial"/>
            </a:endParaRPr>
          </a:p>
        </p:txBody>
      </p:sp>
      <p:sp>
        <p:nvSpPr>
          <p:cNvPr id="512" name="Google Shape;512;p37"/>
          <p:cNvSpPr txBox="1"/>
          <p:nvPr/>
        </p:nvSpPr>
        <p:spPr>
          <a:xfrm rot="10800000">
            <a:off x="688098" y="9522018"/>
            <a:ext cx="1566801"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800">
                <a:solidFill>
                  <a:schemeClr val="dk1"/>
                </a:solidFill>
                <a:latin typeface="Arial"/>
                <a:ea typeface="Arial"/>
                <a:cs typeface="Arial"/>
                <a:sym typeface="Arial"/>
              </a:rPr>
              <a:t>After histogram</a:t>
            </a:r>
            <a:endParaRPr sz="1800">
              <a:solidFill>
                <a:schemeClr val="dk1"/>
              </a:solidFill>
              <a:latin typeface="Arial"/>
              <a:ea typeface="Arial"/>
              <a:cs typeface="Arial"/>
              <a:sym typeface="Arial"/>
            </a:endParaRPr>
          </a:p>
        </p:txBody>
      </p:sp>
      <p:sp>
        <p:nvSpPr>
          <p:cNvPr id="513" name="Google Shape;513;p37"/>
          <p:cNvSpPr txBox="1"/>
          <p:nvPr/>
        </p:nvSpPr>
        <p:spPr>
          <a:xfrm rot="10800000">
            <a:off x="850661" y="9255318"/>
            <a:ext cx="124169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800">
                <a:solidFill>
                  <a:schemeClr val="dk1"/>
                </a:solidFill>
                <a:latin typeface="Arial"/>
                <a:ea typeface="Arial"/>
                <a:cs typeface="Arial"/>
                <a:sym typeface="Arial"/>
              </a:rPr>
              <a:t>equalisation</a:t>
            </a:r>
            <a:endParaRPr sz="1800">
              <a:solidFill>
                <a:schemeClr val="dk1"/>
              </a:solidFill>
              <a:latin typeface="Arial"/>
              <a:ea typeface="Arial"/>
              <a:cs typeface="Arial"/>
              <a:sym typeface="Arial"/>
            </a:endParaRPr>
          </a:p>
        </p:txBody>
      </p:sp>
      <p:grpSp>
        <p:nvGrpSpPr>
          <p:cNvPr id="514" name="Google Shape;514;p37"/>
          <p:cNvGrpSpPr/>
          <p:nvPr/>
        </p:nvGrpSpPr>
        <p:grpSpPr>
          <a:xfrm>
            <a:off x="0" y="0"/>
            <a:ext cx="5226843" cy="276956"/>
            <a:chOff x="0" y="0"/>
            <a:chExt cx="5226843" cy="276956"/>
          </a:xfrm>
        </p:grpSpPr>
        <p:sp>
          <p:nvSpPr>
            <p:cNvPr id="515" name="Google Shape;515;p37"/>
            <p:cNvSpPr/>
            <p:nvPr/>
          </p:nvSpPr>
          <p:spPr>
            <a:xfrm>
              <a:off x="0" y="0"/>
              <a:ext cx="194468" cy="276956"/>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37"/>
            <p:cNvSpPr/>
            <p:nvPr/>
          </p:nvSpPr>
          <p:spPr>
            <a:xfrm>
              <a:off x="191293" y="0"/>
              <a:ext cx="5035550" cy="272415"/>
            </a:xfrm>
            <a:custGeom>
              <a:rect b="b" l="l" r="r" t="t"/>
              <a:pathLst>
                <a:path extrusionOk="0" h="272415" w="5035550">
                  <a:moveTo>
                    <a:pt x="5035550" y="272421"/>
                  </a:moveTo>
                  <a:lnTo>
                    <a:pt x="5035550" y="0"/>
                  </a:lnTo>
                  <a:lnTo>
                    <a:pt x="0" y="0"/>
                  </a:lnTo>
                  <a:lnTo>
                    <a:pt x="0" y="272421"/>
                  </a:lnTo>
                  <a:lnTo>
                    <a:pt x="5035550" y="272421"/>
                  </a:lnTo>
                  <a:close/>
                </a:path>
              </a:pathLst>
            </a:custGeom>
            <a:solidFill>
              <a:srgbClr val="E5935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37"/>
            <p:cNvSpPr/>
            <p:nvPr/>
          </p:nvSpPr>
          <p:spPr>
            <a:xfrm>
              <a:off x="191293" y="0"/>
              <a:ext cx="5035550" cy="272415"/>
            </a:xfrm>
            <a:custGeom>
              <a:rect b="b" l="l" r="r" t="t"/>
              <a:pathLst>
                <a:path extrusionOk="0" h="272415" w="5035550">
                  <a:moveTo>
                    <a:pt x="0" y="0"/>
                  </a:moveTo>
                  <a:lnTo>
                    <a:pt x="5035546" y="0"/>
                  </a:lnTo>
                  <a:lnTo>
                    <a:pt x="5035546" y="272420"/>
                  </a:lnTo>
                  <a:lnTo>
                    <a:pt x="0" y="272420"/>
                  </a:lnTo>
                  <a:lnTo>
                    <a:pt x="0" y="0"/>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8" name="Google Shape;518;p37"/>
          <p:cNvSpPr txBox="1"/>
          <p:nvPr/>
        </p:nvSpPr>
        <p:spPr>
          <a:xfrm>
            <a:off x="197643" y="29751"/>
            <a:ext cx="5022850" cy="208279"/>
          </a:xfrm>
          <a:prstGeom prst="rect">
            <a:avLst/>
          </a:prstGeom>
          <a:noFill/>
          <a:ln>
            <a:noFill/>
          </a:ln>
        </p:spPr>
        <p:txBody>
          <a:bodyPr anchorCtr="0" anchor="t" bIns="0" lIns="0" spcFirstLastPara="1" rIns="0" wrap="square" tIns="12700">
            <a:spAutoFit/>
          </a:bodyPr>
          <a:lstStyle/>
          <a:p>
            <a:pPr indent="0" lvl="0" marL="72390" marR="0" rtl="0" algn="l">
              <a:lnSpc>
                <a:spcPct val="100000"/>
              </a:lnSpc>
              <a:spcBef>
                <a:spcPts val="0"/>
              </a:spcBef>
              <a:spcAft>
                <a:spcPts val="0"/>
              </a:spcAft>
              <a:buNone/>
            </a:pPr>
            <a:r>
              <a:rPr lang="en-US" sz="1200">
                <a:solidFill>
                  <a:srgbClr val="FFFFFF"/>
                </a:solidFill>
                <a:latin typeface="Arial"/>
                <a:ea typeface="Arial"/>
                <a:cs typeface="Arial"/>
                <a:sym typeface="Arial"/>
              </a:rPr>
              <a:t>Images taken from Gonzalez &amp; Woods, Digital Image Processing (2002)</a:t>
            </a:r>
            <a:endParaRPr sz="1200">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38"/>
          <p:cNvSpPr txBox="1"/>
          <p:nvPr>
            <p:ph type="title"/>
          </p:nvPr>
        </p:nvSpPr>
        <p:spPr>
          <a:xfrm>
            <a:off x="742441" y="375920"/>
            <a:ext cx="570801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Fast Fourier Transform</a:t>
            </a:r>
            <a:endParaRPr sz="4400"/>
          </a:p>
        </p:txBody>
      </p:sp>
      <p:sp>
        <p:nvSpPr>
          <p:cNvPr id="524" name="Google Shape;524;p38"/>
          <p:cNvSpPr txBox="1"/>
          <p:nvPr/>
        </p:nvSpPr>
        <p:spPr>
          <a:xfrm>
            <a:off x="742441" y="1633220"/>
            <a:ext cx="8194675" cy="3286760"/>
          </a:xfrm>
          <a:prstGeom prst="rect">
            <a:avLst/>
          </a:prstGeom>
          <a:noFill/>
          <a:ln>
            <a:noFill/>
          </a:ln>
        </p:spPr>
        <p:txBody>
          <a:bodyPr anchorCtr="0" anchor="t" bIns="0" lIns="0" spcFirstLastPara="1" rIns="0" wrap="square" tIns="16500">
            <a:spAutoFit/>
          </a:bodyPr>
          <a:lstStyle/>
          <a:p>
            <a:pPr indent="0" lvl="0" marL="12700" marR="5080" rtl="0" algn="l">
              <a:lnSpc>
                <a:spcPct val="99100"/>
              </a:lnSpc>
              <a:spcBef>
                <a:spcPts val="0"/>
              </a:spcBef>
              <a:spcAft>
                <a:spcPts val="0"/>
              </a:spcAft>
              <a:buNone/>
            </a:pPr>
            <a:r>
              <a:rPr lang="en-US" sz="2900">
                <a:solidFill>
                  <a:schemeClr val="dk1"/>
                </a:solidFill>
                <a:latin typeface="Arial"/>
                <a:ea typeface="Arial"/>
                <a:cs typeface="Arial"/>
                <a:sym typeface="Arial"/>
              </a:rPr>
              <a:t>The reason that Fourier based techniques have  become so popular is the development of the </a:t>
            </a:r>
            <a:r>
              <a:rPr i="1" lang="en-US" sz="2900">
                <a:solidFill>
                  <a:schemeClr val="dk1"/>
                </a:solidFill>
                <a:latin typeface="Arial"/>
                <a:ea typeface="Arial"/>
                <a:cs typeface="Arial"/>
                <a:sym typeface="Arial"/>
              </a:rPr>
              <a:t>Fast  Fourier Transform (FFT) </a:t>
            </a:r>
            <a:r>
              <a:rPr lang="en-US" sz="2900">
                <a:solidFill>
                  <a:schemeClr val="dk1"/>
                </a:solidFill>
                <a:latin typeface="Arial"/>
                <a:ea typeface="Arial"/>
                <a:cs typeface="Arial"/>
                <a:sym typeface="Arial"/>
              </a:rPr>
              <a:t>algorithm</a:t>
            </a:r>
            <a:endParaRPr sz="2900">
              <a:solidFill>
                <a:schemeClr val="dk1"/>
              </a:solidFill>
              <a:latin typeface="Arial"/>
              <a:ea typeface="Arial"/>
              <a:cs typeface="Arial"/>
              <a:sym typeface="Arial"/>
            </a:endParaRPr>
          </a:p>
          <a:p>
            <a:pPr indent="0" lvl="0" marL="12700" marR="107950" rtl="0" algn="l">
              <a:lnSpc>
                <a:spcPct val="100600"/>
              </a:lnSpc>
              <a:spcBef>
                <a:spcPts val="700"/>
              </a:spcBef>
              <a:spcAft>
                <a:spcPts val="0"/>
              </a:spcAft>
              <a:buNone/>
            </a:pPr>
            <a:r>
              <a:rPr lang="en-US" sz="2900">
                <a:solidFill>
                  <a:schemeClr val="dk1"/>
                </a:solidFill>
                <a:latin typeface="Arial"/>
                <a:ea typeface="Arial"/>
                <a:cs typeface="Arial"/>
                <a:sym typeface="Arial"/>
              </a:rPr>
              <a:t>Allows the Fourier transform to be carried out in a  reasonable amount of time</a:t>
            </a:r>
            <a:endParaRPr sz="2900">
              <a:solidFill>
                <a:schemeClr val="dk1"/>
              </a:solidFill>
              <a:latin typeface="Arial"/>
              <a:ea typeface="Arial"/>
              <a:cs typeface="Arial"/>
              <a:sym typeface="Arial"/>
            </a:endParaRPr>
          </a:p>
          <a:p>
            <a:pPr indent="0" lvl="0" marL="12700" marR="25400" rtl="0" algn="l">
              <a:lnSpc>
                <a:spcPct val="117241"/>
              </a:lnSpc>
              <a:spcBef>
                <a:spcPts val="900"/>
              </a:spcBef>
              <a:spcAft>
                <a:spcPts val="0"/>
              </a:spcAft>
              <a:buNone/>
            </a:pPr>
            <a:r>
              <a:rPr lang="en-US" sz="2900">
                <a:solidFill>
                  <a:schemeClr val="dk1"/>
                </a:solidFill>
                <a:latin typeface="Arial"/>
                <a:ea typeface="Arial"/>
                <a:cs typeface="Arial"/>
                <a:sym typeface="Arial"/>
              </a:rPr>
              <a:t>Reduces the amount of time required to perform a  Fourier transform by a factor of 100 – 600 times!</a:t>
            </a:r>
            <a:endParaRPr sz="2900">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39"/>
          <p:cNvSpPr txBox="1"/>
          <p:nvPr>
            <p:ph type="title"/>
          </p:nvPr>
        </p:nvSpPr>
        <p:spPr>
          <a:xfrm>
            <a:off x="742441" y="223520"/>
            <a:ext cx="8421116" cy="995680"/>
          </a:xfrm>
          <a:prstGeom prst="rect">
            <a:avLst/>
          </a:prstGeom>
          <a:noFill/>
          <a:ln>
            <a:noFill/>
          </a:ln>
        </p:spPr>
        <p:txBody>
          <a:bodyPr anchorCtr="0" anchor="t" bIns="0" lIns="0" spcFirstLastPara="1" rIns="0" wrap="square" tIns="33000">
            <a:spAutoFit/>
          </a:bodyPr>
          <a:lstStyle/>
          <a:p>
            <a:pPr indent="0" lvl="0" marL="12700" marR="5080" rtl="0" algn="l">
              <a:lnSpc>
                <a:spcPct val="118750"/>
              </a:lnSpc>
              <a:spcBef>
                <a:spcPts val="0"/>
              </a:spcBef>
              <a:spcAft>
                <a:spcPts val="0"/>
              </a:spcAft>
              <a:buNone/>
            </a:pPr>
            <a:r>
              <a:rPr lang="en-US"/>
              <a:t>Frequency Domain Filtering &amp; Spatial Domain  Filtering</a:t>
            </a:r>
            <a:endParaRPr/>
          </a:p>
        </p:txBody>
      </p:sp>
      <p:sp>
        <p:nvSpPr>
          <p:cNvPr id="530" name="Google Shape;530;p39"/>
          <p:cNvSpPr txBox="1"/>
          <p:nvPr/>
        </p:nvSpPr>
        <p:spPr>
          <a:xfrm>
            <a:off x="742441" y="1633220"/>
            <a:ext cx="8666480" cy="2854960"/>
          </a:xfrm>
          <a:prstGeom prst="rect">
            <a:avLst/>
          </a:prstGeom>
          <a:noFill/>
          <a:ln>
            <a:noFill/>
          </a:ln>
        </p:spPr>
        <p:txBody>
          <a:bodyPr anchorCtr="0" anchor="t" bIns="0" lIns="0" spcFirstLastPara="1" rIns="0" wrap="square" tIns="35550">
            <a:spAutoFit/>
          </a:bodyPr>
          <a:lstStyle/>
          <a:p>
            <a:pPr indent="0" lvl="0" marL="12700" marR="5080" rtl="0" algn="l">
              <a:lnSpc>
                <a:spcPct val="117241"/>
              </a:lnSpc>
              <a:spcBef>
                <a:spcPts val="0"/>
              </a:spcBef>
              <a:spcAft>
                <a:spcPts val="0"/>
              </a:spcAft>
              <a:buNone/>
            </a:pPr>
            <a:r>
              <a:rPr lang="en-US" sz="2900">
                <a:solidFill>
                  <a:schemeClr val="dk1"/>
                </a:solidFill>
                <a:latin typeface="Arial"/>
                <a:ea typeface="Arial"/>
                <a:cs typeface="Arial"/>
                <a:sym typeface="Arial"/>
              </a:rPr>
              <a:t>Similar jobs can be done in the spatial and frequency  domains</a:t>
            </a:r>
            <a:endParaRPr sz="2900">
              <a:solidFill>
                <a:schemeClr val="dk1"/>
              </a:solidFill>
              <a:latin typeface="Arial"/>
              <a:ea typeface="Arial"/>
              <a:cs typeface="Arial"/>
              <a:sym typeface="Arial"/>
            </a:endParaRPr>
          </a:p>
          <a:p>
            <a:pPr indent="0" lvl="0" marL="12700" marR="1131570" rtl="0" algn="l">
              <a:lnSpc>
                <a:spcPct val="100600"/>
              </a:lnSpc>
              <a:spcBef>
                <a:spcPts val="600"/>
              </a:spcBef>
              <a:spcAft>
                <a:spcPts val="0"/>
              </a:spcAft>
              <a:buNone/>
            </a:pPr>
            <a:r>
              <a:rPr lang="en-US" sz="2900">
                <a:solidFill>
                  <a:schemeClr val="dk1"/>
                </a:solidFill>
                <a:latin typeface="Arial"/>
                <a:ea typeface="Arial"/>
                <a:cs typeface="Arial"/>
                <a:sym typeface="Arial"/>
              </a:rPr>
              <a:t>Filtering in the spatial domain can be easier to  understand</a:t>
            </a:r>
            <a:endParaRPr sz="2900">
              <a:solidFill>
                <a:schemeClr val="dk1"/>
              </a:solidFill>
              <a:latin typeface="Arial"/>
              <a:ea typeface="Arial"/>
              <a:cs typeface="Arial"/>
              <a:sym typeface="Arial"/>
            </a:endParaRPr>
          </a:p>
          <a:p>
            <a:pPr indent="0" lvl="0" marL="12700" marR="988060" rtl="0" algn="l">
              <a:lnSpc>
                <a:spcPct val="100600"/>
              </a:lnSpc>
              <a:spcBef>
                <a:spcPts val="695"/>
              </a:spcBef>
              <a:spcAft>
                <a:spcPts val="0"/>
              </a:spcAft>
              <a:buNone/>
            </a:pPr>
            <a:r>
              <a:rPr lang="en-US" sz="2900">
                <a:solidFill>
                  <a:schemeClr val="dk1"/>
                </a:solidFill>
                <a:latin typeface="Arial"/>
                <a:ea typeface="Arial"/>
                <a:cs typeface="Arial"/>
                <a:sym typeface="Arial"/>
              </a:rPr>
              <a:t>Filtering in the frequency	domain can be much  faster – especially for large images</a:t>
            </a:r>
            <a:endParaRPr sz="2900">
              <a:solidFill>
                <a:schemeClr val="dk1"/>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0"/>
          <p:cNvSpPr txBox="1"/>
          <p:nvPr>
            <p:ph type="title"/>
          </p:nvPr>
        </p:nvSpPr>
        <p:spPr>
          <a:xfrm>
            <a:off x="742441" y="223520"/>
            <a:ext cx="8421116" cy="99568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36" name="Google Shape;536;p40"/>
          <p:cNvSpPr/>
          <p:nvPr/>
        </p:nvSpPr>
        <p:spPr>
          <a:xfrm>
            <a:off x="381000" y="2209800"/>
            <a:ext cx="9067800" cy="6124754"/>
          </a:xfrm>
          <a:prstGeom prst="rect">
            <a:avLst/>
          </a:prstGeom>
          <a:noFill/>
          <a:ln>
            <a:noFill/>
          </a:ln>
        </p:spPr>
        <p:txBody>
          <a:bodyPr anchorCtr="0" anchor="t" bIns="45700" lIns="91425" spcFirstLastPara="1" rIns="91425" wrap="square" tIns="45700">
            <a:spAutoFit/>
          </a:bodyPr>
          <a:lstStyle/>
          <a:p>
            <a:pPr indent="-177800" lvl="0" marL="0" marR="0" rtl="0" algn="just">
              <a:spcBef>
                <a:spcPts val="0"/>
              </a:spcBef>
              <a:spcAft>
                <a:spcPts val="0"/>
              </a:spcAft>
              <a:buClr>
                <a:schemeClr val="dk1"/>
              </a:buClr>
              <a:buSzPts val="2800"/>
              <a:buFont typeface="Arial"/>
              <a:buChar char="•"/>
            </a:pPr>
            <a:r>
              <a:rPr b="1" lang="en-US" sz="2800">
                <a:solidFill>
                  <a:schemeClr val="dk1"/>
                </a:solidFill>
                <a:latin typeface="Calibri"/>
                <a:ea typeface="Calibri"/>
                <a:cs typeface="Calibri"/>
                <a:sym typeface="Calibri"/>
              </a:rPr>
              <a:t>Homomorphic filtering</a:t>
            </a:r>
            <a:r>
              <a:rPr lang="en-US" sz="2800">
                <a:solidFill>
                  <a:schemeClr val="dk1"/>
                </a:solidFill>
                <a:latin typeface="Calibri"/>
                <a:ea typeface="Calibri"/>
                <a:cs typeface="Calibri"/>
                <a:sym typeface="Calibri"/>
              </a:rPr>
              <a:t> is a generalized technique for signal and image processing, involving a nonlinear mapping to a different domain in which linear filter techniques are applied, followed by mapping back to the original domain.</a:t>
            </a:r>
            <a:endParaRPr/>
          </a:p>
          <a:p>
            <a:pPr indent="0" lvl="0" marL="0" marR="0" rtl="0" algn="just">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177800" lvl="0" marL="0" marR="0" rtl="0" algn="just">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Homomorphic filtering is sometimes used for image enhancement. </a:t>
            </a:r>
            <a:endParaRPr/>
          </a:p>
          <a:p>
            <a:pPr indent="0" lvl="0" marL="0" marR="0" rtl="0" algn="just">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177800" lvl="0" marL="0" marR="0" rtl="0" algn="just">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It simultaneously normalizes the brightness across an image and increases contrast. </a:t>
            </a:r>
            <a:endParaRPr/>
          </a:p>
          <a:p>
            <a:pPr indent="0" lvl="0" marL="0" marR="0" rtl="0" algn="just">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177800" lvl="0" marL="0" marR="0" rtl="0" algn="just">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Here homomorphic filtering is used to remove multiplicative noise.</a:t>
            </a:r>
            <a:endParaRPr/>
          </a:p>
          <a:p>
            <a:pPr indent="0" lvl="0" marL="0" marR="0" rtl="0" algn="just">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41"/>
          <p:cNvSpPr txBox="1"/>
          <p:nvPr>
            <p:ph type="title"/>
          </p:nvPr>
        </p:nvSpPr>
        <p:spPr>
          <a:xfrm>
            <a:off x="742441" y="223520"/>
            <a:ext cx="8421116" cy="99568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42" name="Google Shape;542;p41"/>
          <p:cNvSpPr/>
          <p:nvPr/>
        </p:nvSpPr>
        <p:spPr>
          <a:xfrm>
            <a:off x="381000" y="2209800"/>
            <a:ext cx="9067800" cy="510909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177800" lvl="0" marL="0" marR="0" rtl="0" algn="just">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To make the illumination of an image more even, the high-frequency components are increased and low-frequency components are decreased</a:t>
            </a:r>
            <a:endParaRPr/>
          </a:p>
          <a:p>
            <a:pPr indent="0" lvl="0" marL="0" marR="0" rtl="0" algn="just">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177800" lvl="0" marL="0" marR="0" rtl="0" algn="just">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Because the high-frequency components are assumed to represent mostly the reflectance in the scene whereas the low-frequency components are assumed to represent mostly the illumination in the scene.</a:t>
            </a:r>
            <a:endParaRPr/>
          </a:p>
          <a:p>
            <a:pPr indent="0" lvl="0" marL="0" marR="0" rtl="0" algn="just">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177800" lvl="0" marL="0" marR="0" rtl="0" algn="just">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 That is, high-pass filtering is used to suppress low frequencies and amplify high frequencies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42"/>
          <p:cNvSpPr txBox="1"/>
          <p:nvPr>
            <p:ph type="title"/>
          </p:nvPr>
        </p:nvSpPr>
        <p:spPr>
          <a:xfrm>
            <a:off x="742441" y="223520"/>
            <a:ext cx="8421116" cy="99568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descr="https://upload.wikimedia.org/wikipedia/commons/thumb/b/b1/Original_image_%28trees.tif%29.jpg/500px-Original_image_%28trees.tif%29.jpg" id="548" name="Google Shape;548;p42"/>
          <p:cNvPicPr preferRelativeResize="0"/>
          <p:nvPr/>
        </p:nvPicPr>
        <p:blipFill rotWithShape="1">
          <a:blip r:embed="rId3">
            <a:alphaModFix/>
          </a:blip>
          <a:srcRect b="0" l="0" r="0" t="0"/>
          <a:stretch/>
        </p:blipFill>
        <p:spPr>
          <a:xfrm>
            <a:off x="0" y="2895600"/>
            <a:ext cx="4762500" cy="3295651"/>
          </a:xfrm>
          <a:prstGeom prst="rect">
            <a:avLst/>
          </a:prstGeom>
          <a:noFill/>
          <a:ln>
            <a:noFill/>
          </a:ln>
        </p:spPr>
      </p:pic>
      <p:pic>
        <p:nvPicPr>
          <p:cNvPr descr="https://upload.wikimedia.org/wikipedia/commons/thumb/7/7b/Image_by_Homomorphic_Filter.jpg/500px-Image_by_Homomorphic_Filter.jpg" id="549" name="Google Shape;549;p42"/>
          <p:cNvPicPr preferRelativeResize="0"/>
          <p:nvPr/>
        </p:nvPicPr>
        <p:blipFill rotWithShape="1">
          <a:blip r:embed="rId4">
            <a:alphaModFix/>
          </a:blip>
          <a:srcRect b="0" l="0" r="0" t="0"/>
          <a:stretch/>
        </p:blipFill>
        <p:spPr>
          <a:xfrm>
            <a:off x="4876800" y="2952749"/>
            <a:ext cx="4762500" cy="329565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43"/>
          <p:cNvSpPr txBox="1"/>
          <p:nvPr>
            <p:ph type="title"/>
          </p:nvPr>
        </p:nvSpPr>
        <p:spPr>
          <a:xfrm>
            <a:off x="742441" y="223520"/>
            <a:ext cx="8421116" cy="99568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55" name="Google Shape;555;p43"/>
          <p:cNvSpPr txBox="1"/>
          <p:nvPr>
            <p:ph idx="1" type="body"/>
          </p:nvPr>
        </p:nvSpPr>
        <p:spPr>
          <a:xfrm>
            <a:off x="717041" y="3399747"/>
            <a:ext cx="7666355" cy="204342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56" name="Google Shape;556;p43"/>
          <p:cNvSpPr/>
          <p:nvPr/>
        </p:nvSpPr>
        <p:spPr>
          <a:xfrm>
            <a:off x="2781347" y="4491335"/>
            <a:ext cx="3148939"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cap="none">
                <a:solidFill>
                  <a:srgbClr val="FFF0E6"/>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7B615"/>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2020-09-13T06:06:34Z</dcterms:created>
  <dc:creator>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2020-09-13T00:00:00Z</vt:filetime>
  </property>
  <property fmtid="{D5CDD505-2E9C-101B-9397-08002B2CF9AE}" pid="3" name="MSIP_Label_e65487c9-99ed-4cbc-93a8-0e9b1796bde5_Enabled">
    <vt:lpwstr>true</vt:lpwstr>
  </property>
  <property fmtid="{D5CDD505-2E9C-101B-9397-08002B2CF9AE}" pid="4" name="MSIP_Label_e65487c9-99ed-4cbc-93a8-0e9b1796bde5_SetDate">
    <vt:lpwstr>2025-09-22T04:03:26Z</vt:lpwstr>
  </property>
  <property fmtid="{D5CDD505-2E9C-101B-9397-08002B2CF9AE}" pid="5" name="MSIP_Label_e65487c9-99ed-4cbc-93a8-0e9b1796bde5_Method">
    <vt:lpwstr>Standard</vt:lpwstr>
  </property>
  <property fmtid="{D5CDD505-2E9C-101B-9397-08002B2CF9AE}" pid="6" name="MSIP_Label_e65487c9-99ed-4cbc-93a8-0e9b1796bde5_Name">
    <vt:lpwstr>defa4170-0d19-0005-0004-bc88714345d2</vt:lpwstr>
  </property>
  <property fmtid="{D5CDD505-2E9C-101B-9397-08002B2CF9AE}" pid="7" name="MSIP_Label_e65487c9-99ed-4cbc-93a8-0e9b1796bde5_SiteId">
    <vt:lpwstr>03cb5f0c-1f82-4993-9621-36330f6309ec</vt:lpwstr>
  </property>
  <property fmtid="{D5CDD505-2E9C-101B-9397-08002B2CF9AE}" pid="8" name="MSIP_Label_e65487c9-99ed-4cbc-93a8-0e9b1796bde5_ActionId">
    <vt:lpwstr>2d9f389f-6534-45d9-af24-82aaff32d66b</vt:lpwstr>
  </property>
  <property fmtid="{D5CDD505-2E9C-101B-9397-08002B2CF9AE}" pid="9" name="MSIP_Label_e65487c9-99ed-4cbc-93a8-0e9b1796bde5_ContentBits">
    <vt:lpwstr>0</vt:lpwstr>
  </property>
  <property fmtid="{D5CDD505-2E9C-101B-9397-08002B2CF9AE}" pid="10" name="MSIP_Label_e65487c9-99ed-4cbc-93a8-0e9b1796bde5_Tag">
    <vt:lpwstr>10, 3, 0, 1</vt:lpwstr>
  </property>
</Properties>
</file>